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کل ارائه یک زنجیره‌ی استدلال است: نخست چه چیزی اندازه‌گیری شد، دوم داده چه چیزی نشان داد، سوم چه چیزی هنوز اثبات نشده است. جمله‌ی پژوهش این است: در جمعیت و پروتکل مشخص این پروژه، نقشه‌ی فضایی عروق به تصویر رنگی اطلاعات مکمل افزود و این جهت اثر تکرار شد، در حالی که پنج خلاصه‌ی عددی ارزش افزوده‌ی تکرارپذیر نساختند.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روایت پایان‌نامه را با این پرسش آغاز کن: «اگر نشانه‌ی بالینی پلاس عمدتاً عروقی است، کدام نمایش عروق واقعاً به مدل تصویر رنگی اطلاعات تازه می‌دهد؟» سپس سه سطح نمایش را معرفی کن: پنج عدد قابل تفسیر، تصویر رنگی و نقشه‌ی کامل فضایی عروق. تمام مدل‌های </a:t>
            </a:r>
            <a:r>
              <a:rPr sz="1400" b="0">
                <a:solidFill>
                  <a:srgbClr val="222222"/>
                </a:solidFill>
                <a:latin typeface="Times New Roman"/>
              </a:rPr>
              <a:t>A</a:t>
            </a:r>
            <a:r>
              <a:rPr sz="1400" b="0">
                <a:solidFill>
                  <a:srgbClr val="222222"/>
                </a:solidFill>
                <a:latin typeface="B Nazanin"/>
              </a:rPr>
              <a:t> تا </a:t>
            </a:r>
            <a:r>
              <a:rPr sz="1400" b="0">
                <a:solidFill>
                  <a:srgbClr val="222222"/>
                </a:solidFill>
                <a:latin typeface="Times New Roman"/>
              </a:rPr>
              <a:t>G</a:t>
            </a:r>
            <a:r>
              <a:rPr sz="1400" b="0">
                <a:solidFill>
                  <a:srgbClr val="222222"/>
                </a:solidFill>
                <a:latin typeface="B Nazanin"/>
              </a:rPr>
              <a:t> برای جداکردن سهم این سه سطح طراحی شده‌اند.</a:t>
            </a:r>
          </a:p>
          <a:p>
            <a:pPr rtl="1">
              <a:spcAft>
                <a:spcPts val="500"/>
              </a:spcAft>
            </a:pPr>
            <a:r>
              <a:rPr sz="1400" b="0">
                <a:solidFill>
                  <a:srgbClr val="222222"/>
                </a:solidFill>
                <a:latin typeface="B Nazanin"/>
              </a:rPr>
              <a:t>ساختار ارائه‌ی من بر یک سؤال مقایسه‌ای بنا شده است، نه بر نمایش تعداد زیادی مدل. ابتدا جمعیت و اعتبار تقسیم را تثبیت می‌کنم، سپس سه شکل نمایش اطلاعات عروقی را معرفی می‌کنم و نشان می‌دهم هر مقایسه‌ی مدل دقیقاً کدام فرضیه را می‌آزماید. بعد از گزارش برآورد نقطه‌ای، همیشه بازه‌ی اطمینان و مرز استنباط را می‌گویم. نتیجه‌ی اصلی این نیست که پیچیده‌ترین مدل بیشترین عدد را ساخته است؛ نتیجه این است که ساختار فضایی عروق اطلاعات مکمل ایجاد کرد، اما پنج خلاصه‌ی عددی چنین ارزش افزوده‌ی پایداری نشان ندادند. در پایان نیز با گزارش افت بین‌مرکزی روشن می‌کنم که این شاهد پژوهشی هنوز مساوی با آمادگی بالینی نیست.</a:t>
            </a:r>
          </a:p>
          <a:p>
            <a:pPr rtl="1">
              <a:spcAft>
                <a:spcPts val="500"/>
              </a:spcAft>
            </a:pPr>
            <a:r>
              <a:rPr sz="1400" b="0">
                <a:solidFill>
                  <a:srgbClr val="222222"/>
                </a:solidFill>
                <a:latin typeface="B Nazanin"/>
              </a:rPr>
              <a:t>در دفاع خوب، اسلایدها فهرستی از کارهای انجام‌شده نیستند؛ هر اسلاید باید یک حلقه از زنجیره‌ی استدلال باشد. داور باید بفهمد چرا سؤال مطرح شد، چرا طراحی آزمایش برای پاسخ مناسب بود، نتیجه چه بود و ادعای مجاز دقیقاً تا کجاست.</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مسئله، طبقه‌بندی سه‌کلاسه‌ی تصاویر فوندوس به </a:t>
            </a:r>
            <a:r>
              <a:rPr sz="1400" b="0">
                <a:solidFill>
                  <a:srgbClr val="222222"/>
                </a:solidFill>
                <a:latin typeface="Times New Roman"/>
              </a:rPr>
              <a:t>Normal</a:t>
            </a:r>
            <a:r>
              <a:rPr sz="1400" b="0">
                <a:solidFill>
                  <a:srgbClr val="222222"/>
                </a:solidFill>
                <a:latin typeface="B Nazanin"/>
              </a:rPr>
              <a:t>، </a:t>
            </a:r>
            <a:r>
              <a:rPr sz="1400" b="0">
                <a:solidFill>
                  <a:srgbClr val="222222"/>
                </a:solidFill>
                <a:latin typeface="Times New Roman"/>
              </a:rPr>
              <a:t>Pre-Plus</a:t>
            </a:r>
            <a:r>
              <a:rPr sz="1400" b="0">
                <a:solidFill>
                  <a:srgbClr val="222222"/>
                </a:solidFill>
                <a:latin typeface="B Nazanin"/>
              </a:rPr>
              <a:t> و </a:t>
            </a:r>
            <a:r>
              <a:rPr sz="1400" b="0">
                <a:solidFill>
                  <a:srgbClr val="222222"/>
                </a:solidFill>
                <a:latin typeface="Times New Roman"/>
              </a:rPr>
              <a:t>Plus</a:t>
            </a:r>
            <a:r>
              <a:rPr sz="1400" b="0">
                <a:solidFill>
                  <a:srgbClr val="222222"/>
                </a:solidFill>
                <a:latin typeface="B Nazanin"/>
              </a:rPr>
              <a:t> است و خروجی مدل یک احتمال است، نه تصمیم درمانی. </a:t>
            </a:r>
            <a:r>
              <a:rPr sz="1400" b="0">
                <a:solidFill>
                  <a:srgbClr val="222222"/>
                </a:solidFill>
                <a:latin typeface="Times New Roman"/>
              </a:rPr>
              <a:t>Plus</a:t>
            </a:r>
            <a:r>
              <a:rPr sz="1400" b="0">
                <a:solidFill>
                  <a:srgbClr val="222222"/>
                </a:solidFill>
                <a:latin typeface="B Nazanin"/>
              </a:rPr>
              <a:t> با گشادشدگی و پیچ‌خوردگی عروق قطب خلفی شناخته می‌شود؛ همین ریشه‌ی عروقی، فرضیه‌ی اصلی پروژه را می‌سازد.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سه کلاس طبیعی، پیش‌پلاس و پلاس را معرفی کن. تأکید کن که مدل مرحله، ناحیه، درمان یا تشخیص کامل </a:t>
            </a:r>
            <a:r>
              <a:rPr sz="1400" b="0">
                <a:solidFill>
                  <a:srgbClr val="222222"/>
                </a:solidFill>
                <a:latin typeface="Times New Roman"/>
              </a:rPr>
              <a:t>ROP</a:t>
            </a:r>
            <a:r>
              <a:rPr sz="1400" b="0">
                <a:solidFill>
                  <a:srgbClr val="222222"/>
                </a:solidFill>
                <a:latin typeface="B Nazanin"/>
              </a:rPr>
              <a:t> را تعیین نمی‌کند. این مرزبندی از ادعای بیش از داده جلوگیری می‌کند.</a:t>
            </a:r>
          </a:p>
          <a:p>
            <a:pPr rtl="1">
              <a:spcAft>
                <a:spcPts val="500"/>
              </a:spcAft>
            </a:pPr>
            <a:r>
              <a:rPr sz="1400" b="0">
                <a:solidFill>
                  <a:srgbClr val="222222"/>
                </a:solidFill>
                <a:latin typeface="B Nazanin"/>
              </a:rPr>
              <a:t>موضوع پایان‌نامه‌ی من بررسی ارزش اطلاعات عروقی برای طبقه‌بندی سه‌کلاسه‌ی تصاویر فوندوس نوزادان نارس به طبیعی، پیش‌پلاس و پلاس است. بیماری پلاس با تغییر غیرطبیعی عروق، به‌ویژه گشادشدگی و پیچ‌خوردگی، ارتباط دارد؛ بنابراین در نگاه اول ممکن است تصور شود هر نوع اطلاعات عروقی الزاماً مدل را بهتر می‌کند. سؤال اصلی من دقیق‌تر بود: آیا چند نشانگر عددی قابل تفسیر واقعاً به مدل تصویری اطلاعات تازه اضافه می‌کنند، یا برای حفظ اطلاعات مفید باید ساختار کامل فضایی شبکه‌ی عروقی را نگه داشت؟</a:t>
            </a:r>
          </a:p>
          <a:p>
            <a:pPr rtl="1">
              <a:spcAft>
                <a:spcPts val="500"/>
              </a:spcAft>
            </a:pPr>
            <a:r>
              <a:rPr sz="1400" b="0">
                <a:solidFill>
                  <a:srgbClr val="222222"/>
                </a:solidFill>
                <a:latin typeface="B Nazanin"/>
              </a:rPr>
              <a:t>خروجی این پژوهش تشخیص کامل </a:t>
            </a:r>
            <a:r>
              <a:rPr sz="1400" b="0">
                <a:solidFill>
                  <a:srgbClr val="222222"/>
                </a:solidFill>
                <a:latin typeface="Times New Roman"/>
              </a:rPr>
              <a:t>ROP</a:t>
            </a:r>
            <a:r>
              <a:rPr sz="1400" b="0">
                <a:solidFill>
                  <a:srgbClr val="222222"/>
                </a:solidFill>
                <a:latin typeface="B Nazanin"/>
              </a:rPr>
              <a:t>، مرحله‌بندی، تعیین ناحیه یا تصمیم درمان نیست. مدل فقط برای یک تصویر، احتمال سه برچسب طبیعی، پیش‌پلاس و پلاس را تولید می‌کند. این مرزبندی مهم است، زیرا حتی یک طبقه‌بند با عملکرد مناسب نیز بدون ارزیابی آینده‌نگر، تحلیل نقطه‌ی کار و ادغام در مسیر بالینی به ابزار درمان تبدیل نمی‌شود.</a:t>
            </a:r>
          </a:p>
          <a:p>
            <a:pPr rtl="1">
              <a:spcAft>
                <a:spcPts val="500"/>
              </a:spcAft>
            </a:pPr>
            <a:r>
              <a:rPr sz="1400" b="0">
                <a:solidFill>
                  <a:srgbClr val="222222"/>
                </a:solidFill>
                <a:latin typeface="B Nazanin"/>
              </a:rPr>
              <a:t>مسئله‌ی این پایان‌نامه طبقه‌بندی نظارت‌شده‌ی سه‌کلاسه‌ی تصاویر فوندوس نوزادان نارس است. برای هر تصویر یکی از سه برچسب طبیعی، پیش‌پلاس یا پلاس ثبت شده است. پلاس با تغییرات عروقی قطب خلفی شبکیه، به‌ویژه افزایش پیچ‌خوردگی و گشادشدگی رگ‌ها ارتباط دارد. بااین‌حال، خروجی مدل را معادل تشخیص کامل </a:t>
            </a:r>
            <a:r>
              <a:rPr sz="1400" b="0">
                <a:solidFill>
                  <a:srgbClr val="222222"/>
                </a:solidFill>
                <a:latin typeface="Times New Roman"/>
              </a:rPr>
              <a:t>ROP</a:t>
            </a:r>
            <a:r>
              <a:rPr sz="1400" b="0">
                <a:solidFill>
                  <a:srgbClr val="222222"/>
                </a:solidFill>
                <a:latin typeface="B Nazanin"/>
              </a:rPr>
              <a:t> یا تصمیم درمانی در نظر نمی‌گیریم. مدل فقط تلاش می‌کند برچسب موجود در داده را از روی تصویر پیش‌بینی کند.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چرا مسئله سه‌کلاسه تعریف شده و پلاس در برابر غیرپلاس نیست؟  پاسخ: زیرا پیش‌پلاس یک وضعیت میانی بالینی است و حذف آن بخشی از ساختار مسئله را از بین می‌برد. طبقه‌بندی سه‌کلاسه دشوارتر است، ولی به برچسب‌گذاری موجود وفادارتر می‌ماند. تحلیل دودویی فقط در موارد مشخص، مانند منبعی که پیش‌پلاس ندارد، به‌صورت محدود گزارش می‌شود.</a:t>
            </a:r>
          </a:p>
          <a:p>
            <a:pPr rtl="1">
              <a:spcAft>
                <a:spcPts val="500"/>
              </a:spcAft>
            </a:pPr>
            <a:r>
              <a:rPr sz="1400" b="0">
                <a:solidFill>
                  <a:srgbClr val="222222"/>
                </a:solidFill>
                <a:latin typeface="B Nazanin"/>
              </a:rPr>
              <a:t>پرسش: آیا مدل مرحله و ناحیه‌ی کامل </a:t>
            </a:r>
            <a:r>
              <a:rPr sz="1400" b="0">
                <a:solidFill>
                  <a:srgbClr val="222222"/>
                </a:solidFill>
                <a:latin typeface="Times New Roman"/>
              </a:rPr>
              <a:t>ROP</a:t>
            </a:r>
            <a:r>
              <a:rPr sz="1400" b="0">
                <a:solidFill>
                  <a:srgbClr val="222222"/>
                </a:solidFill>
                <a:latin typeface="B Nazanin"/>
              </a:rPr>
              <a:t> را تشخیص می‌دهد؟  پاسخ: خیر. خروجی فقط یکی از سه برچسب طبیعی، پیش‌پلاس و پلاس است. مرحله، ناحیه، تصمیم درمان و سایر مؤلفه‌های معاینه در خروجی مدل حاضر نیستند.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چهار پرسش اندازه‌پذیر: آیا پنج نشانگر سیگنال مستقل دارند (مدل </a:t>
            </a:r>
            <a:r>
              <a:rPr sz="1400" b="0">
                <a:solidFill>
                  <a:srgbClr val="222222"/>
                </a:solidFill>
                <a:latin typeface="Times New Roman"/>
              </a:rPr>
              <a:t>A</a:t>
            </a:r>
            <a:r>
              <a:rPr sz="1400" b="0">
                <a:solidFill>
                  <a:srgbClr val="222222"/>
                </a:solidFill>
                <a:latin typeface="B Nazanin"/>
              </a:rPr>
              <a:t>)؛ آیا افزودن آن‌ها به بازنمایی تصویری سود دارد (</a:t>
            </a:r>
            <a:r>
              <a:rPr sz="1400" b="0">
                <a:solidFill>
                  <a:srgbClr val="222222"/>
                </a:solidFill>
                <a:latin typeface="Times New Roman"/>
              </a:rPr>
              <a:t>C-B</a:t>
            </a:r>
            <a:r>
              <a:rPr sz="1400" b="0">
                <a:solidFill>
                  <a:srgbClr val="222222"/>
                </a:solidFill>
                <a:latin typeface="B Nazanin"/>
              </a:rPr>
              <a:t> و </a:t>
            </a:r>
            <a:r>
              <a:rPr sz="1400" b="0">
                <a:solidFill>
                  <a:srgbClr val="222222"/>
                </a:solidFill>
                <a:latin typeface="Times New Roman"/>
              </a:rPr>
              <a:t>G-E</a:t>
            </a:r>
            <a:r>
              <a:rPr sz="1400" b="0">
                <a:solidFill>
                  <a:srgbClr val="222222"/>
                </a:solidFill>
                <a:latin typeface="B Nazanin"/>
              </a:rPr>
              <a:t>)؛ آیا نقشه‌ی فضایی عروق مستقل از عددها مکمل است (</a:t>
            </a:r>
            <a:r>
              <a:rPr sz="1400" b="0">
                <a:solidFill>
                  <a:srgbClr val="222222"/>
                </a:solidFill>
                <a:latin typeface="Times New Roman"/>
              </a:rPr>
              <a:t>E-B</a:t>
            </a:r>
            <a:r>
              <a:rPr sz="1400" b="0">
                <a:solidFill>
                  <a:srgbClr val="222222"/>
                </a:solidFill>
                <a:latin typeface="B Nazanin"/>
              </a:rPr>
              <a:t>)؛ و آیا این سهم در منبع دیده‌نشده پایدار می‌ماند (</a:t>
            </a:r>
            <a:r>
              <a:rPr sz="1400" b="0">
                <a:solidFill>
                  <a:srgbClr val="222222"/>
                </a:solidFill>
                <a:latin typeface="Times New Roman"/>
              </a:rPr>
              <a:t>LOSO</a:t>
            </a:r>
            <a:r>
              <a:rPr sz="1400" b="0">
                <a:solidFill>
                  <a:srgbClr val="222222"/>
                </a:solidFill>
                <a:latin typeface="B Nazanin"/>
              </a:rPr>
              <a:t>). هر چهار پرسش با یک تقسیم ثابت، یک پروتکل آماری واحد و یک آزمون قفل‌شده سنجیده شدند.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سؤال فقط «بیشترین </a:t>
            </a:r>
            <a:r>
              <a:rPr sz="1400" b="0">
                <a:solidFill>
                  <a:srgbClr val="222222"/>
                </a:solidFill>
                <a:latin typeface="Times New Roman"/>
              </a:rPr>
              <a:t>AUC</a:t>
            </a:r>
            <a:r>
              <a:rPr sz="1400" b="0">
                <a:solidFill>
                  <a:srgbClr val="222222"/>
                </a:solidFill>
                <a:latin typeface="B Nazanin"/>
              </a:rPr>
              <a:t>» نیست. سؤال این است که آیا نشانگرهای خلاصه یا ساختار فضایی عروق نسبت به تصویر رنگی ارزش افزوده دارند. تفاوت «اطلاعات مستقل» و «اطلاعات افزایشی» را توضیح بده.</a:t>
            </a:r>
          </a:p>
          <a:p>
            <a:pPr rtl="1">
              <a:spcAft>
                <a:spcPts val="500"/>
              </a:spcAft>
            </a:pPr>
            <a:r>
              <a:rPr sz="1400" b="0">
                <a:solidFill>
                  <a:srgbClr val="222222"/>
                </a:solidFill>
                <a:latin typeface="B Nazanin"/>
              </a:rPr>
              <a:t>از نظر یادگیری ماشین، برای هر تصویر بردار سه احتمال با مجموع یک تولید می‌شود. شبکه با کمینه‌کردن آنتروپی متقاطع می‌آموزد احتمال کلاس صحیح را افزایش دهد. بااین‌حال عملکرد روی داده‌ی آموزش پاسخ سؤال علمی نیست؛ هدف، توانایی تعمیم به نمونه‌هایی است که در برازش شرکت نکرده‌اند. به همین دلیل طراحی داده و ممیزی، پیش از معماری مدل، بخش بنیادی پژوهش بود.</a:t>
            </a:r>
          </a:p>
          <a:p>
            <a:pPr rtl="1">
              <a:spcAft>
                <a:spcPts val="500"/>
              </a:spcAft>
            </a:pPr>
            <a:r>
              <a:rPr sz="1400" b="0">
                <a:solidFill>
                  <a:srgbClr val="222222"/>
                </a:solidFill>
                <a:latin typeface="B Nazanin"/>
              </a:rPr>
              <a:t>پرسش اصلی این پایان‌نامه صرفاً این نبود که کدام مدل بزرگ‌ترین عدد عملکرد را دارد. از آنجا که تعریف بالینی پلاس با عروق ارتباط دارد، می‌خواستیم بدانیم اطلاعات عروقی را چگونه باید به مدل نمایش دهیم. در این پروژه سه سطح نمایش بررسی شد: پنج نشانگر عددی قابل‌تفسیر، بازنمایی آموخته‌شده از تصویر رنگی و بازنمایی آموخته‌شده از نقشه‌ی کامل عروق.</a:t>
            </a:r>
          </a:p>
          <a:p>
            <a:pPr rtl="1">
              <a:spcAft>
                <a:spcPts val="500"/>
              </a:spcAft>
            </a:pPr>
            <a:r>
              <a:rPr sz="1400" b="0">
                <a:solidFill>
                  <a:srgbClr val="222222"/>
                </a:solidFill>
                <a:latin typeface="B Nazanin"/>
              </a:rPr>
              <a:t>تمایز مهم پژوهش میان «وجود اطلاعات مستقل» و «ارزش افزوده» است. ممکن است پنج نشانگر به‌تنهایی قدرت پیش‌بینی داشته باشند، اما وقتی مدل تصویری از قبل اطلاعات مشابهی را آموخته است، افزودن آن‌ها هیچ بهبود تازه‌ای ایجاد نکند. بنابراین عملکرد مستقل نشانگرها به‌تنهایی برای ادعای مکمل‌بودن کافی نیست و باید مدل‌هایی مقایسه شوند که فقط در بلوک اطلاعات اضافه‌شده تفاوت دارند.</a:t>
            </a:r>
          </a:p>
          <a:p>
            <a:pPr rtl="1">
              <a:spcAft>
                <a:spcPts val="500"/>
              </a:spcAft>
            </a:pPr>
            <a:r>
              <a:rPr sz="1400" b="0">
                <a:solidFill>
                  <a:srgbClr val="222222"/>
                </a:solidFill>
                <a:latin typeface="B Nazanin"/>
              </a:rPr>
              <a:t>نکته‌ی روش‌شناختی مهم این است که مفیدبودن یک ویژگی به‌تنهایی با ارزش افزوده‌ی آن یکسان نیست. ممکن است پنج نشانگر به‌تنهایی عملکردی بالاتر از تصادف داشته باشند، ولی اطلاعات آن‌ها از قبل در بازنمایی رنگی وجود داشته باشد. در این شرایط افزودن آن‌ها به مدل رنگی بهبود جدیدی ایجاد نمی‌کند. بنابراین طراحی آزمایش باید بتواند وجود سیگنال مستقل را از مکمل‌بودن اطلاعات جدا کند.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چرا فقط بزرگ‌ترین سطح زیر منحنی را انتخاب نکردید؟  پاسخ: چون بزرگ‌ترین برآورد نقطه‌ای ممکن است ناشی از نوسان نمونه‌گیری باشد. همچنین برای سنجش ارزش افزوده باید مدل‌ها تنها در اطلاعات اضافه‌شده تفاوت داشته باشند و اختلاف آن‌ها با آزمون زوجی و بازه‌ی اطمینان بررسی شود.</a:t>
            </a:r>
          </a:p>
          <a:p>
            <a:pPr rtl="1">
              <a:spcAft>
                <a:spcPts val="500"/>
              </a:spcAft>
            </a:pPr>
            <a:r>
              <a:rPr sz="1400" b="0">
                <a:solidFill>
                  <a:srgbClr val="222222"/>
                </a:solidFill>
                <a:latin typeface="B Nazanin"/>
              </a:rPr>
              <a:t>پرسش: ۱. مسئله‌ی دقیق پژوهش چیست؟  پاسخ: مسئله طبقه‌بندی سه‌کلاسه‌ی تصاویر فوندوس به طبیعی، پیش‌پلاس و پلاس است. سؤال علمی فقط عملکرد مدل نیست؛ هدف بررسی ارزش افزوده‌ی پنج نشانگر عددی و نقشه‌ی کامل عروق نسبت به بازنمایی رنگی است.</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جمعیت تحلیل ۸۸۶۲ مورد کامل در ۴۱۴ گروه از سه مرکز تصویربرداری است؛ تقسیم گروه‌محور ۶۲۰۳ / ۱۳۲۸ / ۱۳۳۱. منبع </a:t>
            </a:r>
            <a:r>
              <a:rPr sz="1400" b="0">
                <a:solidFill>
                  <a:srgbClr val="222222"/>
                </a:solidFill>
                <a:latin typeface="Times New Roman"/>
              </a:rPr>
              <a:t>Plus</a:t>
            </a:r>
            <a:r>
              <a:rPr sz="1400" b="0">
                <a:solidFill>
                  <a:srgbClr val="222222"/>
                </a:solidFill>
                <a:latin typeface="B Nazanin"/>
              </a:rPr>
              <a:t> حدود دوسوم داده را می‌سازد و مورد </a:t>
            </a:r>
            <a:r>
              <a:rPr sz="1400" b="0">
                <a:solidFill>
                  <a:srgbClr val="222222"/>
                </a:solidFill>
                <a:latin typeface="Times New Roman"/>
              </a:rPr>
              <a:t>Pre-Plus</a:t>
            </a:r>
            <a:r>
              <a:rPr sz="1400" b="0">
                <a:solidFill>
                  <a:srgbClr val="222222"/>
                </a:solidFill>
                <a:latin typeface="B Nazanin"/>
              </a:rPr>
              <a:t> ندارد؛ همین عدم‌توازن دلیل گزارش تفکیکی منبع‌ها و پرهیز از تکیه بر عدد تجمیعی است.</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۸۸۷۰ تصویر از پلاس، </a:t>
            </a:r>
            <a:r>
              <a:rPr sz="1400" b="0">
                <a:solidFill>
                  <a:srgbClr val="222222"/>
                </a:solidFill>
                <a:latin typeface="Times New Roman"/>
              </a:rPr>
              <a:t>FARFUM-RoP</a:t>
            </a:r>
            <a:r>
              <a:rPr sz="1400" b="0">
                <a:solidFill>
                  <a:srgbClr val="222222"/>
                </a:solidFill>
                <a:latin typeface="B Nazanin"/>
              </a:rPr>
              <a:t> و فارابی را نشان بده. سپس تقسیم ۶۲۱۱/۱۳۲۸/۱۳۳۱ را بیاور. عدد ۸۸۶۲ را فقط هنگام ورود به تحلیل پنج نشانگر توضیح بده: هشت تصویر آموزش ویژگی‌های فرکتال کامل نداشتند.</a:t>
            </a:r>
          </a:p>
          <a:p>
            <a:pPr rtl="1">
              <a:spcAft>
                <a:spcPts val="500"/>
              </a:spcAft>
            </a:pPr>
            <a:r>
              <a:rPr sz="1400" b="0">
                <a:solidFill>
                  <a:srgbClr val="222222"/>
                </a:solidFill>
                <a:latin typeface="B Nazanin"/>
              </a:rPr>
              <a:t>جمعیت مرجع شامل ۸۸۷۰ تصویر از سه منبع پلاس، </a:t>
            </a:r>
            <a:r>
              <a:rPr sz="1400" b="0">
                <a:solidFill>
                  <a:srgbClr val="222222"/>
                </a:solidFill>
                <a:latin typeface="Times New Roman"/>
              </a:rPr>
              <a:t>FARFUM-RoP</a:t>
            </a:r>
            <a:r>
              <a:rPr sz="1400" b="0">
                <a:solidFill>
                  <a:srgbClr val="222222"/>
                </a:solidFill>
                <a:latin typeface="B Nazanin"/>
              </a:rPr>
              <a:t> و فارابی بود. تقسیم رسمی شامل ۶۲۱۱ تصویر آموزش، ۱۳۲۸ تصویر اعتبارسنجی و ۱۳۳۱ تصویر آزمون بود. آموزش برای یادگیری پارامترها و محاسبه‌ی تمام آمارهای برازش‌پذیر استفاده شد. اعتبارسنجی برای انتخاب دوره، مدل، فراپارامتر، وزن همجوشی و در صورت نیاز آستانه‌ی یودن استفاده شد. آزمون برای برآورد نهایی مقایسه‌ی اصلی نگه داشته شد.</a:t>
            </a:r>
          </a:p>
          <a:p>
            <a:pPr rtl="1">
              <a:spcAft>
                <a:spcPts val="500"/>
              </a:spcAft>
            </a:pPr>
            <a:r>
              <a:rPr sz="1400" b="0">
                <a:solidFill>
                  <a:srgbClr val="222222"/>
                </a:solidFill>
                <a:latin typeface="B Nazanin"/>
              </a:rPr>
              <a:t>در تحلیل پنج نشانگر، عدد جمعیت ۸۸۶۲ دیده می‌شود. این عدد با ۸۸۷۰ تناقض ندارد. هشت تصویر بخش آموزش هر سه ویژگی فرکتال کامل را نداشتند؛ بنابراین تحلیل‌هایی که هم‌زمان به هر پنج نشانگر نیاز داشتند با ۶۲۰۳ تصویر آموزش و در مجموع ۸۸۶۲ مورد کامل انجام شدند. به‌جای جای‌گذاری مصنوعی سه ویژگی هم‌زمان مفقود، سیاست موارد کامل انتخاب شد تا یک الگوی ساختگی وابسته به منبع وارد نشود.</a:t>
            </a:r>
          </a:p>
          <a:p>
            <a:pPr rtl="1">
              <a:spcAft>
                <a:spcPts val="500"/>
              </a:spcAft>
            </a:pPr>
            <a:r>
              <a:rPr sz="1400" b="0">
                <a:solidFill>
                  <a:srgbClr val="222222"/>
                </a:solidFill>
                <a:latin typeface="B Nazanin"/>
              </a:rPr>
              <a:t>پیش از مدل‌سازی، داده‌ها ممیزی شدند. جمعیت مرجع شامل ۸۸۷۰ تصویر از سه منبع پلاس، </a:t>
            </a:r>
            <a:r>
              <a:rPr sz="1400" b="0">
                <a:solidFill>
                  <a:srgbClr val="222222"/>
                </a:solidFill>
                <a:latin typeface="Times New Roman"/>
              </a:rPr>
              <a:t>FARFUM-RoP</a:t>
            </a:r>
            <a:r>
              <a:rPr sz="1400" b="0">
                <a:solidFill>
                  <a:srgbClr val="222222"/>
                </a:solidFill>
                <a:latin typeface="B Nazanin"/>
              </a:rPr>
              <a:t> و فارابی بود. تقسیم رسمی شامل ۶۲۱۱ تصویر آموزش، ۱۳۲۸ تصویر اعتبارسنجی و ۱۳۳۱ تصویر آزمون بود. هشت تصویر آموزش هر سه مقدار فرکتال را نداشتند. بنابراین در تحلیل‌هایی که هر پنج نشانگر لازم بود، بخش آموزش به ۶۲۰۳ تصویر و جمعیت موارد کامل به ۸۸۶۲ تصویر کاهش یافت. این تفاوت به معنای وجود دو جمعیت متناقض نیست؛ ۸۸۷۰ جمعیت مرجع و ۸۸۶۲ جمعیت دارای پنج نشانگر کامل است.</a:t>
            </a:r>
          </a:p>
          <a:p>
            <a:pPr rtl="1">
              <a:spcAft>
                <a:spcPts val="500"/>
              </a:spcAft>
            </a:pPr>
            <a:r>
              <a:rPr sz="1400" b="0">
                <a:solidFill>
                  <a:srgbClr val="222222"/>
                </a:solidFill>
                <a:latin typeface="B Nazanin"/>
              </a:rPr>
              <a:t>جمعیت مرجع ۸۸۷۰ تصویر بود که به ۶۲۱۱ تصویر آموزش، ۱۳۲۸ اعتبارسنجی و ۱۳۳۱ آزمون تقسیم شد. اشتراک گروه‌های شناخته‌شده میان هر سه بخش صفر بود. بااین‌حال در مورد فارابی با دقت می‌گوییم استقلال در سطح معاینه کنترل شده است، نه اینکه استقلال بیمار با قطعیت اثبات شده باشد؛ زیرا شناسه‌ی واقعی بیمار در دسترس نبود.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چرا تقسیم کاملاً متعادل نیست؟  پاسخ: چون گروه‌ها شکسته نشدند. استقلال هویت از توازن دقیق مهم‌تر بود. عدم تعادل باقی‌مانده با گزارش توزیع منبع و کلاس و ارزیابی منبع‌کنارگذاشته بررسی شد.</a:t>
            </a:r>
          </a:p>
          <a:p>
            <a:pPr rtl="1">
              <a:spcAft>
                <a:spcPts val="500"/>
              </a:spcAft>
            </a:pPr>
            <a:r>
              <a:rPr sz="1400" b="0">
                <a:solidFill>
                  <a:srgbClr val="222222"/>
                </a:solidFill>
                <a:latin typeface="B Nazanin"/>
              </a:rPr>
              <a:t>پرسش: ۴. تفاوت ۸۸۷۰ و ۸۸۶۲ چیست؟  پاسخ: ۸۸۷۰ جمعیت مرجع پیش از شرط کامل‌بودن نشانگرهاست. هشت تصویر آموزش هر سه ویژگی فرکتال را نداشتند. تحلیل‌های نیازمند پنج نشانگر روی ۸۸۶۲ تصویر، شامل ۶۲۰۳ آموزش، ۱۳۲۸ اعتبارسنجی و ۱۳۳۱ آزمون انجام شدند.</a:t>
            </a:r>
          </a:p>
          <a:p>
            <a:pPr rtl="1">
              <a:spcAft>
                <a:spcPts val="500"/>
              </a:spcAft>
            </a:pPr>
            <a:r>
              <a:rPr sz="1400" b="0">
                <a:solidFill>
                  <a:srgbClr val="222222"/>
                </a:solidFill>
                <a:latin typeface="B Nazanin"/>
              </a:rPr>
              <a:t>پرسش: ۵. چرا داده‌های مفقود را جای‌گذاری نکردید؟  پاسخ: هر سه ویژگی فرکتال هم‌زمان در هشت ردیف مفقود بودند و جای‌گذاری می‌توانست الگوی مصنوعی وابسته به منبع بسازد. برای مقایسه‌ی منصفانه‌ی پنج‌نشانگری، سیاست موارد کامل استفاده شد.</a:t>
            </a:r>
          </a:p>
          <a:p>
            <a:pPr rtl="1">
              <a:spcAft>
                <a:spcPts val="500"/>
              </a:spcAft>
            </a:pPr>
            <a:r>
              <a:rPr sz="1400" b="0">
                <a:solidFill>
                  <a:srgbClr val="222222"/>
                </a:solidFill>
                <a:latin typeface="B Nazanin"/>
              </a:rPr>
              <a:t>پرسش: ۶. چرا تقسیم کاملاً متعادل نیست؟  پاسخ: گروه‌ها قابل شکستن نبودند. اولویت جلوگیری از نشت هویت بود. شکستن بیمار برای توازن کلاس، استقلال آزمون را از بین می‌برد.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واحد استقلال، گروه است نه فایل. هم‌پوشانی گروه شناخته‌شده و تکرار دقیق صفر است، پیش‌پردازش فقط با داده‌ی آموزش برازش شده و اثر انگشت تقسیم با </a:t>
            </a:r>
            <a:r>
              <a:rPr sz="1400" b="0">
                <a:solidFill>
                  <a:srgbClr val="222222"/>
                </a:solidFill>
                <a:latin typeface="Times New Roman"/>
              </a:rPr>
              <a:t>SHA-256</a:t>
            </a:r>
            <a:r>
              <a:rPr sz="1400" b="0">
                <a:solidFill>
                  <a:srgbClr val="222222"/>
                </a:solidFill>
                <a:latin typeface="B Nazanin"/>
              </a:rPr>
              <a:t> قفل شده است.</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واحد گروه در پلاس و </a:t>
            </a:r>
            <a:r>
              <a:rPr sz="1400" b="0">
                <a:solidFill>
                  <a:srgbClr val="222222"/>
                </a:solidFill>
                <a:latin typeface="Times New Roman"/>
              </a:rPr>
              <a:t>FARFUM</a:t>
            </a:r>
            <a:r>
              <a:rPr sz="1400" b="0">
                <a:solidFill>
                  <a:srgbClr val="222222"/>
                </a:solidFill>
                <a:latin typeface="B Nazanin"/>
              </a:rPr>
              <a:t> بیمار و در فارابی معاینه بود. هم‌پوشانی گروه شناخته‌شده و تکرار دقیق صفر بود. چهار جفت نزدیک‌به‌تکراری ثبت شدند. بگو نبود شناسه‌ی بیمار فارابی مانع ادعای استقلال قطعی بیمار است.</a:t>
            </a:r>
          </a:p>
          <a:p>
            <a:pPr rtl="1">
              <a:spcAft>
                <a:spcPts val="500"/>
              </a:spcAft>
            </a:pPr>
            <a:r>
              <a:rPr sz="1400" b="0">
                <a:solidFill>
                  <a:srgbClr val="222222"/>
                </a:solidFill>
                <a:latin typeface="B Nazanin"/>
              </a:rPr>
              <a:t>یکی از مهم‌ترین خطرها نشت داده بود. اگر تصاویر در سطح فایل به‌طور تصادفی تقسیم شوند، ممکن است تصاویر مختلف یک بیمار یا یک معاینه میان آموزش و آزمون پخش شوند. این تصاویر از نظر آناتومی، دستگاه، رنگ و شرایط تصویربرداری مستقل نیستند و مدل می‌تواند ویژگی‌های هویتی را به‌جای الگوی بیماری بیاموزد. در پلاس و </a:t>
            </a:r>
            <a:r>
              <a:rPr sz="1400" b="0">
                <a:solidFill>
                  <a:srgbClr val="222222"/>
                </a:solidFill>
                <a:latin typeface="Times New Roman"/>
              </a:rPr>
              <a:t>FARFUM</a:t>
            </a:r>
            <a:r>
              <a:rPr sz="1400" b="0">
                <a:solidFill>
                  <a:srgbClr val="222222"/>
                </a:solidFill>
                <a:latin typeface="B Nazanin"/>
              </a:rPr>
              <a:t> گروه در سطح بیمار تعریف شد. در فارابی شناسه‌ی بیمار سراسری قابل اتکا نبود و معاینه نزدیک‌ترین واحد گروه‌بندی بود. تمام اعضای هر گروه فقط به یک بخش تخصیص یافتند و هم‌پوشانی گروه‌های شناخته‌شده صفر شد.</a:t>
            </a:r>
          </a:p>
          <a:p>
            <a:pPr rtl="1">
              <a:spcAft>
                <a:spcPts val="500"/>
              </a:spcAft>
            </a:pPr>
            <a:r>
              <a:rPr sz="1400" b="0">
                <a:solidFill>
                  <a:srgbClr val="222222"/>
                </a:solidFill>
                <a:latin typeface="B Nazanin"/>
              </a:rPr>
              <a:t>این کنترل به معنای اثبات نبود مطلق نشت نیست. در فارابی فقط استقلال معاینه قابل کنترل بود و ممکن است دو معاینه از یک بیمار بدون شناسه‌ی مشترک وجود داشته باشد. همچنین با </a:t>
            </a:r>
            <a:r>
              <a:rPr sz="1400" b="0">
                <a:solidFill>
                  <a:srgbClr val="222222"/>
                </a:solidFill>
                <a:latin typeface="Times New Roman"/>
              </a:rPr>
              <a:t>SHA-256</a:t>
            </a:r>
            <a:r>
              <a:rPr sz="1400" b="0">
                <a:solidFill>
                  <a:srgbClr val="222222"/>
                </a:solidFill>
                <a:latin typeface="B Nazanin"/>
              </a:rPr>
              <a:t> هیچ تکرار دقیق میان بخش‌ها پیدا نشد، اما هش ادراکی چهار جفت نزدیک‌به‌تکراری، همگی از کلاس طبیعی، یافت. آن‌ها پس از مشاهده‌ی آزمون حذف نشدند تا جمعیت آزمون به‌شکل پسینی تغییر نکند؛ در عوض به‌عنوان محدودیت گزارش شدند.</a:t>
            </a:r>
          </a:p>
          <a:p>
            <a:pPr rtl="1">
              <a:spcAft>
                <a:spcPts val="500"/>
              </a:spcAft>
            </a:pPr>
            <a:r>
              <a:rPr sz="1400" b="0">
                <a:solidFill>
                  <a:srgbClr val="222222"/>
                </a:solidFill>
                <a:latin typeface="B Nazanin"/>
              </a:rPr>
              <a:t>تمام پیش‌پردازش‌های دارای پارامتر فقط روی آموزش برازش شدند. میانگین، انحراف معیار، میانه‌ی جای‌گذاری و وزن کلاس از اعتبارسنجی یا آزمون اطلاعات نگرفتند. اگر آستانه‌ای برای تصمیم دودویی لازم بود، شاخص یودن روی اعتبارسنجی بیشینه و همان آستانه بدون تغییر روی آزمون اعمال شد. این تفکیک مانع آن می‌شود که آزمون به‌طور پنهان به بخشی از فرایند انتخاب مدل تبدیل شود.</a:t>
            </a:r>
          </a:p>
          <a:p>
            <a:pPr rtl="1">
              <a:spcAft>
                <a:spcPts val="500"/>
              </a:spcAft>
            </a:pPr>
            <a:r>
              <a:rPr sz="1400" b="0">
                <a:solidFill>
                  <a:srgbClr val="222222"/>
                </a:solidFill>
                <a:latin typeface="B Nazanin"/>
              </a:rPr>
              <a:t>ممیزی باعث شد نتیجه‌ی تاریخی نزدیک ۰٫۹۸ کنار گذاشته شود، زیرا از تقسیم تصویرمحور به دست آمده و استقلال بیمار یا مورد بالینی را تضمین نمی‌کرد. همچنین یک ارزیابی تاریخی منبع‌کنارگذاشته روی ۸۹۴۷ تصویر اجرا شده بود که با جمعیت مرجع ۸۸۷۰ تصویری قابل مقایسه نبود. بنابراین نتیجه‌ی نهایی از زنجیره‌ی اصلاح‌شده بازتولید شد. این نمونه نشان می‌دهد حذف یک عدد بزرگ، ضعف پروژه نیست؛ نشانه‌ی اولویت‌دادن اعتبار استنباط بر ظاهر عملکرد است.</a:t>
            </a:r>
          </a:p>
          <a:p>
            <a:pPr rtl="1">
              <a:spcAft>
                <a:spcPts val="500"/>
              </a:spcAft>
            </a:pPr>
            <a:r>
              <a:rPr sz="1400" b="0">
                <a:solidFill>
                  <a:srgbClr val="222222"/>
                </a:solidFill>
                <a:latin typeface="B Nazanin"/>
              </a:rPr>
              <a:t>در نتیجه، ادعای ما این نیست که هیچ نوع نشت ممکنی وجود ندارد. ادعای دقیق این است که نشت‌های قابل‌شناسایی در سطح گروه و هویت دقیق فایل کنترل شده‌اند و محدودیت‌های باقی‌مانده، شامل نبود شناسه‌ی بیمار در فارابی و چهار جفت نزدیک‌به‌تکراری، مستند شده‌اند.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آیا اکنون مطمئن هستید هیچ نشتی وجود ندارد؟  پاسخ: خیر. نبود مطلق تمام انواع نشت قابل اثبات نیست. می‌توانیم بگوییم هم‌پوشانی گروه شناخته‌شده و تکرار دقیق صفر بود و پیش‌پردازش فقط با آموزش برازش شد. نبود شناسه‌ی بیمار فارابی و شباهت‌های کشف‌نشده همچنان محدودیت‌اند.</a:t>
            </a:r>
          </a:p>
          <a:p>
            <a:pPr rtl="1">
              <a:spcAft>
                <a:spcPts val="500"/>
              </a:spcAft>
            </a:pPr>
            <a:r>
              <a:rPr sz="1400" b="0">
                <a:solidFill>
                  <a:srgbClr val="222222"/>
                </a:solidFill>
                <a:latin typeface="B Nazanin"/>
              </a:rPr>
              <a:t>پرسش: چرا چهار جفت مشابه را حذف نکردید؟  پاسخ: چون بعد از مشاهده‌ی آزمون شناسایی شدند. حذف پسینی می‌توانست نتیجه را سوگیرانه کند. آن‌ها حفظ و به‌عنوان محدودیت گزارش شدند.</a:t>
            </a:r>
          </a:p>
          <a:p>
            <a:pPr rtl="1">
              <a:spcAft>
                <a:spcPts val="500"/>
              </a:spcAft>
            </a:pPr>
            <a:r>
              <a:rPr sz="1400" b="0">
                <a:solidFill>
                  <a:srgbClr val="222222"/>
                </a:solidFill>
                <a:latin typeface="B Nazanin"/>
              </a:rPr>
              <a:t>پرسش: ۲. چرا تقسیم تصویرمحور نامعتبر بود؟  پاسخ: زیرا تصاویر یک بیمار یا معاینه مستقل نیستند. اشتراک آن‌ها میان آموزش و آزمون می‌تواند باعث حفظ ویژگی‌های هویتی، آناتومی، دوربین یا معاینه شود. به همین دلیل تمام تصاویر یک گروه فقط در یک بخش قرار گرفتند.</a:t>
            </a:r>
          </a:p>
          <a:p>
            <a:pPr rtl="1">
              <a:spcAft>
                <a:spcPts val="500"/>
              </a:spcAft>
            </a:pPr>
            <a:r>
              <a:rPr sz="1400" b="0">
                <a:solidFill>
                  <a:srgbClr val="222222"/>
                </a:solidFill>
                <a:latin typeface="B Nazanin"/>
              </a:rPr>
              <a:t>پرسش: ۳. آیا تقسیم فعلی کاملاً بدون نشت است؟  پاسخ: نبود مطلق هر نوع نشت قابل اثبات نیست. هم‌پوشانی گروه شناخته‌شده و تکرار دقیق صفر است و پیش‌پردازش فقط با آموزش برازش شده؛ ولی نبود شناسه‌ی بیمار در فارابی، چهار جفت نزدیک‌به‌تکراری و شباهت‌های کشف‌نشده محدودیت‌اند.</a:t>
            </a:r>
          </a:p>
          <a:p>
            <a:pPr rtl="1">
              <a:spcAft>
                <a:spcPts val="500"/>
              </a:spcAft>
            </a:pPr>
            <a:r>
              <a:rPr sz="1400" b="0">
                <a:solidFill>
                  <a:srgbClr val="222222"/>
                </a:solidFill>
                <a:latin typeface="B Nazanin"/>
              </a:rPr>
              <a:t>پرسش: ۲۵. چرا نتیجه‌ی تاریخی ۰٫۹۸ حذف شد؟  پاسخ: از تقسیم در سطح تصویر به دست آمده بود و احتمال اشتراک بیمار یا مورد بالینی میان آموزش و آزمون وجود داشت. بنابراین توان تعمیم مستقل را نشان نمی‌داد.</a:t>
            </a:r>
          </a:p>
          <a:p>
            <a:pPr rtl="1">
              <a:spcAft>
                <a:spcPts val="500"/>
              </a:spcAft>
            </a:pPr>
            <a:r>
              <a:rPr sz="1400" b="0">
                <a:solidFill>
                  <a:srgbClr val="222222"/>
                </a:solidFill>
                <a:latin typeface="B Nazanin"/>
              </a:rPr>
              <a:t>پرسش: ۲۶. چرا </a:t>
            </a:r>
            <a:r>
              <a:rPr sz="1400" b="0">
                <a:solidFill>
                  <a:srgbClr val="222222"/>
                </a:solidFill>
                <a:latin typeface="Times New Roman"/>
              </a:rPr>
              <a:t>README</a:t>
            </a:r>
            <a:r>
              <a:rPr sz="1400" b="0">
                <a:solidFill>
                  <a:srgbClr val="222222"/>
                </a:solidFill>
                <a:latin typeface="B Nazanin"/>
              </a:rPr>
              <a:t> و گزارش نهایی نتایج متفاوت دارند؟  پاسخ: </a:t>
            </a:r>
            <a:r>
              <a:rPr sz="1400" b="0">
                <a:solidFill>
                  <a:srgbClr val="222222"/>
                </a:solidFill>
                <a:latin typeface="Times New Roman"/>
              </a:rPr>
              <a:t>README</a:t>
            </a:r>
            <a:r>
              <a:rPr sz="1400" b="0">
                <a:solidFill>
                  <a:srgbClr val="222222"/>
                </a:solidFill>
                <a:latin typeface="B Nazanin"/>
              </a:rPr>
              <a:t> بخشی از مسیر تاریخی با ۲۳ ویژگی و معیار پلاس در برابر بقیه را مستند می‌کند. گزارش نهایی از پنج نشانگر، طبقه‌بندی سه‌کلاسه و مقایسه‌های جدید استفاده می‌کند. تفاوت جمعیت، معیار و نسخه مانع مقایسه‌ی مستقیم است.</a:t>
            </a:r>
          </a:p>
          <a:p>
            <a:pPr rtl="1">
              <a:spcAft>
                <a:spcPts val="500"/>
              </a:spcAft>
            </a:pPr>
            <a:r>
              <a:rPr sz="1400" b="0">
                <a:solidFill>
                  <a:srgbClr val="222222"/>
                </a:solidFill>
                <a:latin typeface="B Nazanin"/>
              </a:rPr>
              <a:t>پرسش: ۲۷. نقش هش در پروژه چیست؟  پاسخ: هش هویت فایل و نسخه را کنترل می‌کند و از استفاده‌ی ناخواسته از تقسیم، جدول یا مدل متفاوت جلوگیری می‌کند. هش صحت بالینی فایل را اثبات نمی‌کند.</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پنج نشانگر نهایی: چگالی عروق در میدان دید، چگالی اسکلت و ابعاد فرکتال </a:t>
            </a:r>
            <a:r>
              <a:rPr sz="1400" b="0">
                <a:solidFill>
                  <a:srgbClr val="222222"/>
                </a:solidFill>
                <a:latin typeface="Times New Roman"/>
              </a:rPr>
              <a:t>D0</a:t>
            </a:r>
            <a:r>
              <a:rPr sz="1400" b="0">
                <a:solidFill>
                  <a:srgbClr val="222222"/>
                </a:solidFill>
                <a:latin typeface="B Nazanin"/>
              </a:rPr>
              <a:t>، </a:t>
            </a:r>
            <a:r>
              <a:rPr sz="1400" b="0">
                <a:solidFill>
                  <a:srgbClr val="222222"/>
                </a:solidFill>
                <a:latin typeface="Times New Roman"/>
              </a:rPr>
              <a:t>D1</a:t>
            </a:r>
            <a:r>
              <a:rPr sz="1400" b="0">
                <a:solidFill>
                  <a:srgbClr val="222222"/>
                </a:solidFill>
                <a:latin typeface="B Nazanin"/>
              </a:rPr>
              <a:t> و </a:t>
            </a:r>
            <a:r>
              <a:rPr sz="1400" b="0">
                <a:solidFill>
                  <a:srgbClr val="222222"/>
                </a:solidFill>
                <a:latin typeface="Times New Roman"/>
              </a:rPr>
              <a:t>D2.</a:t>
            </a:r>
            <a:r>
              <a:rPr sz="1400" b="0">
                <a:solidFill>
                  <a:srgbClr val="222222"/>
                </a:solidFill>
                <a:latin typeface="B Nazanin"/>
              </a:rPr>
              <a:t> مخرج چگالی مساحت محتوا است تا ناحیه‌ی بیرون میدان دید نتیجه را تحریف نکند. پهنای رگ و پیچ‌خوردگی در بردار نهایی نیستند.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تصویر، میدان دید، ماسک، اسکلت و پنج نشانگر را مرحله‌به‌مرحله نشان بده. روشن کن که پهنا و پیچ‌خوردگی فقط معیارهای آزمون پذیرش نسخه‌ی آزمایشی بودند و ورودی نهایی نیستند.</a:t>
            </a:r>
          </a:p>
          <a:p>
            <a:pPr rtl="1">
              <a:spcAft>
                <a:spcPts val="500"/>
              </a:spcAft>
            </a:pPr>
            <a:r>
              <a:rPr sz="1400" b="0">
                <a:solidFill>
                  <a:srgbClr val="222222"/>
                </a:solidFill>
                <a:latin typeface="B Nazanin"/>
              </a:rPr>
              <a:t>پس از تثبیت داده، مسیر عروقی آغاز شد. تصویر رنگی به ماسک دودویی عروق تبدیل می‌شود. میدان دید معتبر تعیین می‌شود تا حاشیه‌ی سیاه در مخرج چگالی‌ها وارد نشود. تطبیق تصویر و ماسک با حل‌گر قطعی انجام می‌شود و حالت مبهم به‌جای حدس‌زدن خطا می‌دهد. نسخه‌ی ایمن‌شده‌ی حل‌گر، محتوای پیکسلی ماسک‌ها را تغییر نداد و فقط خطر انتخاب فایل اشتباه را کم کرد.</a:t>
            </a:r>
          </a:p>
          <a:p>
            <a:pPr rtl="1">
              <a:spcAft>
                <a:spcPts val="500"/>
              </a:spcAft>
            </a:pPr>
            <a:r>
              <a:rPr sz="1400" b="0">
                <a:solidFill>
                  <a:srgbClr val="222222"/>
                </a:solidFill>
                <a:latin typeface="B Nazanin"/>
              </a:rPr>
              <a:t>پنج نشانگر نهایی عبارت‌اند از چگالی عروق، چگالی اسکلت و ابعاد فرکتال </a:t>
            </a:r>
            <a:r>
              <a:rPr sz="1400" b="0">
                <a:solidFill>
                  <a:srgbClr val="222222"/>
                </a:solidFill>
                <a:latin typeface="Times New Roman"/>
              </a:rPr>
              <a:t>D0</a:t>
            </a:r>
            <a:r>
              <a:rPr sz="1400" b="0">
                <a:solidFill>
                  <a:srgbClr val="222222"/>
                </a:solidFill>
                <a:latin typeface="B Nazanin"/>
              </a:rPr>
              <a:t>، </a:t>
            </a:r>
            <a:r>
              <a:rPr sz="1400" b="0">
                <a:solidFill>
                  <a:srgbClr val="222222"/>
                </a:solidFill>
                <a:latin typeface="Times New Roman"/>
              </a:rPr>
              <a:t>D1</a:t>
            </a:r>
            <a:r>
              <a:rPr sz="1400" b="0">
                <a:solidFill>
                  <a:srgbClr val="222222"/>
                </a:solidFill>
                <a:latin typeface="B Nazanin"/>
              </a:rPr>
              <a:t> و </a:t>
            </a:r>
            <a:r>
              <a:rPr sz="1400" b="0">
                <a:solidFill>
                  <a:srgbClr val="222222"/>
                </a:solidFill>
                <a:latin typeface="Times New Roman"/>
              </a:rPr>
              <a:t>D2.</a:t>
            </a:r>
            <a:r>
              <a:rPr sz="1400" b="0">
                <a:solidFill>
                  <a:srgbClr val="222222"/>
                </a:solidFill>
                <a:latin typeface="B Nazanin"/>
              </a:rPr>
              <a:t> چگالی عروق نسبت تعداد پیکسل‌های عروقی به پیکسل‌های معتبر میدان دید است و هم از گستردگی و هم از ضخامت اثر می‌گیرد. چگالی اسکلت پس از نازک‌سازی شبکه به خطوط مرکزی محاسبه می‌شود و بیشتر طول و گستره‌ی توپولوژیک شبکه را بازتاب می‌دهد. ابعاد فرکتال با بررسی رفتار اندازه‌گیری در مقیاس‌های مختلف، پیچیدگی پوشش فضا و توزیع جرم عروقی را خلاصه می‌کنند. </a:t>
            </a:r>
            <a:r>
              <a:rPr sz="1400" b="0">
                <a:solidFill>
                  <a:srgbClr val="222222"/>
                </a:solidFill>
                <a:latin typeface="Times New Roman"/>
              </a:rPr>
              <a:t>D0</a:t>
            </a:r>
            <a:r>
              <a:rPr sz="1400" b="0">
                <a:solidFill>
                  <a:srgbClr val="222222"/>
                </a:solidFill>
                <a:latin typeface="B Nazanin"/>
              </a:rPr>
              <a:t> به حضور و پوشش جعبه‌ها، </a:t>
            </a:r>
            <a:r>
              <a:rPr sz="1400" b="0">
                <a:solidFill>
                  <a:srgbClr val="222222"/>
                </a:solidFill>
                <a:latin typeface="Times New Roman"/>
              </a:rPr>
              <a:t>D1</a:t>
            </a:r>
            <a:r>
              <a:rPr sz="1400" b="0">
                <a:solidFill>
                  <a:srgbClr val="222222"/>
                </a:solidFill>
                <a:latin typeface="B Nazanin"/>
              </a:rPr>
              <a:t> به توزیع اطلاعات و </a:t>
            </a:r>
            <a:r>
              <a:rPr sz="1400" b="0">
                <a:solidFill>
                  <a:srgbClr val="222222"/>
                </a:solidFill>
                <a:latin typeface="Times New Roman"/>
              </a:rPr>
              <a:t>D2</a:t>
            </a:r>
            <a:r>
              <a:rPr sz="1400" b="0">
                <a:solidFill>
                  <a:srgbClr val="222222"/>
                </a:solidFill>
                <a:latin typeface="B Nazanin"/>
              </a:rPr>
              <a:t> به تمرکز جرمی حساس‌تر است.</a:t>
            </a:r>
          </a:p>
          <a:p>
            <a:pPr rtl="1">
              <a:spcAft>
                <a:spcPts val="500"/>
              </a:spcAft>
            </a:pPr>
            <a:r>
              <a:rPr sz="1400" b="0">
                <a:solidFill>
                  <a:srgbClr val="222222"/>
                </a:solidFill>
                <a:latin typeface="B Nazanin"/>
              </a:rPr>
              <a:t>در پروژه یک نامزد جداسازی مبتنی بر حاشیه‌گذاری تناسبی یا </a:t>
            </a:r>
            <a:r>
              <a:rPr sz="1400" b="0">
                <a:solidFill>
                  <a:srgbClr val="222222"/>
                </a:solidFill>
                <a:latin typeface="Times New Roman"/>
              </a:rPr>
              <a:t>letterbox</a:t>
            </a:r>
            <a:r>
              <a:rPr sz="1400" b="0">
                <a:solidFill>
                  <a:srgbClr val="222222"/>
                </a:solidFill>
                <a:latin typeface="B Nazanin"/>
              </a:rPr>
              <a:t> نیز آزمایش شد. هدف این بود که تغییر شکل هندسی ناشی از تغییر اندازه کاهش یابد. اما قانون پذیرش از پیش به معیارهای هندسی نگاه می‌کرد: پهنای رگ بهتر نشد و پیچ‌خوردگی بدتر شد، بنابراین نامزد به‌صورت خودکار جایگزین نسخه‌ی جاری نشد. نکته‌ی مهم این است که پهنای رگ و پیچ‌خوردگی جزو پنج ورودی نهایی نیستند؛ آن‌ها فقط معیارهای آزمون هندسی این نامزد بودند. همچنین بسته‌ی نهایی یک مجموعه‌ی خارجی تثبیت‌شده برای گزارش </a:t>
            </a:r>
            <a:r>
              <a:rPr sz="1400" b="0">
                <a:solidFill>
                  <a:srgbClr val="222222"/>
                </a:solidFill>
                <a:latin typeface="Times New Roman"/>
              </a:rPr>
              <a:t>Dice</a:t>
            </a:r>
            <a:r>
              <a:rPr sz="1400" b="0">
                <a:solidFill>
                  <a:srgbClr val="222222"/>
                </a:solidFill>
                <a:latin typeface="B Nazanin"/>
              </a:rPr>
              <a:t> جداسازی ندارد، پس کیفیت بالینی ماسک‌ها را مستقل از طبقه‌بندی ادعا نمی‌کنم.</a:t>
            </a:r>
          </a:p>
          <a:p>
            <a:pPr rtl="1">
              <a:spcAft>
                <a:spcPts val="500"/>
              </a:spcAft>
            </a:pPr>
            <a:r>
              <a:rPr sz="1400" b="0">
                <a:solidFill>
                  <a:srgbClr val="222222"/>
                </a:solidFill>
                <a:latin typeface="B Nazanin"/>
              </a:rPr>
              <a:t>برای جلوگیری از اثر حاشیه‌ی سیاه، میدان دید معتبر هر تصویر ساخته شد. سپس پنج نشانگر نهایی محاسبه شدند: چگالی عروق، چگالی اسکلت و سه بُعد فرکتال </a:t>
            </a:r>
            <a:r>
              <a:rPr sz="1400" b="0">
                <a:solidFill>
                  <a:srgbClr val="222222"/>
                </a:solidFill>
                <a:latin typeface="Times New Roman"/>
              </a:rPr>
              <a:t>D0</a:t>
            </a:r>
            <a:r>
              <a:rPr sz="1400" b="0">
                <a:solidFill>
                  <a:srgbClr val="222222"/>
                </a:solidFill>
                <a:latin typeface="B Nazanin"/>
              </a:rPr>
              <a:t>، </a:t>
            </a:r>
            <a:r>
              <a:rPr sz="1400" b="0">
                <a:solidFill>
                  <a:srgbClr val="222222"/>
                </a:solidFill>
                <a:latin typeface="Times New Roman"/>
              </a:rPr>
              <a:t>D1</a:t>
            </a:r>
            <a:r>
              <a:rPr sz="1400" b="0">
                <a:solidFill>
                  <a:srgbClr val="222222"/>
                </a:solidFill>
                <a:latin typeface="B Nazanin"/>
              </a:rPr>
              <a:t> و </a:t>
            </a:r>
            <a:r>
              <a:rPr sz="1400" b="0">
                <a:solidFill>
                  <a:srgbClr val="222222"/>
                </a:solidFill>
                <a:latin typeface="Times New Roman"/>
              </a:rPr>
              <a:t>D2.</a:t>
            </a:r>
            <a:r>
              <a:rPr sz="1400" b="0">
                <a:solidFill>
                  <a:srgbClr val="222222"/>
                </a:solidFill>
                <a:latin typeface="B Nazanin"/>
              </a:rPr>
              <a:t> چگالی عروق نسبت پیکسل‌های عروقی به پیکسل‌های معتبر میدان دید است و از طول و ضخامت رگ‌ها تأثیر می‌گیرد. چگالی اسکلت پس از تبدیل رگ‌ها به خطوط مرکزی محاسبه می‌شود و بیشتر گستردگی شبکه را نشان می‌دهد. ابعاد فرکتال جنبه‌های متفاوت پوشش فضا، توزیع اطلاعات و تراکم شبکه را در چند مقیاس خلاصه می‌کنند.</a:t>
            </a:r>
          </a:p>
          <a:p>
            <a:pPr rtl="1">
              <a:spcAft>
                <a:spcPts val="500"/>
              </a:spcAft>
            </a:pPr>
            <a:r>
              <a:rPr sz="1400" b="0">
                <a:solidFill>
                  <a:srgbClr val="222222"/>
                </a:solidFill>
                <a:latin typeface="B Nazanin"/>
              </a:rPr>
              <a:t>یک نسخه‌ی آزمایشی مبتنی بر حاشیه‌گذاری تناسبی نیز بررسی شد. در آزمون پذیرش، پهنای رگ بهتر نشد و پیچ‌خوردگی بدتر شد؛ بنابراین نسخه‌ی آزمایشی جایگزین نسخه‌ی جاری نشد. پهنای رگ و پیچ‌خوردگی عضو بردار پنج‌نشانگری نهایی نیستند و فقط معیارهای کنترل هندسی نسخه‌ی آزمایشی بودند. همچنین چون در بسته‌ی نهایی معیار خارجی تثبیت‌شده‌ای برای جداسازی وجود ندارد، کیفیت بالینی ماسک‌ها یا ضریب دایس خارجی ادعا نمی‌شود.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آیا </a:t>
            </a:r>
            <a:r>
              <a:rPr sz="1400" b="0">
                <a:solidFill>
                  <a:srgbClr val="222222"/>
                </a:solidFill>
                <a:latin typeface="Times New Roman"/>
              </a:rPr>
              <a:t>width</a:t>
            </a:r>
            <a:r>
              <a:rPr sz="1400" b="0">
                <a:solidFill>
                  <a:srgbClr val="222222"/>
                </a:solidFill>
                <a:latin typeface="B Nazanin"/>
              </a:rPr>
              <a:t> و </a:t>
            </a:r>
            <a:r>
              <a:rPr sz="1400" b="0">
                <a:solidFill>
                  <a:srgbClr val="222222"/>
                </a:solidFill>
                <a:latin typeface="Times New Roman"/>
              </a:rPr>
              <a:t>tortuosity</a:t>
            </a:r>
            <a:r>
              <a:rPr sz="1400" b="0">
                <a:solidFill>
                  <a:srgbClr val="222222"/>
                </a:solidFill>
                <a:latin typeface="B Nazanin"/>
              </a:rPr>
              <a:t> را در مدل استفاده کردید؟  پاسخ: خیر. بردار نهایی فقط پنج مؤلفه‌ی چگالی عروق، چگالی اسکلت و </a:t>
            </a:r>
            <a:r>
              <a:rPr sz="1400" b="0">
                <a:solidFill>
                  <a:srgbClr val="222222"/>
                </a:solidFill>
                <a:latin typeface="Times New Roman"/>
              </a:rPr>
              <a:t>D0</a:t>
            </a:r>
            <a:r>
              <a:rPr sz="1400" b="0">
                <a:solidFill>
                  <a:srgbClr val="222222"/>
                </a:solidFill>
                <a:latin typeface="B Nazanin"/>
              </a:rPr>
              <a:t>، </a:t>
            </a:r>
            <a:r>
              <a:rPr sz="1400" b="0">
                <a:solidFill>
                  <a:srgbClr val="222222"/>
                </a:solidFill>
                <a:latin typeface="Times New Roman"/>
              </a:rPr>
              <a:t>D1</a:t>
            </a:r>
            <a:r>
              <a:rPr sz="1400" b="0">
                <a:solidFill>
                  <a:srgbClr val="222222"/>
                </a:solidFill>
                <a:latin typeface="B Nazanin"/>
              </a:rPr>
              <a:t> و </a:t>
            </a:r>
            <a:r>
              <a:rPr sz="1400" b="0">
                <a:solidFill>
                  <a:srgbClr val="222222"/>
                </a:solidFill>
                <a:latin typeface="Times New Roman"/>
              </a:rPr>
              <a:t>D2</a:t>
            </a:r>
            <a:r>
              <a:rPr sz="1400" b="0">
                <a:solidFill>
                  <a:srgbClr val="222222"/>
                </a:solidFill>
                <a:latin typeface="B Nazanin"/>
              </a:rPr>
              <a:t> دارد. پهنا و پیچ‌خوردگی فقط برای آزمون هندسی نسخه‌ی آزمایشی جداسازی استفاده شدند.</a:t>
            </a:r>
          </a:p>
          <a:p>
            <a:pPr rtl="1">
              <a:spcAft>
                <a:spcPts val="500"/>
              </a:spcAft>
            </a:pPr>
            <a:r>
              <a:rPr sz="1400" b="0">
                <a:solidFill>
                  <a:srgbClr val="222222"/>
                </a:solidFill>
                <a:latin typeface="B Nazanin"/>
              </a:rPr>
              <a:t>پرسش: چرا نسخه‌ی حاشیه‌گذاری تناسبی رد شد؟  پاسخ: چون معیار پهنا بهبود نیافت و پیچ‌خوردگی بدتر شد. طبق قاعده‌ی پذیرش، شواهد کافی برای جایگزینی خودکار نسخه‌ی جاری وجود نداشت.</a:t>
            </a:r>
          </a:p>
          <a:p>
            <a:pPr rtl="1">
              <a:spcAft>
                <a:spcPts val="500"/>
              </a:spcAft>
            </a:pPr>
            <a:r>
              <a:rPr sz="1400" b="0">
                <a:solidFill>
                  <a:srgbClr val="222222"/>
                </a:solidFill>
                <a:latin typeface="B Nazanin"/>
              </a:rPr>
              <a:t>پرسش: آیا کیفیت ماسک‌ها اثبات شده است؟  پاسخ: ردیابی و قرارداد تولید ماسک کنترل شده است، اما در بسته‌ی نهایی معیار خارجی تثبیت‌شده برای کیفیت بالینی ماسک وجود ندارد. بنابراین ادعای اعتبار خارجی جداسازی مطرح نمی‌شود.</a:t>
            </a:r>
          </a:p>
          <a:p>
            <a:pPr rtl="1">
              <a:spcAft>
                <a:spcPts val="500"/>
              </a:spcAft>
            </a:pPr>
            <a:r>
              <a:rPr sz="1400" b="0">
                <a:solidFill>
                  <a:srgbClr val="222222"/>
                </a:solidFill>
                <a:latin typeface="B Nazanin"/>
              </a:rPr>
              <a:t>پرسش: ۷. پنج نشانگر دقیقاً کدام‌اند؟  پاسخ: چگالی عروق در میدان دید، چگالی اسکلت و ابعاد فرکتال </a:t>
            </a:r>
            <a:r>
              <a:rPr sz="1400" b="0">
                <a:solidFill>
                  <a:srgbClr val="222222"/>
                </a:solidFill>
                <a:latin typeface="Times New Roman"/>
              </a:rPr>
              <a:t>D0</a:t>
            </a:r>
            <a:r>
              <a:rPr sz="1400" b="0">
                <a:solidFill>
                  <a:srgbClr val="222222"/>
                </a:solidFill>
                <a:latin typeface="B Nazanin"/>
              </a:rPr>
              <a:t>، </a:t>
            </a:r>
            <a:r>
              <a:rPr sz="1400" b="0">
                <a:solidFill>
                  <a:srgbClr val="222222"/>
                </a:solidFill>
                <a:latin typeface="Times New Roman"/>
              </a:rPr>
              <a:t>D1</a:t>
            </a:r>
            <a:r>
              <a:rPr sz="1400" b="0">
                <a:solidFill>
                  <a:srgbClr val="222222"/>
                </a:solidFill>
                <a:latin typeface="B Nazanin"/>
              </a:rPr>
              <a:t> و </a:t>
            </a:r>
            <a:r>
              <a:rPr sz="1400" b="0">
                <a:solidFill>
                  <a:srgbClr val="222222"/>
                </a:solidFill>
                <a:latin typeface="Times New Roman"/>
              </a:rPr>
              <a:t>D2.</a:t>
            </a:r>
          </a:p>
          <a:p>
            <a:pPr rtl="1">
              <a:spcAft>
                <a:spcPts val="500"/>
              </a:spcAft>
            </a:pPr>
            <a:r>
              <a:rPr sz="1400" b="0">
                <a:solidFill>
                  <a:srgbClr val="222222"/>
                </a:solidFill>
                <a:latin typeface="B Nazanin"/>
              </a:rPr>
              <a:t>پرسش: ۸. آیا پیچ‌خوردگی و پهنای رگ در مدل نهایی هستند؟  پاسخ: خیر. آن‌ها فقط معیارهای کنترل هندسی نسخه‌ی آزمایشی حاشیه‌گذاری تناسبی بودند. بردار نهایی شامل آن‌ها نیست.</a:t>
            </a:r>
          </a:p>
          <a:p>
            <a:pPr rtl="1">
              <a:spcAft>
                <a:spcPts val="500"/>
              </a:spcAft>
            </a:pPr>
            <a:r>
              <a:rPr sz="1400" b="0">
                <a:solidFill>
                  <a:srgbClr val="222222"/>
                </a:solidFill>
                <a:latin typeface="B Nazanin"/>
              </a:rPr>
              <a:t>پرسش: ۹. چرا نسخه‌ی </a:t>
            </a:r>
            <a:r>
              <a:rPr sz="1400" b="0">
                <a:solidFill>
                  <a:srgbClr val="222222"/>
                </a:solidFill>
                <a:latin typeface="Times New Roman"/>
              </a:rPr>
              <a:t>letterbox</a:t>
            </a:r>
            <a:r>
              <a:rPr sz="1400" b="0">
                <a:solidFill>
                  <a:srgbClr val="222222"/>
                </a:solidFill>
                <a:latin typeface="B Nazanin"/>
              </a:rPr>
              <a:t> جایگزین نشد؟  پاسخ: در آزمون پذیرش مصنوعی، پهنای رگ بهتر نشد و پیچ‌خوردگی بدتر شد. بر اساس قاعده‌ی از پیش تعیین‌شده، شواهد کافی برای جایگزینی نبود.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هفت ورودی اصلی در یک طراحی عاملی: </a:t>
            </a:r>
            <a:r>
              <a:rPr sz="1400" b="0">
                <a:solidFill>
                  <a:srgbClr val="222222"/>
                </a:solidFill>
                <a:latin typeface="Times New Roman"/>
              </a:rPr>
              <a:t>A</a:t>
            </a:r>
            <a:r>
              <a:rPr sz="1400" b="0">
                <a:solidFill>
                  <a:srgbClr val="222222"/>
                </a:solidFill>
                <a:latin typeface="B Nazanin"/>
              </a:rPr>
              <a:t> پنج عدد، </a:t>
            </a:r>
            <a:r>
              <a:rPr sz="1400" b="0">
                <a:solidFill>
                  <a:srgbClr val="222222"/>
                </a:solidFill>
                <a:latin typeface="Times New Roman"/>
              </a:rPr>
              <a:t>B</a:t>
            </a:r>
            <a:r>
              <a:rPr sz="1400" b="0">
                <a:solidFill>
                  <a:srgbClr val="222222"/>
                </a:solidFill>
                <a:latin typeface="B Nazanin"/>
              </a:rPr>
              <a:t> شبکه‌ی تصویری، </a:t>
            </a:r>
            <a:r>
              <a:rPr sz="1400" b="0">
                <a:solidFill>
                  <a:srgbClr val="222222"/>
                </a:solidFill>
                <a:latin typeface="Times New Roman"/>
              </a:rPr>
              <a:t>B-emb</a:t>
            </a:r>
            <a:r>
              <a:rPr sz="1400" b="0">
                <a:solidFill>
                  <a:srgbClr val="222222"/>
                </a:solidFill>
                <a:latin typeface="B Nazanin"/>
              </a:rPr>
              <a:t> بردار تصویری، </a:t>
            </a:r>
            <a:r>
              <a:rPr sz="1400" b="0">
                <a:solidFill>
                  <a:srgbClr val="222222"/>
                </a:solidFill>
                <a:latin typeface="Times New Roman"/>
              </a:rPr>
              <a:t>C</a:t>
            </a:r>
            <a:r>
              <a:rPr sz="1400" b="0">
                <a:solidFill>
                  <a:srgbClr val="222222"/>
                </a:solidFill>
                <a:latin typeface="B Nazanin"/>
              </a:rPr>
              <a:t> تصویر همراه نشانگر، </a:t>
            </a:r>
            <a:r>
              <a:rPr sz="1400" b="0">
                <a:solidFill>
                  <a:srgbClr val="222222"/>
                </a:solidFill>
                <a:latin typeface="Times New Roman"/>
              </a:rPr>
              <a:t>D</a:t>
            </a:r>
            <a:r>
              <a:rPr sz="1400" b="0">
                <a:solidFill>
                  <a:srgbClr val="222222"/>
                </a:solidFill>
                <a:latin typeface="B Nazanin"/>
              </a:rPr>
              <a:t> فقط نقشه‌ی عروق، </a:t>
            </a:r>
            <a:r>
              <a:rPr sz="1400" b="0">
                <a:solidFill>
                  <a:srgbClr val="222222"/>
                </a:solidFill>
                <a:latin typeface="Times New Roman"/>
              </a:rPr>
              <a:t>E</a:t>
            </a:r>
            <a:r>
              <a:rPr sz="1400" b="0">
                <a:solidFill>
                  <a:srgbClr val="222222"/>
                </a:solidFill>
                <a:latin typeface="B Nazanin"/>
              </a:rPr>
              <a:t> تصویر همراه عروق، و </a:t>
            </a:r>
            <a:r>
              <a:rPr sz="1400" b="0">
                <a:solidFill>
                  <a:srgbClr val="222222"/>
                </a:solidFill>
                <a:latin typeface="Times New Roman"/>
              </a:rPr>
              <a:t>G</a:t>
            </a:r>
            <a:r>
              <a:rPr sz="1400" b="0">
                <a:solidFill>
                  <a:srgbClr val="222222"/>
                </a:solidFill>
                <a:latin typeface="B Nazanin"/>
              </a:rPr>
              <a:t> هر سه نمایش. همه‌ی مدل‌های برداری یک پیکربندی ثابت </a:t>
            </a:r>
            <a:r>
              <a:rPr sz="1400" b="0">
                <a:solidFill>
                  <a:srgbClr val="222222"/>
                </a:solidFill>
                <a:latin typeface="Times New Roman"/>
              </a:rPr>
              <a:t>XGBoost</a:t>
            </a:r>
            <a:r>
              <a:rPr sz="1400" b="0">
                <a:solidFill>
                  <a:srgbClr val="222222"/>
                </a:solidFill>
                <a:latin typeface="B Nazanin"/>
              </a:rPr>
              <a:t> دارند تا مقایسه منصفانه بماند.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مدل‌ها را به‌صورت پرسش نشان بده: </a:t>
            </a:r>
            <a:r>
              <a:rPr sz="1400" b="0">
                <a:solidFill>
                  <a:srgbClr val="222222"/>
                </a:solidFill>
                <a:latin typeface="Times New Roman"/>
              </a:rPr>
              <a:t>A</a:t>
            </a:r>
            <a:r>
              <a:rPr sz="1400" b="0">
                <a:solidFill>
                  <a:srgbClr val="222222"/>
                </a:solidFill>
                <a:latin typeface="B Nazanin"/>
              </a:rPr>
              <a:t> آیا پنج عدد به‌تنهایی اطلاعات دارند؟ </a:t>
            </a:r>
            <a:r>
              <a:rPr sz="1400" b="0">
                <a:solidFill>
                  <a:srgbClr val="222222"/>
                </a:solidFill>
                <a:latin typeface="Times New Roman"/>
              </a:rPr>
              <a:t>C-B</a:t>
            </a:r>
            <a:r>
              <a:rPr sz="1400" b="0">
                <a:solidFill>
                  <a:srgbClr val="222222"/>
                </a:solidFill>
                <a:latin typeface="B Nazanin"/>
              </a:rPr>
              <a:t> آیا به </a:t>
            </a:r>
            <a:r>
              <a:rPr sz="1400" b="0">
                <a:solidFill>
                  <a:srgbClr val="222222"/>
                </a:solidFill>
                <a:latin typeface="Times New Roman"/>
              </a:rPr>
              <a:t>RGB</a:t>
            </a:r>
            <a:r>
              <a:rPr sz="1400" b="0">
                <a:solidFill>
                  <a:srgbClr val="222222"/>
                </a:solidFill>
                <a:latin typeface="B Nazanin"/>
              </a:rPr>
              <a:t> چیزی اضافه می‌کنند؟ </a:t>
            </a:r>
            <a:r>
              <a:rPr sz="1400" b="0">
                <a:solidFill>
                  <a:srgbClr val="222222"/>
                </a:solidFill>
                <a:latin typeface="Times New Roman"/>
              </a:rPr>
              <a:t>E-B</a:t>
            </a:r>
            <a:r>
              <a:rPr sz="1400" b="0">
                <a:solidFill>
                  <a:srgbClr val="222222"/>
                </a:solidFill>
                <a:latin typeface="B Nazanin"/>
              </a:rPr>
              <a:t> آیا نقشه‌ی فضایی عروق مکمل است؟ </a:t>
            </a:r>
            <a:r>
              <a:rPr sz="1400" b="0">
                <a:solidFill>
                  <a:srgbClr val="222222"/>
                </a:solidFill>
                <a:latin typeface="Times New Roman"/>
              </a:rPr>
              <a:t>G-E</a:t>
            </a:r>
            <a:r>
              <a:rPr sz="1400" b="0">
                <a:solidFill>
                  <a:srgbClr val="222222"/>
                </a:solidFill>
                <a:latin typeface="B Nazanin"/>
              </a:rPr>
              <a:t> آیا پنج عدد پس از حضور هر دو نمایش هنوز مفیدند؟</a:t>
            </a:r>
          </a:p>
          <a:p>
            <a:pPr rtl="1">
              <a:spcAft>
                <a:spcPts val="500"/>
              </a:spcAft>
            </a:pPr>
            <a:r>
              <a:rPr sz="1400" b="0">
                <a:solidFill>
                  <a:srgbClr val="222222"/>
                </a:solidFill>
                <a:latin typeface="B Nazanin"/>
              </a:rPr>
              <a:t>پنج نشانگر مزیت تفسیرپذیری و فشردگی دارند، اما فشرده‌سازی از یک تصویر بزرگ به پنج عدد، محل تغییرات، ساختار شاخه‌ها، عدم تقارن و ناهمسانی فضایی را حذف می‌کند. به همین دلیل دو نمایش دیگر بررسی شدند. شاخه‌ی </a:t>
            </a:r>
            <a:r>
              <a:rPr sz="1400" b="0">
                <a:solidFill>
                  <a:srgbClr val="222222"/>
                </a:solidFill>
                <a:latin typeface="Times New Roman"/>
              </a:rPr>
              <a:t>RGB</a:t>
            </a:r>
            <a:r>
              <a:rPr sz="1400" b="0">
                <a:solidFill>
                  <a:srgbClr val="222222"/>
                </a:solidFill>
                <a:latin typeface="B Nazanin"/>
              </a:rPr>
              <a:t> با </a:t>
            </a:r>
            <a:r>
              <a:rPr sz="1400" b="0">
                <a:solidFill>
                  <a:srgbClr val="222222"/>
                </a:solidFill>
                <a:latin typeface="Times New Roman"/>
              </a:rPr>
              <a:t>EfficientNet-B5</a:t>
            </a:r>
            <a:r>
              <a:rPr sz="1400" b="0">
                <a:solidFill>
                  <a:srgbClr val="222222"/>
                </a:solidFill>
                <a:latin typeface="B Nazanin"/>
              </a:rPr>
              <a:t> از تصویر ۳۸۴ پیکسلی بردار ۲۰۴۸بعدی می‌ساخت. این شبکه با </a:t>
            </a:r>
            <a:r>
              <a:rPr sz="1400" b="0">
                <a:solidFill>
                  <a:srgbClr val="222222"/>
                </a:solidFill>
                <a:latin typeface="Times New Roman"/>
              </a:rPr>
              <a:t>AdamW</a:t>
            </a:r>
            <a:r>
              <a:rPr sz="1400" b="0">
                <a:solidFill>
                  <a:srgbClr val="222222"/>
                </a:solidFill>
                <a:latin typeface="B Nazanin"/>
              </a:rPr>
              <a:t>، نرخ یادگیری ۱۰ به توان منفی پنج، کاهش وزن ۱۰ به توان منفی چهار، دسته‌ی ۱۶، حداکثر ۴۰ دوره و صبر توقف زودهنگام ۸ آموزش یافت. شاخه‌ی عروق با </a:t>
            </a:r>
            <a:r>
              <a:rPr sz="1400" b="0">
                <a:solidFill>
                  <a:srgbClr val="222222"/>
                </a:solidFill>
                <a:latin typeface="Times New Roman"/>
              </a:rPr>
              <a:t>EfficientNet-B4</a:t>
            </a:r>
            <a:r>
              <a:rPr sz="1400" b="0">
                <a:solidFill>
                  <a:srgbClr val="222222"/>
                </a:solidFill>
                <a:latin typeface="B Nazanin"/>
              </a:rPr>
              <a:t> بردار ۱۷۹۲بعدی می‌ساخت و با نرخ یادگیری ۱۰ به توان منفی چهار، همان کاهش وزن، دسته‌ی ۱۶، حداکثر ۳۰ دوره و صبر ۶ آموزش دید. تغییر اندازه‌ی ماسک با نزدیک‌ترین همسایه انجام شد تا مقادیر خاکستری مصنوعی ایجاد نشود.</a:t>
            </a:r>
          </a:p>
          <a:p>
            <a:pPr rtl="1">
              <a:spcAft>
                <a:spcPts val="500"/>
              </a:spcAft>
            </a:pPr>
            <a:r>
              <a:rPr sz="1400" b="0">
                <a:solidFill>
                  <a:srgbClr val="222222"/>
                </a:solidFill>
                <a:latin typeface="B Nazanin"/>
              </a:rPr>
              <a:t>برای جداکردن سهم اطلاعات، مدل‌های </a:t>
            </a:r>
            <a:r>
              <a:rPr sz="1400" b="0">
                <a:solidFill>
                  <a:srgbClr val="222222"/>
                </a:solidFill>
                <a:latin typeface="Times New Roman"/>
              </a:rPr>
              <a:t>A</a:t>
            </a:r>
            <a:r>
              <a:rPr sz="1400" b="0">
                <a:solidFill>
                  <a:srgbClr val="222222"/>
                </a:solidFill>
                <a:latin typeface="B Nazanin"/>
              </a:rPr>
              <a:t> تا </a:t>
            </a:r>
            <a:r>
              <a:rPr sz="1400" b="0">
                <a:solidFill>
                  <a:srgbClr val="222222"/>
                </a:solidFill>
                <a:latin typeface="Times New Roman"/>
              </a:rPr>
              <a:t>G</a:t>
            </a:r>
            <a:r>
              <a:rPr sz="1400" b="0">
                <a:solidFill>
                  <a:srgbClr val="222222"/>
                </a:solidFill>
                <a:latin typeface="B Nazanin"/>
              </a:rPr>
              <a:t> تعریف شدند. مدل </a:t>
            </a:r>
            <a:r>
              <a:rPr sz="1400" b="0">
                <a:solidFill>
                  <a:srgbClr val="222222"/>
                </a:solidFill>
                <a:latin typeface="Times New Roman"/>
              </a:rPr>
              <a:t>A</a:t>
            </a:r>
            <a:r>
              <a:rPr sz="1400" b="0">
                <a:solidFill>
                  <a:srgbClr val="222222"/>
                </a:solidFill>
                <a:latin typeface="B Nazanin"/>
              </a:rPr>
              <a:t> فقط پنج نشانگر را به </a:t>
            </a:r>
            <a:r>
              <a:rPr sz="1400" b="0">
                <a:solidFill>
                  <a:srgbClr val="222222"/>
                </a:solidFill>
                <a:latin typeface="Times New Roman"/>
              </a:rPr>
              <a:t>XGBoost</a:t>
            </a:r>
            <a:r>
              <a:rPr sz="1400" b="0">
                <a:solidFill>
                  <a:srgbClr val="222222"/>
                </a:solidFill>
                <a:latin typeface="B Nazanin"/>
              </a:rPr>
              <a:t> می‌دهد و می‌پرسد آیا آن‌ها به‌تنهایی سیگنال بیماری دارند. مدل </a:t>
            </a:r>
            <a:r>
              <a:rPr sz="1400" b="0">
                <a:solidFill>
                  <a:srgbClr val="222222"/>
                </a:solidFill>
                <a:latin typeface="Times New Roman"/>
              </a:rPr>
              <a:t>B</a:t>
            </a:r>
            <a:r>
              <a:rPr sz="1400" b="0">
                <a:solidFill>
                  <a:srgbClr val="222222"/>
                </a:solidFill>
                <a:latin typeface="B Nazanin"/>
              </a:rPr>
              <a:t> بردار </a:t>
            </a:r>
            <a:r>
              <a:rPr sz="1400" b="0">
                <a:solidFill>
                  <a:srgbClr val="222222"/>
                </a:solidFill>
                <a:latin typeface="Times New Roman"/>
              </a:rPr>
              <a:t>RGB</a:t>
            </a:r>
            <a:r>
              <a:rPr sz="1400" b="0">
                <a:solidFill>
                  <a:srgbClr val="222222"/>
                </a:solidFill>
                <a:latin typeface="B Nazanin"/>
              </a:rPr>
              <a:t> را به </a:t>
            </a:r>
            <a:r>
              <a:rPr sz="1400" b="0">
                <a:solidFill>
                  <a:srgbClr val="222222"/>
                </a:solidFill>
                <a:latin typeface="Times New Roman"/>
              </a:rPr>
              <a:t>XGBoost</a:t>
            </a:r>
            <a:r>
              <a:rPr sz="1400" b="0">
                <a:solidFill>
                  <a:srgbClr val="222222"/>
                </a:solidFill>
                <a:latin typeface="B Nazanin"/>
              </a:rPr>
              <a:t> می‌دهد و خط پایه‌ی اصلی است. مدل </a:t>
            </a:r>
            <a:r>
              <a:rPr sz="1400" b="0">
                <a:solidFill>
                  <a:srgbClr val="222222"/>
                </a:solidFill>
                <a:latin typeface="Times New Roman"/>
              </a:rPr>
              <a:t>C</a:t>
            </a:r>
            <a:r>
              <a:rPr sz="1400" b="0">
                <a:solidFill>
                  <a:srgbClr val="222222"/>
                </a:solidFill>
                <a:latin typeface="B Nazanin"/>
              </a:rPr>
              <a:t> بردار </a:t>
            </a:r>
            <a:r>
              <a:rPr sz="1400" b="0">
                <a:solidFill>
                  <a:srgbClr val="222222"/>
                </a:solidFill>
                <a:latin typeface="Times New Roman"/>
              </a:rPr>
              <a:t>RGB</a:t>
            </a:r>
            <a:r>
              <a:rPr sz="1400" b="0">
                <a:solidFill>
                  <a:srgbClr val="222222"/>
                </a:solidFill>
                <a:latin typeface="B Nazanin"/>
              </a:rPr>
              <a:t> و پنج نشانگر را ترکیب می‌کند؛ پس مقایسه‌ی </a:t>
            </a:r>
            <a:r>
              <a:rPr sz="1400" b="0">
                <a:solidFill>
                  <a:srgbClr val="222222"/>
                </a:solidFill>
                <a:latin typeface="Times New Roman"/>
              </a:rPr>
              <a:t>C</a:t>
            </a:r>
            <a:r>
              <a:rPr sz="1400" b="0">
                <a:solidFill>
                  <a:srgbClr val="222222"/>
                </a:solidFill>
                <a:latin typeface="B Nazanin"/>
              </a:rPr>
              <a:t> با </a:t>
            </a:r>
            <a:r>
              <a:rPr sz="1400" b="0">
                <a:solidFill>
                  <a:srgbClr val="222222"/>
                </a:solidFill>
                <a:latin typeface="Times New Roman"/>
              </a:rPr>
              <a:t>B</a:t>
            </a:r>
            <a:r>
              <a:rPr sz="1400" b="0">
                <a:solidFill>
                  <a:srgbClr val="222222"/>
                </a:solidFill>
                <a:latin typeface="B Nazanin"/>
              </a:rPr>
              <a:t> ارزش افزوده‌ی نشانگرها را می‌سنجد. مدل </a:t>
            </a:r>
            <a:r>
              <a:rPr sz="1400" b="0">
                <a:solidFill>
                  <a:srgbClr val="222222"/>
                </a:solidFill>
                <a:latin typeface="Times New Roman"/>
              </a:rPr>
              <a:t>D</a:t>
            </a:r>
            <a:r>
              <a:rPr sz="1400" b="0">
                <a:solidFill>
                  <a:srgbClr val="222222"/>
                </a:solidFill>
                <a:latin typeface="B Nazanin"/>
              </a:rPr>
              <a:t> فقط بردار آموخته‌شده از ماسک عروق را می‌گیرد. مدل </a:t>
            </a:r>
            <a:r>
              <a:rPr sz="1400" b="0">
                <a:solidFill>
                  <a:srgbClr val="222222"/>
                </a:solidFill>
                <a:latin typeface="Times New Roman"/>
              </a:rPr>
              <a:t>E</a:t>
            </a:r>
            <a:r>
              <a:rPr sz="1400" b="0">
                <a:solidFill>
                  <a:srgbClr val="222222"/>
                </a:solidFill>
                <a:latin typeface="B Nazanin"/>
              </a:rPr>
              <a:t> بردار </a:t>
            </a:r>
            <a:r>
              <a:rPr sz="1400" b="0">
                <a:solidFill>
                  <a:srgbClr val="222222"/>
                </a:solidFill>
                <a:latin typeface="Times New Roman"/>
              </a:rPr>
              <a:t>RGB</a:t>
            </a:r>
            <a:r>
              <a:rPr sz="1400" b="0">
                <a:solidFill>
                  <a:srgbClr val="222222"/>
                </a:solidFill>
                <a:latin typeface="B Nazanin"/>
              </a:rPr>
              <a:t> و عروق را ترکیب می‌کند؛ بنابراین </a:t>
            </a:r>
            <a:r>
              <a:rPr sz="1400" b="0">
                <a:solidFill>
                  <a:srgbClr val="222222"/>
                </a:solidFill>
                <a:latin typeface="Times New Roman"/>
              </a:rPr>
              <a:t>E-B</a:t>
            </a:r>
            <a:r>
              <a:rPr sz="1400" b="0">
                <a:solidFill>
                  <a:srgbClr val="222222"/>
                </a:solidFill>
                <a:latin typeface="B Nazanin"/>
              </a:rPr>
              <a:t> ارزش ساختار فضایی عروق را اندازه می‌گیرد. مدل </a:t>
            </a:r>
            <a:r>
              <a:rPr sz="1400" b="0">
                <a:solidFill>
                  <a:srgbClr val="222222"/>
                </a:solidFill>
                <a:latin typeface="Times New Roman"/>
              </a:rPr>
              <a:t>F</a:t>
            </a:r>
            <a:r>
              <a:rPr sz="1400" b="0">
                <a:solidFill>
                  <a:srgbClr val="222222"/>
                </a:solidFill>
                <a:latin typeface="B Nazanin"/>
              </a:rPr>
              <a:t> احتمال‌های دو شاخه را دیرهنگام ترکیب می‌کند، اما وزن انتخاب‌شده روی اعتبارسنجی برابر یک برای </a:t>
            </a:r>
            <a:r>
              <a:rPr sz="1400" b="0">
                <a:solidFill>
                  <a:srgbClr val="222222"/>
                </a:solidFill>
                <a:latin typeface="Times New Roman"/>
              </a:rPr>
              <a:t>RGB</a:t>
            </a:r>
            <a:r>
              <a:rPr sz="1400" b="0">
                <a:solidFill>
                  <a:srgbClr val="222222"/>
                </a:solidFill>
                <a:latin typeface="B Nazanin"/>
              </a:rPr>
              <a:t> بود و خروجی آن عملاً با </a:t>
            </a:r>
            <a:r>
              <a:rPr sz="1400" b="0">
                <a:solidFill>
                  <a:srgbClr val="222222"/>
                </a:solidFill>
                <a:latin typeface="Times New Roman"/>
              </a:rPr>
              <a:t>B</a:t>
            </a:r>
            <a:r>
              <a:rPr sz="1400" b="0">
                <a:solidFill>
                  <a:srgbClr val="222222"/>
                </a:solidFill>
                <a:latin typeface="B Nazanin"/>
              </a:rPr>
              <a:t> برابر شد. مدل </a:t>
            </a:r>
            <a:r>
              <a:rPr sz="1400" b="0">
                <a:solidFill>
                  <a:srgbClr val="222222"/>
                </a:solidFill>
                <a:latin typeface="Times New Roman"/>
              </a:rPr>
              <a:t>G</a:t>
            </a:r>
            <a:r>
              <a:rPr sz="1400" b="0">
                <a:solidFill>
                  <a:srgbClr val="222222"/>
                </a:solidFill>
                <a:latin typeface="B Nazanin"/>
              </a:rPr>
              <a:t> هر سه نمایش را می‌گیرد و </a:t>
            </a:r>
            <a:r>
              <a:rPr sz="1400" b="0">
                <a:solidFill>
                  <a:srgbClr val="222222"/>
                </a:solidFill>
                <a:latin typeface="Times New Roman"/>
              </a:rPr>
              <a:t>G-E</a:t>
            </a:r>
            <a:r>
              <a:rPr sz="1400" b="0">
                <a:solidFill>
                  <a:srgbClr val="222222"/>
                </a:solidFill>
                <a:latin typeface="B Nazanin"/>
              </a:rPr>
              <a:t> بررسی می‌کند آیا پنج نشانگر پس از حضور </a:t>
            </a:r>
            <a:r>
              <a:rPr sz="1400" b="0">
                <a:solidFill>
                  <a:srgbClr val="222222"/>
                </a:solidFill>
                <a:latin typeface="Times New Roman"/>
              </a:rPr>
              <a:t>RGB</a:t>
            </a:r>
            <a:r>
              <a:rPr sz="1400" b="0">
                <a:solidFill>
                  <a:srgbClr val="222222"/>
                </a:solidFill>
                <a:latin typeface="B Nazanin"/>
              </a:rPr>
              <a:t> و عروق هنوز ارزش اضافه دارند.</a:t>
            </a:r>
          </a:p>
          <a:p>
            <a:pPr rtl="1">
              <a:spcAft>
                <a:spcPts val="500"/>
              </a:spcAft>
            </a:pPr>
            <a:r>
              <a:rPr sz="1400" b="0">
                <a:solidFill>
                  <a:srgbClr val="222222"/>
                </a:solidFill>
                <a:latin typeface="B Nazanin"/>
              </a:rPr>
              <a:t>مدل </a:t>
            </a:r>
            <a:r>
              <a:rPr sz="1400" b="0">
                <a:solidFill>
                  <a:srgbClr val="222222"/>
                </a:solidFill>
                <a:latin typeface="Times New Roman"/>
              </a:rPr>
              <a:t>A</a:t>
            </a:r>
            <a:r>
              <a:rPr sz="1400" b="0">
                <a:solidFill>
                  <a:srgbClr val="222222"/>
                </a:solidFill>
                <a:latin typeface="B Nazanin"/>
              </a:rPr>
              <a:t> فقط پنج نشانگر را به </a:t>
            </a:r>
            <a:r>
              <a:rPr sz="1400" b="0">
                <a:solidFill>
                  <a:srgbClr val="222222"/>
                </a:solidFill>
                <a:latin typeface="Times New Roman"/>
              </a:rPr>
              <a:t>XGBoost</a:t>
            </a:r>
            <a:r>
              <a:rPr sz="1400" b="0">
                <a:solidFill>
                  <a:srgbClr val="222222"/>
                </a:solidFill>
                <a:latin typeface="B Nazanin"/>
              </a:rPr>
              <a:t> می‌دهد و توان مستقل آن‌ها را بررسی می‌کند. مدل </a:t>
            </a:r>
            <a:r>
              <a:rPr sz="1400" b="0">
                <a:solidFill>
                  <a:srgbClr val="222222"/>
                </a:solidFill>
                <a:latin typeface="Times New Roman"/>
              </a:rPr>
              <a:t>B</a:t>
            </a:r>
            <a:r>
              <a:rPr sz="1400" b="0">
                <a:solidFill>
                  <a:srgbClr val="222222"/>
                </a:solidFill>
                <a:latin typeface="B Nazanin"/>
              </a:rPr>
              <a:t> بازنمایی رنگی را به </a:t>
            </a:r>
            <a:r>
              <a:rPr sz="1400" b="0">
                <a:solidFill>
                  <a:srgbClr val="222222"/>
                </a:solidFill>
                <a:latin typeface="Times New Roman"/>
              </a:rPr>
              <a:t>XGBoost</a:t>
            </a:r>
            <a:r>
              <a:rPr sz="1400" b="0">
                <a:solidFill>
                  <a:srgbClr val="222222"/>
                </a:solidFill>
                <a:latin typeface="B Nazanin"/>
              </a:rPr>
              <a:t> می‌دهد و خط پایه‌ی اصلی است. مدل </a:t>
            </a:r>
            <a:r>
              <a:rPr sz="1400" b="0">
                <a:solidFill>
                  <a:srgbClr val="222222"/>
                </a:solidFill>
                <a:latin typeface="Times New Roman"/>
              </a:rPr>
              <a:t>C</a:t>
            </a:r>
            <a:r>
              <a:rPr sz="1400" b="0">
                <a:solidFill>
                  <a:srgbClr val="222222"/>
                </a:solidFill>
                <a:latin typeface="B Nazanin"/>
              </a:rPr>
              <a:t> بازنمایی رنگی را همراه پنج نشانگر استفاده می‌کند؛ بنابراین مقایسه‌ی </a:t>
            </a:r>
            <a:r>
              <a:rPr sz="1400" b="0">
                <a:solidFill>
                  <a:srgbClr val="222222"/>
                </a:solidFill>
                <a:latin typeface="Times New Roman"/>
              </a:rPr>
              <a:t>C</a:t>
            </a:r>
            <a:r>
              <a:rPr sz="1400" b="0">
                <a:solidFill>
                  <a:srgbClr val="222222"/>
                </a:solidFill>
                <a:latin typeface="B Nazanin"/>
              </a:rPr>
              <a:t> و </a:t>
            </a:r>
            <a:r>
              <a:rPr sz="1400" b="0">
                <a:solidFill>
                  <a:srgbClr val="222222"/>
                </a:solidFill>
                <a:latin typeface="Times New Roman"/>
              </a:rPr>
              <a:t>B</a:t>
            </a:r>
            <a:r>
              <a:rPr sz="1400" b="0">
                <a:solidFill>
                  <a:srgbClr val="222222"/>
                </a:solidFill>
                <a:latin typeface="B Nazanin"/>
              </a:rPr>
              <a:t> ارزش افزوده‌ی نشانگرها نسبت به تصویر را اندازه می‌گیرد.</a:t>
            </a:r>
          </a:p>
          <a:p>
            <a:pPr rtl="1">
              <a:spcAft>
                <a:spcPts val="500"/>
              </a:spcAft>
            </a:pPr>
            <a:r>
              <a:rPr sz="1400" b="0">
                <a:solidFill>
                  <a:srgbClr val="222222"/>
                </a:solidFill>
                <a:latin typeface="B Nazanin"/>
              </a:rPr>
              <a:t>مدل </a:t>
            </a:r>
            <a:r>
              <a:rPr sz="1400" b="0">
                <a:solidFill>
                  <a:srgbClr val="222222"/>
                </a:solidFill>
                <a:latin typeface="Times New Roman"/>
              </a:rPr>
              <a:t>D</a:t>
            </a:r>
            <a:r>
              <a:rPr sz="1400" b="0">
                <a:solidFill>
                  <a:srgbClr val="222222"/>
                </a:solidFill>
                <a:latin typeface="B Nazanin"/>
              </a:rPr>
              <a:t> فقط نقشه‌ی عروق را ارزیابی می‌کند. مدل </a:t>
            </a:r>
            <a:r>
              <a:rPr sz="1400" b="0">
                <a:solidFill>
                  <a:srgbClr val="222222"/>
                </a:solidFill>
                <a:latin typeface="Times New Roman"/>
              </a:rPr>
              <a:t>E</a:t>
            </a:r>
            <a:r>
              <a:rPr sz="1400" b="0">
                <a:solidFill>
                  <a:srgbClr val="222222"/>
                </a:solidFill>
                <a:latin typeface="B Nazanin"/>
              </a:rPr>
              <a:t> بازنمایی رنگی و عروقی را الحاق می‌کند؛ بنابراین مقایسه‌ی </a:t>
            </a:r>
            <a:r>
              <a:rPr sz="1400" b="0">
                <a:solidFill>
                  <a:srgbClr val="222222"/>
                </a:solidFill>
                <a:latin typeface="Times New Roman"/>
              </a:rPr>
              <a:t>E</a:t>
            </a:r>
            <a:r>
              <a:rPr sz="1400" b="0">
                <a:solidFill>
                  <a:srgbClr val="222222"/>
                </a:solidFill>
                <a:latin typeface="B Nazanin"/>
              </a:rPr>
              <a:t> و </a:t>
            </a:r>
            <a:r>
              <a:rPr sz="1400" b="0">
                <a:solidFill>
                  <a:srgbClr val="222222"/>
                </a:solidFill>
                <a:latin typeface="Times New Roman"/>
              </a:rPr>
              <a:t>B</a:t>
            </a:r>
            <a:r>
              <a:rPr sz="1400" b="0">
                <a:solidFill>
                  <a:srgbClr val="222222"/>
                </a:solidFill>
                <a:latin typeface="B Nazanin"/>
              </a:rPr>
              <a:t> ارزش افزوده‌ی ساختار فضایی عروق را می‌سنجد. مدل </a:t>
            </a:r>
            <a:r>
              <a:rPr sz="1400" b="0">
                <a:solidFill>
                  <a:srgbClr val="222222"/>
                </a:solidFill>
                <a:latin typeface="Times New Roman"/>
              </a:rPr>
              <a:t>F</a:t>
            </a:r>
            <a:r>
              <a:rPr sz="1400" b="0">
                <a:solidFill>
                  <a:srgbClr val="222222"/>
                </a:solidFill>
                <a:latin typeface="B Nazanin"/>
              </a:rPr>
              <a:t> احتمال‌های مدل رنگی و عروقی را به‌صورت دیرهنگام ترکیب می‌کند. وزن منتخب اعتبارسنجی برای آن برابر یک شد و مدل عملاً </a:t>
            </a:r>
            <a:r>
              <a:rPr sz="1400" b="0">
                <a:solidFill>
                  <a:srgbClr val="222222"/>
                </a:solidFill>
                <a:latin typeface="Times New Roman"/>
              </a:rPr>
              <a:t>B</a:t>
            </a:r>
            <a:r>
              <a:rPr sz="1400" b="0">
                <a:solidFill>
                  <a:srgbClr val="222222"/>
                </a:solidFill>
                <a:latin typeface="B Nazanin"/>
              </a:rPr>
              <a:t> را ترجیح داد. مدل </a:t>
            </a:r>
            <a:r>
              <a:rPr sz="1400" b="0">
                <a:solidFill>
                  <a:srgbClr val="222222"/>
                </a:solidFill>
                <a:latin typeface="Times New Roman"/>
              </a:rPr>
              <a:t>G</a:t>
            </a:r>
            <a:r>
              <a:rPr sz="1400" b="0">
                <a:solidFill>
                  <a:srgbClr val="222222"/>
                </a:solidFill>
                <a:latin typeface="B Nazanin"/>
              </a:rPr>
              <a:t> هر سه نمایش رنگی، عروقی و پنج نشانگر را دریافت می‌کند. مقایسه‌ی </a:t>
            </a:r>
            <a:r>
              <a:rPr sz="1400" b="0">
                <a:solidFill>
                  <a:srgbClr val="222222"/>
                </a:solidFill>
                <a:latin typeface="Times New Roman"/>
              </a:rPr>
              <a:t>G</a:t>
            </a:r>
            <a:r>
              <a:rPr sz="1400" b="0">
                <a:solidFill>
                  <a:srgbClr val="222222"/>
                </a:solidFill>
                <a:latin typeface="B Nazanin"/>
              </a:rPr>
              <a:t> و </a:t>
            </a:r>
            <a:r>
              <a:rPr sz="1400" b="0">
                <a:solidFill>
                  <a:srgbClr val="222222"/>
                </a:solidFill>
                <a:latin typeface="Times New Roman"/>
              </a:rPr>
              <a:t>E</a:t>
            </a:r>
            <a:r>
              <a:rPr sz="1400" b="0">
                <a:solidFill>
                  <a:srgbClr val="222222"/>
                </a:solidFill>
                <a:latin typeface="B Nazanin"/>
              </a:rPr>
              <a:t> بررسی می‌کند آیا پنج نشانگر پس از حضور هر دو بازنمایی غنی هنوز اطلاعات افزایشی دارند.</a:t>
            </a:r>
          </a:p>
          <a:p>
            <a:pPr rtl="1">
              <a:spcAft>
                <a:spcPts val="500"/>
              </a:spcAft>
            </a:pPr>
            <a:r>
              <a:rPr sz="1400" b="0">
                <a:solidFill>
                  <a:srgbClr val="222222"/>
                </a:solidFill>
                <a:latin typeface="B Nazanin"/>
              </a:rPr>
              <a:t>برای پاسخ به سؤال ارزش افزوده، مدل‌ها به‌صورت یک طراحی عاملی تعریف شدند. در این طراحی جمعیت، تقسیم، طبقه‌بند و روش ارزیابی ثابت است و فقط نوع اطلاعات ورودی تغییر می‌کند. مدل </a:t>
            </a:r>
            <a:r>
              <a:rPr sz="1400" b="0">
                <a:solidFill>
                  <a:srgbClr val="222222"/>
                </a:solidFill>
                <a:latin typeface="Times New Roman"/>
              </a:rPr>
              <a:t>A</a:t>
            </a:r>
            <a:r>
              <a:rPr sz="1400" b="0">
                <a:solidFill>
                  <a:srgbClr val="222222"/>
                </a:solidFill>
                <a:latin typeface="B Nazanin"/>
              </a:rPr>
              <a:t> پنج نشانگر را به </a:t>
            </a:r>
            <a:r>
              <a:rPr sz="1400" b="0">
                <a:solidFill>
                  <a:srgbClr val="222222"/>
                </a:solidFill>
                <a:latin typeface="Times New Roman"/>
              </a:rPr>
              <a:t>XGBoost</a:t>
            </a:r>
            <a:r>
              <a:rPr sz="1400" b="0">
                <a:solidFill>
                  <a:srgbClr val="222222"/>
                </a:solidFill>
                <a:latin typeface="B Nazanin"/>
              </a:rPr>
              <a:t> می‌دهد و می‌سنجد آیا خلاصه‌های عددی به‌تنهایی سیگنال دارند. مدل </a:t>
            </a:r>
            <a:r>
              <a:rPr sz="1400" b="0">
                <a:solidFill>
                  <a:srgbClr val="222222"/>
                </a:solidFill>
                <a:latin typeface="Times New Roman"/>
              </a:rPr>
              <a:t>B</a:t>
            </a:r>
            <a:r>
              <a:rPr sz="1400" b="0">
                <a:solidFill>
                  <a:srgbClr val="222222"/>
                </a:solidFill>
                <a:latin typeface="B Nazanin"/>
              </a:rPr>
              <a:t> بازنمایی ۲۰۴۸بعدی تصویر رنگی را استفاده می‌کند و خط پایه‌ی اصلی است.</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چرا </a:t>
            </a:r>
            <a:r>
              <a:rPr sz="1400" b="0">
                <a:solidFill>
                  <a:srgbClr val="222222"/>
                </a:solidFill>
                <a:latin typeface="Times New Roman"/>
              </a:rPr>
              <a:t>A</a:t>
            </a:r>
            <a:r>
              <a:rPr sz="1400" b="0">
                <a:solidFill>
                  <a:srgbClr val="222222"/>
                </a:solidFill>
                <a:latin typeface="B Nazanin"/>
              </a:rPr>
              <a:t> را با </a:t>
            </a:r>
            <a:r>
              <a:rPr sz="1400" b="0">
                <a:solidFill>
                  <a:srgbClr val="222222"/>
                </a:solidFill>
                <a:latin typeface="Times New Roman"/>
              </a:rPr>
              <a:t>G</a:t>
            </a:r>
            <a:r>
              <a:rPr sz="1400" b="0">
                <a:solidFill>
                  <a:srgbClr val="222222"/>
                </a:solidFill>
                <a:latin typeface="B Nazanin"/>
              </a:rPr>
              <a:t> مقایسه نمی‌کنید؟  پاسخ: چون چند نوع اطلاعات هم‌زمان تغییر می‌کنند. برای اندازه‌گیری ارزش افزوده باید فقط یک بلوک ورودی اضافه شود؛ به همین دلیل </a:t>
            </a:r>
            <a:r>
              <a:rPr sz="1400" b="0">
                <a:solidFill>
                  <a:srgbClr val="222222"/>
                </a:solidFill>
                <a:latin typeface="Times New Roman"/>
              </a:rPr>
              <a:t>C</a:t>
            </a:r>
            <a:r>
              <a:rPr sz="1400" b="0">
                <a:solidFill>
                  <a:srgbClr val="222222"/>
                </a:solidFill>
                <a:latin typeface="B Nazanin"/>
              </a:rPr>
              <a:t> با </a:t>
            </a:r>
            <a:r>
              <a:rPr sz="1400" b="0">
                <a:solidFill>
                  <a:srgbClr val="222222"/>
                </a:solidFill>
                <a:latin typeface="Times New Roman"/>
              </a:rPr>
              <a:t>B</a:t>
            </a:r>
            <a:r>
              <a:rPr sz="1400" b="0">
                <a:solidFill>
                  <a:srgbClr val="222222"/>
                </a:solidFill>
                <a:latin typeface="B Nazanin"/>
              </a:rPr>
              <a:t>، </a:t>
            </a:r>
            <a:r>
              <a:rPr sz="1400" b="0">
                <a:solidFill>
                  <a:srgbClr val="222222"/>
                </a:solidFill>
                <a:latin typeface="Times New Roman"/>
              </a:rPr>
              <a:t>E</a:t>
            </a:r>
            <a:r>
              <a:rPr sz="1400" b="0">
                <a:solidFill>
                  <a:srgbClr val="222222"/>
                </a:solidFill>
                <a:latin typeface="B Nazanin"/>
              </a:rPr>
              <a:t> با </a:t>
            </a:r>
            <a:r>
              <a:rPr sz="1400" b="0">
                <a:solidFill>
                  <a:srgbClr val="222222"/>
                </a:solidFill>
                <a:latin typeface="Times New Roman"/>
              </a:rPr>
              <a:t>B</a:t>
            </a:r>
            <a:r>
              <a:rPr sz="1400" b="0">
                <a:solidFill>
                  <a:srgbClr val="222222"/>
                </a:solidFill>
                <a:latin typeface="B Nazanin"/>
              </a:rPr>
              <a:t> و </a:t>
            </a:r>
            <a:r>
              <a:rPr sz="1400" b="0">
                <a:solidFill>
                  <a:srgbClr val="222222"/>
                </a:solidFill>
                <a:latin typeface="Times New Roman"/>
              </a:rPr>
              <a:t>G</a:t>
            </a:r>
            <a:r>
              <a:rPr sz="1400" b="0">
                <a:solidFill>
                  <a:srgbClr val="222222"/>
                </a:solidFill>
                <a:latin typeface="B Nazanin"/>
              </a:rPr>
              <a:t> با </a:t>
            </a:r>
            <a:r>
              <a:rPr sz="1400" b="0">
                <a:solidFill>
                  <a:srgbClr val="222222"/>
                </a:solidFill>
                <a:latin typeface="Times New Roman"/>
              </a:rPr>
              <a:t>E</a:t>
            </a:r>
            <a:r>
              <a:rPr sz="1400" b="0">
                <a:solidFill>
                  <a:srgbClr val="222222"/>
                </a:solidFill>
                <a:latin typeface="B Nazanin"/>
              </a:rPr>
              <a:t> مقایسه می‌شوند.</a:t>
            </a:r>
          </a:p>
          <a:p>
            <a:pPr rtl="1">
              <a:spcAft>
                <a:spcPts val="500"/>
              </a:spcAft>
            </a:pPr>
            <a:r>
              <a:rPr sz="1400" b="0">
                <a:solidFill>
                  <a:srgbClr val="222222"/>
                </a:solidFill>
                <a:latin typeface="B Nazanin"/>
              </a:rPr>
              <a:t>پرسش: چرا </a:t>
            </a:r>
            <a:r>
              <a:rPr sz="1400" b="0">
                <a:solidFill>
                  <a:srgbClr val="222222"/>
                </a:solidFill>
                <a:latin typeface="Times New Roman"/>
              </a:rPr>
              <a:t>XGBoost</a:t>
            </a:r>
            <a:r>
              <a:rPr sz="1400" b="0">
                <a:solidFill>
                  <a:srgbClr val="222222"/>
                </a:solidFill>
                <a:latin typeface="B Nazanin"/>
              </a:rPr>
              <a:t> انتخاب شد؟  پاسخ: برای بردارهای تثبیت‌شده یک طبقه‌بند غیرخطی قدرتمند فراهم می‌کند و استفاده‌ی مشترک از آن اثر تغییر طبقه‌بند را در مقایسه‌ها کاهش می‌دهد.</a:t>
            </a:r>
          </a:p>
          <a:p>
            <a:pPr rtl="1">
              <a:spcAft>
                <a:spcPts val="500"/>
              </a:spcAft>
            </a:pPr>
            <a:r>
              <a:rPr sz="1400" b="0">
                <a:solidFill>
                  <a:srgbClr val="222222"/>
                </a:solidFill>
                <a:latin typeface="B Nazanin"/>
              </a:rPr>
              <a:t>پرسش: آیا مدل </a:t>
            </a:r>
            <a:r>
              <a:rPr sz="1400" b="0">
                <a:solidFill>
                  <a:srgbClr val="222222"/>
                </a:solidFill>
                <a:latin typeface="Times New Roman"/>
              </a:rPr>
              <a:t>G</a:t>
            </a:r>
            <a:r>
              <a:rPr sz="1400" b="0">
                <a:solidFill>
                  <a:srgbClr val="222222"/>
                </a:solidFill>
                <a:latin typeface="B Nazanin"/>
              </a:rPr>
              <a:t> بهترین مدل است؟  پاسخ: </a:t>
            </a:r>
            <a:r>
              <a:rPr sz="1400" b="0">
                <a:solidFill>
                  <a:srgbClr val="222222"/>
                </a:solidFill>
                <a:latin typeface="Times New Roman"/>
              </a:rPr>
              <a:t>G</a:t>
            </a:r>
            <a:r>
              <a:rPr sz="1400" b="0">
                <a:solidFill>
                  <a:srgbClr val="222222"/>
                </a:solidFill>
                <a:latin typeface="B Nazanin"/>
              </a:rPr>
              <a:t> بالاترین برآورد نقطه‌ای را دارد، ولی برتری آن نسبت به </a:t>
            </a:r>
            <a:r>
              <a:rPr sz="1400" b="0">
                <a:solidFill>
                  <a:srgbClr val="222222"/>
                </a:solidFill>
                <a:latin typeface="Times New Roman"/>
              </a:rPr>
              <a:t>E</a:t>
            </a:r>
            <a:r>
              <a:rPr sz="1400" b="0">
                <a:solidFill>
                  <a:srgbClr val="222222"/>
                </a:solidFill>
                <a:latin typeface="B Nazanin"/>
              </a:rPr>
              <a:t> از نظر آزمون زوجی پشتیبانی نشد. بنابراین نمی‌توان ارزش افزوده‌ی قطعی پنج نشانگر را ادعا کرد.</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سه رژیم ارزیابی جدا نگه داشته شدند: تقسیم کانونی، منبع کنارگذاشته و آزمون سازگارسازی دامنه. استنباط با بازنمونه‌گیری زوجی طبقه‌محور، ده هزار تکرار و بذر ثابت انجام شد و پنج معیار گزارش شد؛ هیچ امتیاز ترکیبی ساخته نشد.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تفاوت </a:t>
            </a:r>
            <a:r>
              <a:rPr sz="1400" b="0">
                <a:solidFill>
                  <a:srgbClr val="222222"/>
                </a:solidFill>
                <a:latin typeface="Times New Roman"/>
              </a:rPr>
              <a:t>AUC</a:t>
            </a:r>
            <a:r>
              <a:rPr sz="1400" b="0">
                <a:solidFill>
                  <a:srgbClr val="222222"/>
                </a:solidFill>
                <a:latin typeface="B Nazanin"/>
              </a:rPr>
              <a:t> ماکرو، صحت متوازن، </a:t>
            </a:r>
            <a:r>
              <a:rPr sz="1400" b="0">
                <a:solidFill>
                  <a:srgbClr val="222222"/>
                </a:solidFill>
                <a:latin typeface="Times New Roman"/>
              </a:rPr>
              <a:t>F1</a:t>
            </a:r>
            <a:r>
              <a:rPr sz="1400" b="0">
                <a:solidFill>
                  <a:srgbClr val="222222"/>
                </a:solidFill>
                <a:latin typeface="B Nazanin"/>
              </a:rPr>
              <a:t> ماکرو، بریر و </a:t>
            </a:r>
            <a:r>
              <a:rPr sz="1400" b="0">
                <a:solidFill>
                  <a:srgbClr val="222222"/>
                </a:solidFill>
                <a:latin typeface="Times New Roman"/>
              </a:rPr>
              <a:t>ECE</a:t>
            </a:r>
            <a:r>
              <a:rPr sz="1400" b="0">
                <a:solidFill>
                  <a:srgbClr val="222222"/>
                </a:solidFill>
                <a:latin typeface="B Nazanin"/>
              </a:rPr>
              <a:t> را بیان کن. سپس بازنمونه‌گیری زوجی طبقه‌بندی‌شده با ده‌هزار تکرار را توضیح بده. پیام اصلی این اسلاید این است که «بزرگ‌تر بودن عدد» به‌تنهایی برای ادعای برتری کافی نیست.</a:t>
            </a:r>
          </a:p>
          <a:p>
            <a:pPr rtl="1">
              <a:spcAft>
                <a:spcPts val="500"/>
              </a:spcAft>
            </a:pPr>
            <a:r>
              <a:rPr sz="1400" b="0">
                <a:solidFill>
                  <a:srgbClr val="222222"/>
                </a:solidFill>
                <a:latin typeface="B Nazanin"/>
              </a:rPr>
              <a:t>ارزیابی فقط با دقت کلی انجام نشد. </a:t>
            </a:r>
            <a:r>
              <a:rPr sz="1400" b="0">
                <a:solidFill>
                  <a:srgbClr val="222222"/>
                </a:solidFill>
                <a:latin typeface="Times New Roman"/>
              </a:rPr>
              <a:t>AUC</a:t>
            </a:r>
            <a:r>
              <a:rPr sz="1400" b="0">
                <a:solidFill>
                  <a:srgbClr val="222222"/>
                </a:solidFill>
                <a:latin typeface="B Nazanin"/>
              </a:rPr>
              <a:t> ماکرو میانگین توان رتبه‌بندی یک‌درمقابل‌بقیه برای سه کلاس است. صحت متوازن میانگین حساسیت کلاس‌هاست و اجازه نمی‌دهد کلاس پرتعداد نتیجه را مسلط کند. </a:t>
            </a:r>
            <a:r>
              <a:rPr sz="1400" b="0">
                <a:solidFill>
                  <a:srgbClr val="222222"/>
                </a:solidFill>
                <a:latin typeface="Times New Roman"/>
              </a:rPr>
              <a:t>F1</a:t>
            </a:r>
            <a:r>
              <a:rPr sz="1400" b="0">
                <a:solidFill>
                  <a:srgbClr val="222222"/>
                </a:solidFill>
                <a:latin typeface="B Nazanin"/>
              </a:rPr>
              <a:t> ماکرو تعادل دقت مثبت و حساسیت را برای هر کلاس می‌سنجد. امتیاز بریر فاصله‌ی احتمال‌های پیش‌بینی‌شده از برچسب واقعی را ارزیابی می‌کند و مقدار کمتر بهتر است. </a:t>
            </a:r>
            <a:r>
              <a:rPr sz="1400" b="0">
                <a:solidFill>
                  <a:srgbClr val="222222"/>
                </a:solidFill>
                <a:latin typeface="Times New Roman"/>
              </a:rPr>
              <a:t>ECE</a:t>
            </a:r>
            <a:r>
              <a:rPr sz="1400" b="0">
                <a:solidFill>
                  <a:srgbClr val="222222"/>
                </a:solidFill>
                <a:latin typeface="B Nazanin"/>
              </a:rPr>
              <a:t> شکاف میان اطمینان و فراوانی صحت را به‌صورت بازه‌بندی‌شده خلاصه می‌کند. ممکن است </a:t>
            </a:r>
            <a:r>
              <a:rPr sz="1400" b="0">
                <a:solidFill>
                  <a:srgbClr val="222222"/>
                </a:solidFill>
                <a:latin typeface="Times New Roman"/>
              </a:rPr>
              <a:t>AUC</a:t>
            </a:r>
            <a:r>
              <a:rPr sz="1400" b="0">
                <a:solidFill>
                  <a:srgbClr val="222222"/>
                </a:solidFill>
                <a:latin typeface="B Nazanin"/>
              </a:rPr>
              <a:t> بهتر شود ولی </a:t>
            </a:r>
            <a:r>
              <a:rPr sz="1400" b="0">
                <a:solidFill>
                  <a:srgbClr val="222222"/>
                </a:solidFill>
                <a:latin typeface="Times New Roman"/>
              </a:rPr>
              <a:t>ECE</a:t>
            </a:r>
            <a:r>
              <a:rPr sz="1400" b="0">
                <a:solidFill>
                  <a:srgbClr val="222222"/>
                </a:solidFill>
                <a:latin typeface="B Nazanin"/>
              </a:rPr>
              <a:t> بدتر، چون رتبه‌بندی و واسنجی دو خاصیت متفاوت‌اند.</a:t>
            </a:r>
          </a:p>
          <a:p>
            <a:pPr rtl="1">
              <a:spcAft>
                <a:spcPts val="500"/>
              </a:spcAft>
            </a:pPr>
            <a:r>
              <a:rPr sz="1400" b="0">
                <a:solidFill>
                  <a:srgbClr val="222222"/>
                </a:solidFill>
                <a:latin typeface="B Nazanin"/>
              </a:rPr>
              <a:t>برای مقایسه، بازنمونه‌گیری زوجی طبقه‌بندی‌شده با ده‌هزار تکرار و بذر ۴۲ انجام شد. در هر تکرار همان نمونه‌ها برای هر دو مدل انتخاب شدند و اختلاف معیار محاسبه شد. زوجی‌بودن نوسان مشترک ناشی از نمونه‌ها را حذف می‌کند و طبقه‌بندی‌شدن مانع نوسان شدید ترکیب کلاس می‌شود. اگر بازه‌ی ۹۵ درصد اختلاف صفر را دربرگیرد، داده برای ادعای جهت قطعی اختلاف کافی نیست؛ این به معنای اثبات برابری دو مدل نیست.</a:t>
            </a:r>
          </a:p>
          <a:p>
            <a:pPr rtl="1">
              <a:spcAft>
                <a:spcPts val="500"/>
              </a:spcAft>
            </a:pPr>
            <a:r>
              <a:rPr sz="1400" b="0">
                <a:solidFill>
                  <a:srgbClr val="222222"/>
                </a:solidFill>
                <a:latin typeface="B Nazanin"/>
              </a:rPr>
              <a:t>در مقایسه‌های اصلی، جمعیت، تقسیم، طبقه‌بند و روش ارزیابی ثابت نگه داشته شدند. فقط بلوک اطلاعات ورودی تغییر کرد. بنابراین </a:t>
            </a:r>
            <a:r>
              <a:rPr sz="1400" b="0">
                <a:solidFill>
                  <a:srgbClr val="222222"/>
                </a:solidFill>
                <a:latin typeface="Times New Roman"/>
              </a:rPr>
              <a:t>C-B</a:t>
            </a:r>
            <a:r>
              <a:rPr sz="1400" b="0">
                <a:solidFill>
                  <a:srgbClr val="222222"/>
                </a:solidFill>
                <a:latin typeface="B Nazanin"/>
              </a:rPr>
              <a:t> سهم نشانگرها، </a:t>
            </a:r>
            <a:r>
              <a:rPr sz="1400" b="0">
                <a:solidFill>
                  <a:srgbClr val="222222"/>
                </a:solidFill>
                <a:latin typeface="Times New Roman"/>
              </a:rPr>
              <a:t>E-B</a:t>
            </a:r>
            <a:r>
              <a:rPr sz="1400" b="0">
                <a:solidFill>
                  <a:srgbClr val="222222"/>
                </a:solidFill>
                <a:latin typeface="B Nazanin"/>
              </a:rPr>
              <a:t> سهم بازنمایی فضایی عروق و </a:t>
            </a:r>
            <a:r>
              <a:rPr sz="1400" b="0">
                <a:solidFill>
                  <a:srgbClr val="222222"/>
                </a:solidFill>
                <a:latin typeface="Times New Roman"/>
              </a:rPr>
              <a:t>G-E</a:t>
            </a:r>
            <a:r>
              <a:rPr sz="1400" b="0">
                <a:solidFill>
                  <a:srgbClr val="222222"/>
                </a:solidFill>
                <a:latin typeface="B Nazanin"/>
              </a:rPr>
              <a:t> سهم باقی‌مانده‌ی نشانگرها بعد از حضور عروق را بررسی می‌کند.</a:t>
            </a:r>
          </a:p>
          <a:p>
            <a:pPr rtl="1">
              <a:spcAft>
                <a:spcPts val="500"/>
              </a:spcAft>
            </a:pPr>
            <a:r>
              <a:rPr sz="1400" b="0">
                <a:solidFill>
                  <a:srgbClr val="222222"/>
                </a:solidFill>
                <a:latin typeface="B Nazanin"/>
              </a:rPr>
              <a:t>برای ارزیابی از چند معیار استفاده شد. سطح زیر منحنی ماکرو توان رتبه‌بندی سه کلاس را می‌سنجد. صحت متوازن و </a:t>
            </a:r>
            <a:r>
              <a:rPr sz="1400" b="0">
                <a:solidFill>
                  <a:srgbClr val="222222"/>
                </a:solidFill>
                <a:latin typeface="Times New Roman"/>
              </a:rPr>
              <a:t>F1</a:t>
            </a:r>
            <a:r>
              <a:rPr sz="1400" b="0">
                <a:solidFill>
                  <a:srgbClr val="222222"/>
                </a:solidFill>
                <a:latin typeface="B Nazanin"/>
              </a:rPr>
              <a:t> میانگین رفتار تصمیم را با وزن برابر کلاس‌ها بررسی می‌کنند. امتیاز بریر و خطای واسنجی نیز به کیفیت احتمال‌ها توجه دارند. بنابراین بهترشدن سطح زیر منحنی الزاماً به معنای بهترشدن تمام معیارهای تصمیم یا واسنجی نیست.</a:t>
            </a:r>
          </a:p>
          <a:p>
            <a:pPr rtl="1">
              <a:spcAft>
                <a:spcPts val="500"/>
              </a:spcAft>
            </a:pPr>
            <a:r>
              <a:rPr sz="1400" b="0">
                <a:solidFill>
                  <a:srgbClr val="222222"/>
                </a:solidFill>
                <a:latin typeface="B Nazanin"/>
              </a:rPr>
              <a:t>اختلاف مدل‌ها با بازنمونه‌گیری زوجی و طبقه‌بندی‌شده، با ۱۰هزار تکرار بررسی شد. در هر تکرار همان نمونه‌ها برای هر دو مدل انتخاب شدند و توزیع اختلاف معیار ساخته شد. این روش مشخص می‌کند یک اختلاف نقطه‌ای تا چه اندازه نسبت به تغییر نمونه‌ها پایدار است.</a:t>
            </a:r>
          </a:p>
          <a:p>
            <a:pPr rtl="1">
              <a:spcAft>
                <a:spcPts val="500"/>
              </a:spcAft>
            </a:pPr>
            <a:r>
              <a:rPr sz="1400" b="0">
                <a:solidFill>
                  <a:srgbClr val="222222"/>
                </a:solidFill>
                <a:latin typeface="B Nazanin"/>
              </a:rPr>
              <a:t>برای ارزیابی مدل‌ها از یک معیار واحد استفاده نکردم، زیرا هر معیار جنبه‌ی متفاوتی را می‌سنجد. سطح زیر منحنی ماکرو توان رتبه‌بندی سه کلاس را به روش یک‌دربرابر‌بقیه اندازه می‌گیرد. صحت متوازن و </a:t>
            </a:r>
            <a:r>
              <a:rPr sz="1400" b="0">
                <a:solidFill>
                  <a:srgbClr val="222222"/>
                </a:solidFill>
                <a:latin typeface="Times New Roman"/>
              </a:rPr>
              <a:t>F1</a:t>
            </a:r>
            <a:r>
              <a:rPr sz="1400" b="0">
                <a:solidFill>
                  <a:srgbClr val="222222"/>
                </a:solidFill>
                <a:latin typeface="B Nazanin"/>
              </a:rPr>
              <a:t> میانگین به رفتار تصمیم چندکلاسه توجه دارند و اثر عدم تعادل را کاهش می‌دهند. امتیاز بریر و خطای واسنجی نیز کیفیت احتمال‌های خروجی را بررسی می‌کنند. بنابراین ممکن است مدلی در رتبه‌بندی بهتر شود ولی در تمام معیارهای تصمیم یا واسنجی بهبود قطعی نداشته باشد.</a:t>
            </a:r>
          </a:p>
          <a:p>
            <a:pPr rtl="1">
              <a:spcAft>
                <a:spcPts val="500"/>
              </a:spcAft>
            </a:pPr>
            <a:r>
              <a:rPr sz="1400" b="0">
                <a:solidFill>
                  <a:srgbClr val="222222"/>
                </a:solidFill>
                <a:latin typeface="B Nazanin"/>
              </a:rPr>
              <a:t>برای سنجش اختلاف مدل‌ها از بازنمونه‌گیری زوجی و طبقه‌بندی‌شده با ۱۰هزار تکرار استفاده شد. چون دو مدل روی تصاویر یکسان ارزیابی شدند، در هر تکرار همان اندیس‌ها برای هر دو مدل نمونه‌گیری شدند. سپس توزیع اختلاف معیار ساخته شد و بازه‌ی اطمینان از صدک‌های آن به دست آمد. این روش میان یک اختلاف نقطه‌ای و یک بهبود پایدار تمایز ایجاد می‌کند.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۲۴. آیا آزمون واقعاً فقط یک بار استفاده شد؟  پاسخ: برای مقایسه‌ی اصلی، تقسیم آزمون ثابت بود. اما آزمایش‌های ثانویه پس از مشاهده‌ی نتیجه‌ی اولیه روی همان آزمون ارزیابی شدند؛ بنابراین آن‌ها اکتشافی‌اند و نمی‌توان آزمون را برای کل مسیر کاملاً دست‌نخورده دانست.</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جدول مرجع آزمون کانونی: </a:t>
            </a:r>
            <a:r>
              <a:rPr sz="1400" b="0">
                <a:solidFill>
                  <a:srgbClr val="222222"/>
                </a:solidFill>
                <a:latin typeface="Times New Roman"/>
              </a:rPr>
              <a:t>A</a:t>
            </a:r>
            <a:r>
              <a:rPr sz="1400" b="0">
                <a:solidFill>
                  <a:srgbClr val="222222"/>
                </a:solidFill>
                <a:latin typeface="B Nazanin"/>
              </a:rPr>
              <a:t> برابر ۰٫۶۵۹۶؛ </a:t>
            </a:r>
            <a:r>
              <a:rPr sz="1400" b="0">
                <a:solidFill>
                  <a:srgbClr val="222222"/>
                </a:solidFill>
                <a:latin typeface="Times New Roman"/>
              </a:rPr>
              <a:t>B</a:t>
            </a:r>
            <a:r>
              <a:rPr sz="1400" b="0">
                <a:solidFill>
                  <a:srgbClr val="222222"/>
                </a:solidFill>
                <a:latin typeface="B Nazanin"/>
              </a:rPr>
              <a:t> برابر ۰٫۹۱۳۳؛ </a:t>
            </a:r>
            <a:r>
              <a:rPr sz="1400" b="0">
                <a:solidFill>
                  <a:srgbClr val="222222"/>
                </a:solidFill>
                <a:latin typeface="Times New Roman"/>
              </a:rPr>
              <a:t>B-emb</a:t>
            </a:r>
            <a:r>
              <a:rPr sz="1400" b="0">
                <a:solidFill>
                  <a:srgbClr val="222222"/>
                </a:solidFill>
                <a:latin typeface="B Nazanin"/>
              </a:rPr>
              <a:t> برابر ۰٫۹۲۴۹؛ </a:t>
            </a:r>
            <a:r>
              <a:rPr sz="1400" b="0">
                <a:solidFill>
                  <a:srgbClr val="222222"/>
                </a:solidFill>
                <a:latin typeface="Times New Roman"/>
              </a:rPr>
              <a:t>C</a:t>
            </a:r>
            <a:r>
              <a:rPr sz="1400" b="0">
                <a:solidFill>
                  <a:srgbClr val="222222"/>
                </a:solidFill>
                <a:latin typeface="B Nazanin"/>
              </a:rPr>
              <a:t> برابر ۰٫۹۲۶۰؛ </a:t>
            </a:r>
            <a:r>
              <a:rPr sz="1400" b="0">
                <a:solidFill>
                  <a:srgbClr val="222222"/>
                </a:solidFill>
                <a:latin typeface="Times New Roman"/>
              </a:rPr>
              <a:t>D</a:t>
            </a:r>
            <a:r>
              <a:rPr sz="1400" b="0">
                <a:solidFill>
                  <a:srgbClr val="222222"/>
                </a:solidFill>
                <a:latin typeface="B Nazanin"/>
              </a:rPr>
              <a:t> برابر ۰٫۸۳۷۲؛ </a:t>
            </a:r>
            <a:r>
              <a:rPr sz="1400" b="0">
                <a:solidFill>
                  <a:srgbClr val="222222"/>
                </a:solidFill>
                <a:latin typeface="Times New Roman"/>
              </a:rPr>
              <a:t>E</a:t>
            </a:r>
            <a:r>
              <a:rPr sz="1400" b="0">
                <a:solidFill>
                  <a:srgbClr val="222222"/>
                </a:solidFill>
                <a:latin typeface="B Nazanin"/>
              </a:rPr>
              <a:t> برابر ۰٫۹۳۲۸ و </a:t>
            </a:r>
            <a:r>
              <a:rPr sz="1400" b="0">
                <a:solidFill>
                  <a:srgbClr val="222222"/>
                </a:solidFill>
                <a:latin typeface="Times New Roman"/>
              </a:rPr>
              <a:t>G</a:t>
            </a:r>
            <a:r>
              <a:rPr sz="1400" b="0">
                <a:solidFill>
                  <a:srgbClr val="222222"/>
                </a:solidFill>
                <a:latin typeface="B Nazanin"/>
              </a:rPr>
              <a:t> برابر ۰٫۹۳۴۹. بالاترین عدد جدول شاهد قوی‌تر نیست؛ شاهد واقعی بازه‌ی اطمینان زوجی است.</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مدل پنج‌نشانگری </a:t>
            </a:r>
            <a:r>
              <a:rPr sz="1400" b="0">
                <a:solidFill>
                  <a:srgbClr val="222222"/>
                </a:solidFill>
                <a:latin typeface="Times New Roman"/>
              </a:rPr>
              <a:t>A</a:t>
            </a:r>
            <a:r>
              <a:rPr sz="1400" b="0">
                <a:solidFill>
                  <a:srgbClr val="222222"/>
                </a:solidFill>
                <a:latin typeface="B Nazanin"/>
              </a:rPr>
              <a:t> به‌تنهایی سطح زیر منحنی ۰٫۶۵۹۶ داشت؛ بنابراین پنج عدد کاملاً فاقد اطلاعات نیستند. مدل رنگی </a:t>
            </a:r>
            <a:r>
              <a:rPr sz="1400" b="0">
                <a:solidFill>
                  <a:srgbClr val="222222"/>
                </a:solidFill>
                <a:latin typeface="Times New Roman"/>
              </a:rPr>
              <a:t>B</a:t>
            </a:r>
            <a:r>
              <a:rPr sz="1400" b="0">
                <a:solidFill>
                  <a:srgbClr val="222222"/>
                </a:solidFill>
                <a:latin typeface="B Nazanin"/>
              </a:rPr>
              <a:t> به ۰٫۹۲۴۹ رسید. افزودن نشانگرها در </a:t>
            </a:r>
            <a:r>
              <a:rPr sz="1400" b="0">
                <a:solidFill>
                  <a:srgbClr val="222222"/>
                </a:solidFill>
                <a:latin typeface="Times New Roman"/>
              </a:rPr>
              <a:t>C</a:t>
            </a:r>
            <a:r>
              <a:rPr sz="1400" b="0">
                <a:solidFill>
                  <a:srgbClr val="222222"/>
                </a:solidFill>
                <a:latin typeface="B Nazanin"/>
              </a:rPr>
              <a:t> مقدار را به ۰٫۹۲۶۰ رساند، اما اختلاف </a:t>
            </a:r>
            <a:r>
              <a:rPr sz="1400" b="0">
                <a:solidFill>
                  <a:srgbClr val="222222"/>
                </a:solidFill>
                <a:latin typeface="Times New Roman"/>
              </a:rPr>
              <a:t>C-B</a:t>
            </a:r>
            <a:r>
              <a:rPr sz="1400" b="0">
                <a:solidFill>
                  <a:srgbClr val="222222"/>
                </a:solidFill>
                <a:latin typeface="B Nazanin"/>
              </a:rPr>
              <a:t> فقط ۰٫۰۰۱۱ بود و بازه‌ی اطمینان آن صفر را دربر گرفت. بنابراین ارزش افزوده‌ی نشانگرها نسبت به تصویر رنگی پشتیبانی نشد.</a:t>
            </a:r>
          </a:p>
          <a:p>
            <a:pPr rtl="1">
              <a:spcAft>
                <a:spcPts val="500"/>
              </a:spcAft>
            </a:pPr>
            <a:r>
              <a:rPr sz="1400" b="0">
                <a:solidFill>
                  <a:srgbClr val="222222"/>
                </a:solidFill>
                <a:latin typeface="B Nazanin"/>
              </a:rPr>
              <a:t>مدل عروقی </a:t>
            </a:r>
            <a:r>
              <a:rPr sz="1400" b="0">
                <a:solidFill>
                  <a:srgbClr val="222222"/>
                </a:solidFill>
                <a:latin typeface="Times New Roman"/>
              </a:rPr>
              <a:t>D</a:t>
            </a:r>
            <a:r>
              <a:rPr sz="1400" b="0">
                <a:solidFill>
                  <a:srgbClr val="222222"/>
                </a:solidFill>
                <a:latin typeface="B Nazanin"/>
              </a:rPr>
              <a:t> به‌تنهایی سطح زیر منحنی ۰٫۸۳۷۲ داشت و نشان داد نقشه‌ی عروق اطلاعات قابل‌توجهی دارد. افزودن بازنمایی عروقی به مدل رنگی در </a:t>
            </a:r>
            <a:r>
              <a:rPr sz="1400" b="0">
                <a:solidFill>
                  <a:srgbClr val="222222"/>
                </a:solidFill>
                <a:latin typeface="Times New Roman"/>
              </a:rPr>
              <a:t>E</a:t>
            </a:r>
            <a:r>
              <a:rPr sz="1400" b="0">
                <a:solidFill>
                  <a:srgbClr val="222222"/>
                </a:solidFill>
                <a:latin typeface="B Nazanin"/>
              </a:rPr>
              <a:t> مقدار را به ۰٫۹۳۲۸ رساند. اختلاف </a:t>
            </a:r>
            <a:r>
              <a:rPr sz="1400" b="0">
                <a:solidFill>
                  <a:srgbClr val="222222"/>
                </a:solidFill>
                <a:latin typeface="Times New Roman"/>
              </a:rPr>
              <a:t>E-B</a:t>
            </a:r>
            <a:r>
              <a:rPr sz="1400" b="0">
                <a:solidFill>
                  <a:srgbClr val="222222"/>
                </a:solidFill>
                <a:latin typeface="B Nazanin"/>
              </a:rPr>
              <a:t> حدود ۰٫۰۰۷۹ بود و بازه‌ی آن کاملاً مثبت قرار گرفت. امتیاز بریر نیز حدود ۰٫۰۲۷۷ کاهش یافت و بازه‌ی آن کاملاً منفی بود. پس شواهد اصلی از بهبود رتبه‌بندی و بریر حمایت می‌کنند، نه از بهبود قطعی تمام معیارها.</a:t>
            </a:r>
          </a:p>
          <a:p>
            <a:pPr rtl="1">
              <a:spcAft>
                <a:spcPts val="500"/>
              </a:spcAft>
            </a:pPr>
            <a:r>
              <a:rPr sz="1400" b="0">
                <a:solidFill>
                  <a:srgbClr val="222222"/>
                </a:solidFill>
                <a:latin typeface="B Nazanin"/>
              </a:rPr>
              <a:t>مدل </a:t>
            </a:r>
            <a:r>
              <a:rPr sz="1400" b="0">
                <a:solidFill>
                  <a:srgbClr val="222222"/>
                </a:solidFill>
                <a:latin typeface="Times New Roman"/>
              </a:rPr>
              <a:t>G</a:t>
            </a:r>
            <a:r>
              <a:rPr sz="1400" b="0">
                <a:solidFill>
                  <a:srgbClr val="222222"/>
                </a:solidFill>
                <a:latin typeface="B Nazanin"/>
              </a:rPr>
              <a:t> با استفاده از هر سه نمایش به سطح زیر منحنی ۰٫۹۳۴۹ رسید و بالاترین برآورد نقطه‌ای را داشت. بااین‌حال اختلاف </a:t>
            </a:r>
            <a:r>
              <a:rPr sz="1400" b="0">
                <a:solidFill>
                  <a:srgbClr val="222222"/>
                </a:solidFill>
                <a:latin typeface="Times New Roman"/>
              </a:rPr>
              <a:t>G-E</a:t>
            </a:r>
            <a:r>
              <a:rPr sz="1400" b="0">
                <a:solidFill>
                  <a:srgbClr val="222222"/>
                </a:solidFill>
                <a:latin typeface="B Nazanin"/>
              </a:rPr>
              <a:t> حدود ۰٫۰۰۲ بود و بازه‌ی اطمینان صفر را قطع کرد. پس نمی‌توان نتیجه گرفت پنج نشانگر بعد از حضور تصویر و نقشه‌ی کامل عروق، بهبود پایدار ایجاد کرده‌اند.</a:t>
            </a:r>
          </a:p>
          <a:p>
            <a:pPr rtl="1">
              <a:spcAft>
                <a:spcPts val="500"/>
              </a:spcAft>
            </a:pPr>
            <a:r>
              <a:rPr sz="1400" b="0">
                <a:solidFill>
                  <a:srgbClr val="222222"/>
                </a:solidFill>
                <a:latin typeface="B Nazanin"/>
              </a:rPr>
              <a:t>مدل </a:t>
            </a:r>
            <a:r>
              <a:rPr sz="1400" b="0">
                <a:solidFill>
                  <a:srgbClr val="222222"/>
                </a:solidFill>
                <a:latin typeface="Times New Roman"/>
              </a:rPr>
              <a:t>A</a:t>
            </a:r>
            <a:r>
              <a:rPr sz="1400" b="0">
                <a:solidFill>
                  <a:srgbClr val="222222"/>
                </a:solidFill>
                <a:latin typeface="B Nazanin"/>
              </a:rPr>
              <a:t> به </a:t>
            </a:r>
            <a:r>
              <a:rPr sz="1400" b="0">
                <a:solidFill>
                  <a:srgbClr val="222222"/>
                </a:solidFill>
                <a:latin typeface="Times New Roman"/>
              </a:rPr>
              <a:t>AUC</a:t>
            </a:r>
            <a:r>
              <a:rPr sz="1400" b="0">
                <a:solidFill>
                  <a:srgbClr val="222222"/>
                </a:solidFill>
                <a:latin typeface="B Nazanin"/>
              </a:rPr>
              <a:t> ماکرو ۰٫۶۵۹۶ رسید. این برآورد نشان می‌دهد پنج نشانگر سیگنال مستقل دارند، اما چون آزمون رسمی از پیش تعریف‌شده برای فاصله از ۰٫۵ گزارش نشده، بهتر است نگوییم برتری آماری بر شانس اثبات شد. مدل </a:t>
            </a:r>
            <a:r>
              <a:rPr sz="1400" b="0">
                <a:solidFill>
                  <a:srgbClr val="222222"/>
                </a:solidFill>
                <a:latin typeface="Times New Roman"/>
              </a:rPr>
              <a:t>B</a:t>
            </a:r>
            <a:r>
              <a:rPr sz="1400" b="0">
                <a:solidFill>
                  <a:srgbClr val="222222"/>
                </a:solidFill>
                <a:latin typeface="B Nazanin"/>
              </a:rPr>
              <a:t> به ۰٫۹۲۴۹ رسید. مدل </a:t>
            </a:r>
            <a:r>
              <a:rPr sz="1400" b="0">
                <a:solidFill>
                  <a:srgbClr val="222222"/>
                </a:solidFill>
                <a:latin typeface="Times New Roman"/>
              </a:rPr>
              <a:t>C</a:t>
            </a:r>
            <a:r>
              <a:rPr sz="1400" b="0">
                <a:solidFill>
                  <a:srgbClr val="222222"/>
                </a:solidFill>
                <a:latin typeface="B Nazanin"/>
              </a:rPr>
              <a:t> مقدار ۰٫۹۲۶۰ داشت؛ اختلاف </a:t>
            </a:r>
            <a:r>
              <a:rPr sz="1400" b="0">
                <a:solidFill>
                  <a:srgbClr val="222222"/>
                </a:solidFill>
                <a:latin typeface="Times New Roman"/>
              </a:rPr>
              <a:t>C-B</a:t>
            </a:r>
            <a:r>
              <a:rPr sz="1400" b="0">
                <a:solidFill>
                  <a:srgbClr val="222222"/>
                </a:solidFill>
                <a:latin typeface="B Nazanin"/>
              </a:rPr>
              <a:t> برابر ۰٫۰۰۱۰۸۵ بود و بازه‌ی آن از منفی ۰٫۰۰۱۶۹۱ تا مثبت ۰٫۰۰۳۸۶۸ امتداد داشت. بنابراین ارزش افزوده‌ی پنج نشانگر بر </a:t>
            </a:r>
            <a:r>
              <a:rPr sz="1400" b="0">
                <a:solidFill>
                  <a:srgbClr val="222222"/>
                </a:solidFill>
                <a:latin typeface="Times New Roman"/>
              </a:rPr>
              <a:t>RGB</a:t>
            </a:r>
            <a:r>
              <a:rPr sz="1400" b="0">
                <a:solidFill>
                  <a:srgbClr val="222222"/>
                </a:solidFill>
                <a:latin typeface="B Nazanin"/>
              </a:rPr>
              <a:t> پشتیبانی نشد.</a:t>
            </a:r>
          </a:p>
          <a:p>
            <a:pPr rtl="1">
              <a:spcAft>
                <a:spcPts val="500"/>
              </a:spcAft>
            </a:pPr>
            <a:r>
              <a:rPr sz="1400" b="0">
                <a:solidFill>
                  <a:srgbClr val="222222"/>
                </a:solidFill>
                <a:latin typeface="Times New Roman"/>
              </a:rPr>
              <a:t>A</a:t>
            </a:r>
            <a:r>
              <a:rPr sz="1400" b="0">
                <a:solidFill>
                  <a:srgbClr val="222222"/>
                </a:solidFill>
                <a:latin typeface="B Nazanin"/>
              </a:rPr>
              <a:t> برابر ۰٫۶۵۹۶ است، پس پنج نشانگر سیگنال دارند. </a:t>
            </a:r>
            <a:r>
              <a:rPr sz="1400" b="0">
                <a:solidFill>
                  <a:srgbClr val="222222"/>
                </a:solidFill>
                <a:latin typeface="Times New Roman"/>
              </a:rPr>
              <a:t>C-B</a:t>
            </a:r>
            <a:r>
              <a:rPr sz="1400" b="0">
                <a:solidFill>
                  <a:srgbClr val="222222"/>
                </a:solidFill>
                <a:latin typeface="B Nazanin"/>
              </a:rPr>
              <a:t> فقط ۰٫۰۰۱۱ است و بازه‌ی اطمینان صفر را قطع می‌کند؛ پس ارزش افزوده‌ی تکرارپذیر نسبت به </a:t>
            </a:r>
            <a:r>
              <a:rPr sz="1400" b="0">
                <a:solidFill>
                  <a:srgbClr val="222222"/>
                </a:solidFill>
                <a:latin typeface="Times New Roman"/>
              </a:rPr>
              <a:t>RGB</a:t>
            </a:r>
            <a:r>
              <a:rPr sz="1400" b="0">
                <a:solidFill>
                  <a:srgbClr val="222222"/>
                </a:solidFill>
                <a:latin typeface="B Nazanin"/>
              </a:rPr>
              <a:t> نشان داده نشد.</a:t>
            </a:r>
          </a:p>
          <a:p>
            <a:pPr rtl="1">
              <a:spcAft>
                <a:spcPts val="500"/>
              </a:spcAft>
            </a:pPr>
            <a:r>
              <a:rPr sz="1400" b="0">
                <a:solidFill>
                  <a:srgbClr val="222222"/>
                </a:solidFill>
                <a:latin typeface="Times New Roman"/>
              </a:rPr>
              <a:t>E-B</a:t>
            </a:r>
            <a:r>
              <a:rPr sz="1400" b="0">
                <a:solidFill>
                  <a:srgbClr val="222222"/>
                </a:solidFill>
                <a:latin typeface="B Nazanin"/>
              </a:rPr>
              <a:t> برابر ۰٫۰۰۷۹ در </a:t>
            </a:r>
            <a:r>
              <a:rPr sz="1400" b="0">
                <a:solidFill>
                  <a:srgbClr val="222222"/>
                </a:solidFill>
                <a:latin typeface="Times New Roman"/>
              </a:rPr>
              <a:t>AUC</a:t>
            </a:r>
            <a:r>
              <a:rPr sz="1400" b="0">
                <a:solidFill>
                  <a:srgbClr val="222222"/>
                </a:solidFill>
                <a:latin typeface="B Nazanin"/>
              </a:rPr>
              <a:t> و منفی ۰٫۰۲۷۷ در بریر است و هر دو بازه صفر را قطع نمی‌کنند. نتیجه را دقیق بیان کن: رتبه‌بندی و بریر بهتر شدند، نه اینکه تمام معیارها قطعاً بهتر شده باشند.</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Times New Roman"/>
              </a:rPr>
              <a:t>G</a:t>
            </a:r>
            <a:r>
              <a:rPr sz="1400" b="0">
                <a:solidFill>
                  <a:srgbClr val="222222"/>
                </a:solidFill>
                <a:latin typeface="B Nazanin"/>
              </a:rPr>
              <a:t> بالاترین برآورد نقطه‌ای را دارد، اما اختلاف </a:t>
            </a:r>
            <a:r>
              <a:rPr sz="1400" b="0">
                <a:solidFill>
                  <a:srgbClr val="222222"/>
                </a:solidFill>
                <a:latin typeface="Times New Roman"/>
              </a:rPr>
              <a:t>G-E</a:t>
            </a:r>
            <a:r>
              <a:rPr sz="1400" b="0">
                <a:solidFill>
                  <a:srgbClr val="222222"/>
                </a:solidFill>
                <a:latin typeface="B Nazanin"/>
              </a:rPr>
              <a:t> حدود ۰٫۰۰۲۰ است و بازه‌ی اطمینان آن صفر را قطع نمی‌کند؛ اصل حاکم این است که بهترین عدد مساوی بهترین شاهد نیست.</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Times New Roman"/>
              </a:rPr>
              <a:t>G</a:t>
            </a:r>
            <a:r>
              <a:rPr sz="1400" b="0">
                <a:solidFill>
                  <a:srgbClr val="222222"/>
                </a:solidFill>
                <a:latin typeface="B Nazanin"/>
              </a:rPr>
              <a:t> با ۰٫۹۳۴۹ بیشترین برآورد نقطه‌ای را دارد؛ ولی </a:t>
            </a:r>
            <a:r>
              <a:rPr sz="1400" b="0">
                <a:solidFill>
                  <a:srgbClr val="222222"/>
                </a:solidFill>
                <a:latin typeface="Times New Roman"/>
              </a:rPr>
              <a:t>G-E</a:t>
            </a:r>
            <a:r>
              <a:rPr sz="1400" b="0">
                <a:solidFill>
                  <a:srgbClr val="222222"/>
                </a:solidFill>
                <a:latin typeface="B Nazanin"/>
              </a:rPr>
              <a:t> از نظر آماری پشتیبانی نشده است. بنابراین </a:t>
            </a:r>
            <a:r>
              <a:rPr sz="1400" b="0">
                <a:solidFill>
                  <a:srgbClr val="222222"/>
                </a:solidFill>
                <a:latin typeface="Times New Roman"/>
              </a:rPr>
              <a:t>G</a:t>
            </a:r>
            <a:r>
              <a:rPr sz="1400" b="0">
                <a:solidFill>
                  <a:srgbClr val="222222"/>
                </a:solidFill>
                <a:latin typeface="B Nazanin"/>
              </a:rPr>
              <a:t> را برنده‌ی قطعی معرفی نکن.</a:t>
            </a:r>
          </a:p>
          <a:p>
            <a:pPr rtl="1">
              <a:spcAft>
                <a:spcPts val="500"/>
              </a:spcAft>
            </a:pPr>
            <a:r>
              <a:rPr sz="1400" b="0">
                <a:solidFill>
                  <a:srgbClr val="222222"/>
                </a:solidFill>
                <a:latin typeface="B Nazanin"/>
              </a:rPr>
              <a:t>مدل </a:t>
            </a:r>
            <a:r>
              <a:rPr sz="1400" b="0">
                <a:solidFill>
                  <a:srgbClr val="222222"/>
                </a:solidFill>
                <a:latin typeface="Times New Roman"/>
              </a:rPr>
              <a:t>G</a:t>
            </a:r>
            <a:r>
              <a:rPr sz="1400" b="0">
                <a:solidFill>
                  <a:srgbClr val="222222"/>
                </a:solidFill>
                <a:latin typeface="B Nazanin"/>
              </a:rPr>
              <a:t> با هر سه نمایش </a:t>
            </a:r>
            <a:r>
              <a:rPr sz="1400" b="0">
                <a:solidFill>
                  <a:srgbClr val="222222"/>
                </a:solidFill>
                <a:latin typeface="Times New Roman"/>
              </a:rPr>
              <a:t>AUC</a:t>
            </a:r>
            <a:r>
              <a:rPr sz="1400" b="0">
                <a:solidFill>
                  <a:srgbClr val="222222"/>
                </a:solidFill>
                <a:latin typeface="B Nazanin"/>
              </a:rPr>
              <a:t> برابر ۰٫۹۳۴۹ و بیشترین برآورد نقطه‌ای را داشت. بااین‌حال اختلاف </a:t>
            </a:r>
            <a:r>
              <a:rPr sz="1400" b="0">
                <a:solidFill>
                  <a:srgbClr val="222222"/>
                </a:solidFill>
                <a:latin typeface="Times New Roman"/>
              </a:rPr>
              <a:t>G-E</a:t>
            </a:r>
            <a:r>
              <a:rPr sz="1400" b="0">
                <a:solidFill>
                  <a:srgbClr val="222222"/>
                </a:solidFill>
                <a:latin typeface="B Nazanin"/>
              </a:rPr>
              <a:t> فقط ۰٫۰۰۲۰۳۹ بود و بازه‌ی آن صفر را قطع کرد. بنابراین </a:t>
            </a:r>
            <a:r>
              <a:rPr sz="1400" b="0">
                <a:solidFill>
                  <a:srgbClr val="222222"/>
                </a:solidFill>
                <a:latin typeface="Times New Roman"/>
              </a:rPr>
              <a:t>G</a:t>
            </a:r>
            <a:r>
              <a:rPr sz="1400" b="0">
                <a:solidFill>
                  <a:srgbClr val="222222"/>
                </a:solidFill>
                <a:latin typeface="B Nazanin"/>
              </a:rPr>
              <a:t> را نمی‌توان برنده‌ی قطعی نامید و شواهدی برای ارزش افزوده‌ی پایدار پنج نشانگر پس از حضور </a:t>
            </a:r>
            <a:r>
              <a:rPr sz="1400" b="0">
                <a:solidFill>
                  <a:srgbClr val="222222"/>
                </a:solidFill>
                <a:latin typeface="Times New Roman"/>
              </a:rPr>
              <a:t>RGB</a:t>
            </a:r>
            <a:r>
              <a:rPr sz="1400" b="0">
                <a:solidFill>
                  <a:srgbClr val="222222"/>
                </a:solidFill>
                <a:latin typeface="B Nazanin"/>
              </a:rPr>
              <a:t> و عروق وجود نداشت. این مثال تفاوت میان بالاترین عدد و قوی‌ترین شاهد را نشان می‌دهد.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چرا با وجود بالاتر بودن </a:t>
            </a:r>
            <a:r>
              <a:rPr sz="1400" b="0">
                <a:solidFill>
                  <a:srgbClr val="222222"/>
                </a:solidFill>
                <a:latin typeface="Times New Roman"/>
              </a:rPr>
              <a:t>G</a:t>
            </a:r>
            <a:r>
              <a:rPr sz="1400" b="0">
                <a:solidFill>
                  <a:srgbClr val="222222"/>
                </a:solidFill>
                <a:latin typeface="B Nazanin"/>
              </a:rPr>
              <a:t> نمی‌گویید بهترین مدل است؟  پاسخ: می‌توان گفت </a:t>
            </a:r>
            <a:r>
              <a:rPr sz="1400" b="0">
                <a:solidFill>
                  <a:srgbClr val="222222"/>
                </a:solidFill>
                <a:latin typeface="Times New Roman"/>
              </a:rPr>
              <a:t>G</a:t>
            </a:r>
            <a:r>
              <a:rPr sz="1400" b="0">
                <a:solidFill>
                  <a:srgbClr val="222222"/>
                </a:solidFill>
                <a:latin typeface="B Nazanin"/>
              </a:rPr>
              <a:t> بالاترین برآورد نقطه‌ای را دارد، اما برتری آن نسبت به </a:t>
            </a:r>
            <a:r>
              <a:rPr sz="1400" b="0">
                <a:solidFill>
                  <a:srgbClr val="222222"/>
                </a:solidFill>
                <a:latin typeface="Times New Roman"/>
              </a:rPr>
              <a:t>E</a:t>
            </a:r>
            <a:r>
              <a:rPr sz="1400" b="0">
                <a:solidFill>
                  <a:srgbClr val="222222"/>
                </a:solidFill>
                <a:latin typeface="B Nazanin"/>
              </a:rPr>
              <a:t> پشتیبانی آماری نشد. عبارت «بهترین مدل قطعی» از شواهد فراتر می‌رود.</a:t>
            </a:r>
          </a:p>
          <a:p>
            <a:pPr rtl="1">
              <a:spcAft>
                <a:spcPts val="500"/>
              </a:spcAft>
            </a:pPr>
            <a:r>
              <a:rPr sz="1400" b="0">
                <a:solidFill>
                  <a:srgbClr val="222222"/>
                </a:solidFill>
                <a:latin typeface="B Nazanin"/>
              </a:rPr>
              <a:t>پرسش: آیا افزایش ۰٫۰۰۸ مهم است؟  پاسخ: از نظر آماری پشتیبانی شده است، ولی اهمیت بالینی از سطح زیر منحنی به‌تنهایی مشخص نمی‌شود. برای قضاوت بالینی به حساسیت در نقطه‌ی کار، هزینه‌ی خطا، شیوع، واسنجی و مطالعه‌ی اثر بر روند درمان نیاز داریم.</a:t>
            </a:r>
          </a:p>
          <a:p>
            <a:pPr rtl="1">
              <a:spcAft>
                <a:spcPts val="500"/>
              </a:spcAft>
            </a:pPr>
            <a:r>
              <a:rPr sz="1400" b="0">
                <a:solidFill>
                  <a:srgbClr val="222222"/>
                </a:solidFill>
                <a:latin typeface="B Nazanin"/>
              </a:rPr>
              <a:t>پرسش: ۱۱. چرا مدل </a:t>
            </a:r>
            <a:r>
              <a:rPr sz="1400" b="0">
                <a:solidFill>
                  <a:srgbClr val="222222"/>
                </a:solidFill>
                <a:latin typeface="Times New Roman"/>
              </a:rPr>
              <a:t>G</a:t>
            </a:r>
            <a:r>
              <a:rPr sz="1400" b="0">
                <a:solidFill>
                  <a:srgbClr val="222222"/>
                </a:solidFill>
                <a:latin typeface="B Nazanin"/>
              </a:rPr>
              <a:t> را بهترین مدل نمی‌نامید؟  پاسخ: </a:t>
            </a:r>
            <a:r>
              <a:rPr sz="1400" b="0">
                <a:solidFill>
                  <a:srgbClr val="222222"/>
                </a:solidFill>
                <a:latin typeface="Times New Roman"/>
              </a:rPr>
              <a:t>G</a:t>
            </a:r>
            <a:r>
              <a:rPr sz="1400" b="0">
                <a:solidFill>
                  <a:srgbClr val="222222"/>
                </a:solidFill>
                <a:latin typeface="B Nazanin"/>
              </a:rPr>
              <a:t> بالاترین برآورد نقطه‌ای ۰٫۹۳۴۹ را دارد، اما اختلاف آن با </a:t>
            </a:r>
            <a:r>
              <a:rPr sz="1400" b="0">
                <a:solidFill>
                  <a:srgbClr val="222222"/>
                </a:solidFill>
                <a:latin typeface="Times New Roman"/>
              </a:rPr>
              <a:t>E</a:t>
            </a:r>
            <a:r>
              <a:rPr sz="1400" b="0">
                <a:solidFill>
                  <a:srgbClr val="222222"/>
                </a:solidFill>
                <a:latin typeface="B Nazanin"/>
              </a:rPr>
              <a:t> حدود ۰٫۰۰۲ است و بازه‌ی اطمینان صفر را قطع می‌کند. بنابراین برتری قطعی آن پشتیبانی نشده است.</a:t>
            </a:r>
          </a:p>
          <a:p>
            <a:pPr rtl="1">
              <a:spcAft>
                <a:spcPts val="500"/>
              </a:spcAft>
            </a:pPr>
            <a:r>
              <a:rPr sz="1400" b="0">
                <a:solidFill>
                  <a:srgbClr val="222222"/>
                </a:solidFill>
                <a:latin typeface="B Nazanin"/>
              </a:rPr>
              <a:t>پرسش: ۱۵. آیا بهبود ۰٫۰۰۸ ارزشمند است؟  پاسخ: از نظر آماری پشتیبانی شده، ولی ارزش بالینی از </a:t>
            </a:r>
            <a:r>
              <a:rPr sz="1400" b="0">
                <a:solidFill>
                  <a:srgbClr val="222222"/>
                </a:solidFill>
                <a:latin typeface="Times New Roman"/>
              </a:rPr>
              <a:t>AUC</a:t>
            </a:r>
            <a:r>
              <a:rPr sz="1400" b="0">
                <a:solidFill>
                  <a:srgbClr val="222222"/>
                </a:solidFill>
                <a:latin typeface="B Nazanin"/>
              </a:rPr>
              <a:t> به‌تنهایی مشخص نیست. باید حساسیت در نقطه‌ی کار، هزینه‌ی خطا، شیوع، واسنجی و اثر بر روند بالینی بررسی شود.</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نتیجه‌ی مرکزی: </a:t>
            </a:r>
            <a:r>
              <a:rPr sz="1400" b="0">
                <a:solidFill>
                  <a:srgbClr val="222222"/>
                </a:solidFill>
                <a:latin typeface="Times New Roman"/>
              </a:rPr>
              <a:t>C-B</a:t>
            </a:r>
            <a:r>
              <a:rPr sz="1400" b="0">
                <a:solidFill>
                  <a:srgbClr val="222222"/>
                </a:solidFill>
                <a:latin typeface="B Nazanin"/>
              </a:rPr>
              <a:t> برابر ۰٫۰۰۱۱ با بازه‌ی شامل صفر (بدون شاهد)، و </a:t>
            </a:r>
            <a:r>
              <a:rPr sz="1400" b="0">
                <a:solidFill>
                  <a:srgbClr val="222222"/>
                </a:solidFill>
                <a:latin typeface="Times New Roman"/>
              </a:rPr>
              <a:t>E-B</a:t>
            </a:r>
            <a:r>
              <a:rPr sz="1400" b="0">
                <a:solidFill>
                  <a:srgbClr val="222222"/>
                </a:solidFill>
                <a:latin typeface="B Nazanin"/>
              </a:rPr>
              <a:t> برابر ۰٫۰۰۷۹ با بازه‌ی کاملاً مثبت در </a:t>
            </a:r>
            <a:r>
              <a:rPr sz="1400" b="0">
                <a:solidFill>
                  <a:srgbClr val="222222"/>
                </a:solidFill>
                <a:latin typeface="Times New Roman"/>
              </a:rPr>
              <a:t>AUC</a:t>
            </a:r>
            <a:r>
              <a:rPr sz="1400" b="0">
                <a:solidFill>
                  <a:srgbClr val="222222"/>
                </a:solidFill>
                <a:latin typeface="B Nazanin"/>
              </a:rPr>
              <a:t> و ۰٫۰۲۷۷ کاهش </a:t>
            </a:r>
            <a:r>
              <a:rPr sz="1400" b="0">
                <a:solidFill>
                  <a:srgbClr val="222222"/>
                </a:solidFill>
                <a:latin typeface="Times New Roman"/>
              </a:rPr>
              <a:t>Brier</a:t>
            </a:r>
            <a:r>
              <a:rPr sz="1400" b="0">
                <a:solidFill>
                  <a:srgbClr val="222222"/>
                </a:solidFill>
                <a:latin typeface="B Nazanin"/>
              </a:rPr>
              <a:t> با بازه‌ی کاملاً منفی (شاهد مثبت). این دو خط را نباید با هم جمع کرد.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مدل‌های </a:t>
            </a:r>
            <a:r>
              <a:rPr sz="1400" b="0">
                <a:solidFill>
                  <a:srgbClr val="222222"/>
                </a:solidFill>
                <a:latin typeface="Times New Roman"/>
              </a:rPr>
              <a:t>A</a:t>
            </a:r>
            <a:r>
              <a:rPr sz="1400" b="0">
                <a:solidFill>
                  <a:srgbClr val="222222"/>
                </a:solidFill>
                <a:latin typeface="B Nazanin"/>
              </a:rPr>
              <a:t>، </a:t>
            </a:r>
            <a:r>
              <a:rPr sz="1400" b="0">
                <a:solidFill>
                  <a:srgbClr val="222222"/>
                </a:solidFill>
                <a:latin typeface="Times New Roman"/>
              </a:rPr>
              <a:t>C</a:t>
            </a:r>
            <a:r>
              <a:rPr sz="1400" b="0">
                <a:solidFill>
                  <a:srgbClr val="222222"/>
                </a:solidFill>
                <a:latin typeface="B Nazanin"/>
              </a:rPr>
              <a:t> و </a:t>
            </a:r>
            <a:r>
              <a:rPr sz="1400" b="0">
                <a:solidFill>
                  <a:srgbClr val="222222"/>
                </a:solidFill>
                <a:latin typeface="Times New Roman"/>
              </a:rPr>
              <a:t>G</a:t>
            </a:r>
            <a:r>
              <a:rPr sz="1400" b="0">
                <a:solidFill>
                  <a:srgbClr val="222222"/>
                </a:solidFill>
                <a:latin typeface="B Nazanin"/>
              </a:rPr>
              <a:t> نقش پنج نشانگر را می‌سنجند و </a:t>
            </a:r>
            <a:r>
              <a:rPr sz="1400" b="0">
                <a:solidFill>
                  <a:srgbClr val="222222"/>
                </a:solidFill>
                <a:latin typeface="Times New Roman"/>
              </a:rPr>
              <a:t>D</a:t>
            </a:r>
            <a:r>
              <a:rPr sz="1400" b="0">
                <a:solidFill>
                  <a:srgbClr val="222222"/>
                </a:solidFill>
                <a:latin typeface="B Nazanin"/>
              </a:rPr>
              <a:t> و </a:t>
            </a:r>
            <a:r>
              <a:rPr sz="1400" b="0">
                <a:solidFill>
                  <a:srgbClr val="222222"/>
                </a:solidFill>
                <a:latin typeface="Times New Roman"/>
              </a:rPr>
              <a:t>E</a:t>
            </a:r>
            <a:r>
              <a:rPr sz="1400" b="0">
                <a:solidFill>
                  <a:srgbClr val="222222"/>
                </a:solidFill>
                <a:latin typeface="B Nazanin"/>
              </a:rPr>
              <a:t> نقش نقشه‌ی کامل عروق را. این طراحی نشان داد نتیجه‌ی «پنج عدد ارزش افزوده ندارند» با نتیجه‌ی «ساختار عروقی مهم نیست» یکسان نیست.</a:t>
            </a:r>
          </a:p>
          <a:p>
            <a:pPr rtl="1">
              <a:spcAft>
                <a:spcPts val="500"/>
              </a:spcAft>
            </a:pPr>
            <a:r>
              <a:rPr sz="1400" b="0">
                <a:solidFill>
                  <a:srgbClr val="222222"/>
                </a:solidFill>
                <a:latin typeface="B Nazanin"/>
              </a:rPr>
              <a:t>اختلاف </a:t>
            </a:r>
            <a:r>
              <a:rPr sz="1400" b="0">
                <a:solidFill>
                  <a:srgbClr val="222222"/>
                </a:solidFill>
                <a:latin typeface="Times New Roman"/>
              </a:rPr>
              <a:t>E-B</a:t>
            </a:r>
            <a:r>
              <a:rPr sz="1400" b="0">
                <a:solidFill>
                  <a:srgbClr val="222222"/>
                </a:solidFill>
                <a:latin typeface="B Nazanin"/>
              </a:rPr>
              <a:t> برای سطح زیر منحنی کاملاً مثبت و برای بریر کاملاً منفی بود. بنابراین ادعا بر رتبه‌بندی ساده‌ی دو عدد متکی نیست.</a:t>
            </a:r>
          </a:p>
          <a:p>
            <a:pPr rtl="1">
              <a:spcAft>
                <a:spcPts val="500"/>
              </a:spcAft>
            </a:pPr>
            <a:r>
              <a:rPr sz="1400" b="0">
                <a:solidFill>
                  <a:srgbClr val="222222"/>
                </a:solidFill>
                <a:latin typeface="B Nazanin"/>
              </a:rPr>
              <a:t>این طراحی اهمیت زیادی دارد، زیرا عملکرد مستقل و ارزش افزوده یکسان نیستند. ممکن است </a:t>
            </a:r>
            <a:r>
              <a:rPr sz="1400" b="0">
                <a:solidFill>
                  <a:srgbClr val="222222"/>
                </a:solidFill>
                <a:latin typeface="Times New Roman"/>
              </a:rPr>
              <a:t>A</a:t>
            </a:r>
            <a:r>
              <a:rPr sz="1400" b="0">
                <a:solidFill>
                  <a:srgbClr val="222222"/>
                </a:solidFill>
                <a:latin typeface="B Nazanin"/>
              </a:rPr>
              <a:t> از شانس بهتر به نظر برسد، ولی اگر </a:t>
            </a:r>
            <a:r>
              <a:rPr sz="1400" b="0">
                <a:solidFill>
                  <a:srgbClr val="222222"/>
                </a:solidFill>
                <a:latin typeface="Times New Roman"/>
              </a:rPr>
              <a:t>B</a:t>
            </a:r>
            <a:r>
              <a:rPr sz="1400" b="0">
                <a:solidFill>
                  <a:srgbClr val="222222"/>
                </a:solidFill>
                <a:latin typeface="B Nazanin"/>
              </a:rPr>
              <a:t> همان اطلاعات را قبلاً از تصویر استخراج کرده باشد، </a:t>
            </a:r>
            <a:r>
              <a:rPr sz="1400" b="0">
                <a:solidFill>
                  <a:srgbClr val="222222"/>
                </a:solidFill>
                <a:latin typeface="Times New Roman"/>
              </a:rPr>
              <a:t>C</a:t>
            </a:r>
            <a:r>
              <a:rPr sz="1400" b="0">
                <a:solidFill>
                  <a:srgbClr val="222222"/>
                </a:solidFill>
                <a:latin typeface="B Nazanin"/>
              </a:rPr>
              <a:t> بهتر از </a:t>
            </a:r>
            <a:r>
              <a:rPr sz="1400" b="0">
                <a:solidFill>
                  <a:srgbClr val="222222"/>
                </a:solidFill>
                <a:latin typeface="Times New Roman"/>
              </a:rPr>
              <a:t>B</a:t>
            </a:r>
            <a:r>
              <a:rPr sz="1400" b="0">
                <a:solidFill>
                  <a:srgbClr val="222222"/>
                </a:solidFill>
                <a:latin typeface="B Nazanin"/>
              </a:rPr>
              <a:t> نمی‌شود. برای نسبت‌دادن اختلاف به بلوک اطلاعاتی، جمعیت، تقسیم، طبقه‌بند و ارزیابی تا جای ممکن ثابت ماندند و فقط ورودی مورد سؤال تغییر کرد.</a:t>
            </a:r>
          </a:p>
          <a:p>
            <a:pPr rtl="1">
              <a:spcAft>
                <a:spcPts val="500"/>
              </a:spcAft>
            </a:pPr>
            <a:r>
              <a:rPr sz="1400" b="0">
                <a:solidFill>
                  <a:srgbClr val="222222"/>
                </a:solidFill>
                <a:latin typeface="B Nazanin"/>
              </a:rPr>
              <a:t>مدل </a:t>
            </a:r>
            <a:r>
              <a:rPr sz="1400" b="0">
                <a:solidFill>
                  <a:srgbClr val="222222"/>
                </a:solidFill>
                <a:latin typeface="Times New Roman"/>
              </a:rPr>
              <a:t>D</a:t>
            </a:r>
            <a:r>
              <a:rPr sz="1400" b="0">
                <a:solidFill>
                  <a:srgbClr val="222222"/>
                </a:solidFill>
                <a:latin typeface="B Nazanin"/>
              </a:rPr>
              <a:t> با عروق تنها </a:t>
            </a:r>
            <a:r>
              <a:rPr sz="1400" b="0">
                <a:solidFill>
                  <a:srgbClr val="222222"/>
                </a:solidFill>
                <a:latin typeface="Times New Roman"/>
              </a:rPr>
              <a:t>AUC</a:t>
            </a:r>
            <a:r>
              <a:rPr sz="1400" b="0">
                <a:solidFill>
                  <a:srgbClr val="222222"/>
                </a:solidFill>
                <a:latin typeface="B Nazanin"/>
              </a:rPr>
              <a:t> برابر ۰٫۸۳۷۲ داشت. این مقدار از </a:t>
            </a:r>
            <a:r>
              <a:rPr sz="1400" b="0">
                <a:solidFill>
                  <a:srgbClr val="222222"/>
                </a:solidFill>
                <a:latin typeface="Times New Roman"/>
              </a:rPr>
              <a:t>B</a:t>
            </a:r>
            <a:r>
              <a:rPr sz="1400" b="0">
                <a:solidFill>
                  <a:srgbClr val="222222"/>
                </a:solidFill>
                <a:latin typeface="B Nazanin"/>
              </a:rPr>
              <a:t> کمتر بود، اما سؤال اصلی مستقل‌بودن آن نبود. مدل </a:t>
            </a:r>
            <a:r>
              <a:rPr sz="1400" b="0">
                <a:solidFill>
                  <a:srgbClr val="222222"/>
                </a:solidFill>
                <a:latin typeface="Times New Roman"/>
              </a:rPr>
              <a:t>E</a:t>
            </a:r>
            <a:r>
              <a:rPr sz="1400" b="0">
                <a:solidFill>
                  <a:srgbClr val="222222"/>
                </a:solidFill>
                <a:latin typeface="B Nazanin"/>
              </a:rPr>
              <a:t> با </a:t>
            </a:r>
            <a:r>
              <a:rPr sz="1400" b="0">
                <a:solidFill>
                  <a:srgbClr val="222222"/>
                </a:solidFill>
                <a:latin typeface="Times New Roman"/>
              </a:rPr>
              <a:t>RGB</a:t>
            </a:r>
            <a:r>
              <a:rPr sz="1400" b="0">
                <a:solidFill>
                  <a:srgbClr val="222222"/>
                </a:solidFill>
                <a:latin typeface="B Nazanin"/>
              </a:rPr>
              <a:t> و عروق به ۰٫۹۳۲۸ رسید. اختلاف </a:t>
            </a:r>
            <a:r>
              <a:rPr sz="1400" b="0">
                <a:solidFill>
                  <a:srgbClr val="222222"/>
                </a:solidFill>
                <a:latin typeface="Times New Roman"/>
              </a:rPr>
              <a:t>E-B</a:t>
            </a:r>
            <a:r>
              <a:rPr sz="1400" b="0">
                <a:solidFill>
                  <a:srgbClr val="222222"/>
                </a:solidFill>
                <a:latin typeface="B Nazanin"/>
              </a:rPr>
              <a:t> برابر ۰٫۰۰۷۹۳۸ با بازه‌ی کاملاً مثبت و </a:t>
            </a:r>
            <a:r>
              <a:rPr sz="1400" b="0">
                <a:solidFill>
                  <a:srgbClr val="222222"/>
                </a:solidFill>
                <a:latin typeface="Times New Roman"/>
              </a:rPr>
              <a:t>p</a:t>
            </a:r>
            <a:r>
              <a:rPr sz="1400" b="0">
                <a:solidFill>
                  <a:srgbClr val="222222"/>
                </a:solidFill>
                <a:latin typeface="B Nazanin"/>
              </a:rPr>
              <a:t> برابر ۰٫۰۰۳۱ بود. بریر نیز ۰٫۰۲۷۶۹۳ کاهش یافت و بازه‌ی اختلاف کاملاً منفی بود. در مقابل، بازه‌های صحت متوازن، </a:t>
            </a:r>
            <a:r>
              <a:rPr sz="1400" b="0">
                <a:solidFill>
                  <a:srgbClr val="222222"/>
                </a:solidFill>
                <a:latin typeface="Times New Roman"/>
              </a:rPr>
              <a:t>F1</a:t>
            </a:r>
            <a:r>
              <a:rPr sz="1400" b="0">
                <a:solidFill>
                  <a:srgbClr val="222222"/>
                </a:solidFill>
                <a:latin typeface="B Nazanin"/>
              </a:rPr>
              <a:t> و </a:t>
            </a:r>
            <a:r>
              <a:rPr sz="1400" b="0">
                <a:solidFill>
                  <a:srgbClr val="222222"/>
                </a:solidFill>
                <a:latin typeface="Times New Roman"/>
              </a:rPr>
              <a:t>ECE</a:t>
            </a:r>
            <a:r>
              <a:rPr sz="1400" b="0">
                <a:solidFill>
                  <a:srgbClr val="222222"/>
                </a:solidFill>
                <a:latin typeface="B Nazanin"/>
              </a:rPr>
              <a:t> صفر را قطع کردند. پس ادعای دقیق این است که افزودن ساختار فضایی عروق، </a:t>
            </a:r>
            <a:r>
              <a:rPr sz="1400" b="0">
                <a:solidFill>
                  <a:srgbClr val="222222"/>
                </a:solidFill>
                <a:latin typeface="Times New Roman"/>
              </a:rPr>
              <a:t>AUC</a:t>
            </a:r>
            <a:r>
              <a:rPr sz="1400" b="0">
                <a:solidFill>
                  <a:srgbClr val="222222"/>
                </a:solidFill>
                <a:latin typeface="B Nazanin"/>
              </a:rPr>
              <a:t> و بریر را بهتر کرد؛ نه اینکه همه‌ی معیارها قطعاً بهتر شدند.</a:t>
            </a:r>
          </a:p>
          <a:p>
            <a:pPr rtl="1">
              <a:spcAft>
                <a:spcPts val="500"/>
              </a:spcAft>
            </a:pPr>
            <a:r>
              <a:rPr sz="1400" b="0">
                <a:solidFill>
                  <a:srgbClr val="222222"/>
                </a:solidFill>
                <a:latin typeface="B Nazanin"/>
              </a:rPr>
              <a:t>بنابراین نتیجه‌ی نهایی این نیست که نشانگرهای عروقی بی‌ارزش‌اند. پنج نشانگر به‌تنهایی اطلاعات بیماری دارند، ولی پس از حضور بازنمایی‌های غنی‌تر، اطلاعات افزایشی تکرارپذیری نشان ندادند. در مقابل، حفظ ساختار کامل فضایی عروق اطلاعات مکمل قابل اندازه‌گیری فراهم کرد. این نتیجه هنوز به معنای آمادگی بالینی نیست و به اعتبارسنجی خارجی، سنجش مستقیم کیفیت ماسک و ارزیابی آینده‌نگر نیاز دارد.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۱۲. مهم‌ترین نتیجه‌ی آماری چیست؟  پاسخ: مقایسه‌ی </a:t>
            </a:r>
            <a:r>
              <a:rPr sz="1400" b="0">
                <a:solidFill>
                  <a:srgbClr val="222222"/>
                </a:solidFill>
                <a:latin typeface="Times New Roman"/>
              </a:rPr>
              <a:t>E-B</a:t>
            </a:r>
            <a:r>
              <a:rPr sz="1400" b="0">
                <a:solidFill>
                  <a:srgbClr val="222222"/>
                </a:solidFill>
                <a:latin typeface="B Nazanin"/>
              </a:rPr>
              <a:t>: افزایش سطح زیر منحنی ۰٫۰۰۷۹ با بازه‌ی کاملاً مثبت و کاهش بریر ۰٫۰۲۷۷ با بازه‌ی کاملاً منفی. این دو نتیجه مکمل‌بودن بازنمایی فضایی عروق را پشتیبانی می‌کنند.</a:t>
            </a:r>
          </a:p>
          <a:p>
            <a:pPr rtl="1">
              <a:spcAft>
                <a:spcPts val="500"/>
              </a:spcAft>
            </a:pPr>
            <a:r>
              <a:rPr sz="1400" b="0">
                <a:solidFill>
                  <a:srgbClr val="222222"/>
                </a:solidFill>
                <a:latin typeface="B Nazanin"/>
              </a:rPr>
              <a:t>پرسش: ۱۴. چرا عروق فضایی کمک کردند ولی پنج عدد نه؟  پاسخ: نقشه‌ی کامل محل، شاخه‌بندی، ناهمسانی و الگوهای چندمقیاسی را نگه می‌دارد. پنج عدد خلاصه‌های سراسری‌اند و ممکن است دو تصویر با توزیع مکانی متفاوت را مشابه نمایش دهند.</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پایداری معماری: افزودن عروق در معماری تصویری متفاوت هم سود داشت؛ بنابراین نتیجه به یک استخراج‌کننده‌ی خاص گره نخورده است و برتری معماری هم ادعا نمی‌شود.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برای بررسی پایداری نتیجه، یک معماری رنگی دو‌ستون‌فقرات الهام‌گرفته از </a:t>
            </a:r>
            <a:r>
              <a:rPr sz="1400" b="0">
                <a:solidFill>
                  <a:srgbClr val="222222"/>
                </a:solidFill>
                <a:latin typeface="Times New Roman"/>
              </a:rPr>
              <a:t>ROPDeepX</a:t>
            </a:r>
            <a:r>
              <a:rPr sz="1400" b="0">
                <a:solidFill>
                  <a:srgbClr val="222222"/>
                </a:solidFill>
                <a:latin typeface="B Nazanin"/>
              </a:rPr>
              <a:t> نیز ساخته شد. این معماری در داده و پروتکل حاضر از خط پایه‌ی رنگی بهتر نشد؛ اما افزودن بازنمایی عروق به همان معماری بهبود ایجاد کرد. بنابراین دستاورد این آزمایش معرفی معماری برتر نبود، بلکه نشان‌دادن تکرار مکمل‌بودن عروق در یک استخراج‌کننده‌ی رنگی متفاوت بود.</a:t>
            </a:r>
          </a:p>
          <a:p>
            <a:pPr rtl="1">
              <a:spcAft>
                <a:spcPts val="500"/>
              </a:spcAft>
            </a:pPr>
            <a:r>
              <a:rPr sz="1400" b="0">
                <a:solidFill>
                  <a:srgbClr val="222222"/>
                </a:solidFill>
                <a:latin typeface="B Nazanin"/>
              </a:rPr>
              <a:t>افزودن عروق در معماری دو‌ستون‌فقرات نیز سود داشت. پس نتیجه صرفاً به خط پایه‌ی </a:t>
            </a:r>
            <a:r>
              <a:rPr sz="1400" b="0">
                <a:solidFill>
                  <a:srgbClr val="222222"/>
                </a:solidFill>
                <a:latin typeface="Times New Roman"/>
              </a:rPr>
              <a:t>B</a:t>
            </a:r>
            <a:r>
              <a:rPr sz="1400" b="0">
                <a:solidFill>
                  <a:srgbClr val="222222"/>
                </a:solidFill>
                <a:latin typeface="B Nazanin"/>
              </a:rPr>
              <a:t> وابسته نبود.</a:t>
            </a:r>
          </a:p>
          <a:p>
            <a:pPr rtl="1">
              <a:spcAft>
                <a:spcPts val="500"/>
              </a:spcAft>
            </a:pPr>
            <a:r>
              <a:rPr sz="1400" b="0">
                <a:solidFill>
                  <a:srgbClr val="222222"/>
                </a:solidFill>
                <a:latin typeface="B Nazanin"/>
              </a:rPr>
              <a:t>پایداری معماری با یک بازنمایی </a:t>
            </a:r>
            <a:r>
              <a:rPr sz="1400" b="0">
                <a:solidFill>
                  <a:srgbClr val="222222"/>
                </a:solidFill>
                <a:latin typeface="Times New Roman"/>
              </a:rPr>
              <a:t>RGB</a:t>
            </a:r>
            <a:r>
              <a:rPr sz="1400" b="0">
                <a:solidFill>
                  <a:srgbClr val="222222"/>
                </a:solidFill>
                <a:latin typeface="B Nazanin"/>
              </a:rPr>
              <a:t> جایگزین نیز سنجیده شد. </a:t>
            </a:r>
            <a:r>
              <a:rPr sz="1400" b="0">
                <a:solidFill>
                  <a:srgbClr val="222222"/>
                </a:solidFill>
                <a:latin typeface="Times New Roman"/>
              </a:rPr>
              <a:t>M0</a:t>
            </a:r>
            <a:r>
              <a:rPr sz="1400" b="0">
                <a:solidFill>
                  <a:srgbClr val="222222"/>
                </a:solidFill>
                <a:latin typeface="B Nazanin"/>
              </a:rPr>
              <a:t> با </a:t>
            </a:r>
            <a:r>
              <a:rPr sz="1400" b="0">
                <a:solidFill>
                  <a:srgbClr val="222222"/>
                </a:solidFill>
                <a:latin typeface="Times New Roman"/>
              </a:rPr>
              <a:t>AUC</a:t>
            </a:r>
            <a:r>
              <a:rPr sz="1400" b="0">
                <a:solidFill>
                  <a:srgbClr val="222222"/>
                </a:solidFill>
                <a:latin typeface="B Nazanin"/>
              </a:rPr>
              <a:t> برابر ۰٫۹۰۶۰ از </a:t>
            </a:r>
            <a:r>
              <a:rPr sz="1400" b="0">
                <a:solidFill>
                  <a:srgbClr val="222222"/>
                </a:solidFill>
                <a:latin typeface="Times New Roman"/>
              </a:rPr>
              <a:t>B</a:t>
            </a:r>
            <a:r>
              <a:rPr sz="1400" b="0">
                <a:solidFill>
                  <a:srgbClr val="222222"/>
                </a:solidFill>
                <a:latin typeface="B Nazanin"/>
              </a:rPr>
              <a:t> ضعیف‌تر بود. افزودن عروق و ساخت </a:t>
            </a:r>
            <a:r>
              <a:rPr sz="1400" b="0">
                <a:solidFill>
                  <a:srgbClr val="222222"/>
                </a:solidFill>
                <a:latin typeface="Times New Roman"/>
              </a:rPr>
              <a:t>M1</a:t>
            </a:r>
            <a:r>
              <a:rPr sz="1400" b="0">
                <a:solidFill>
                  <a:srgbClr val="222222"/>
                </a:solidFill>
                <a:latin typeface="B Nazanin"/>
              </a:rPr>
              <a:t> آن را به ۰٫۹۲۶۹ رساند؛ اختلاف </a:t>
            </a:r>
            <a:r>
              <a:rPr sz="1400" b="0">
                <a:solidFill>
                  <a:srgbClr val="222222"/>
                </a:solidFill>
                <a:latin typeface="Times New Roman"/>
              </a:rPr>
              <a:t>M1-M0</a:t>
            </a:r>
            <a:r>
              <a:rPr sz="1400" b="0">
                <a:solidFill>
                  <a:srgbClr val="222222"/>
                </a:solidFill>
                <a:latin typeface="B Nazanin"/>
              </a:rPr>
              <a:t> برابر ۰٫۰۲۰۹۳۶ با بازه‌ی کاملاً مثبت بود، </a:t>
            </a:r>
            <a:r>
              <a:rPr sz="1400" b="0">
                <a:solidFill>
                  <a:srgbClr val="222222"/>
                </a:solidFill>
                <a:latin typeface="Times New Roman"/>
              </a:rPr>
              <a:t>F1</a:t>
            </a:r>
            <a:r>
              <a:rPr sz="1400" b="0">
                <a:solidFill>
                  <a:srgbClr val="222222"/>
                </a:solidFill>
                <a:latin typeface="B Nazanin"/>
              </a:rPr>
              <a:t> ماکرو حدود ۰٫۰۴۰۴ افزایش و بریر حدود ۰٫۰۴۹۲ کاهش یافت. بنابراین سود عروق فقط به خط پایه‌ی </a:t>
            </a:r>
            <a:r>
              <a:rPr sz="1400" b="0">
                <a:solidFill>
                  <a:srgbClr val="222222"/>
                </a:solidFill>
                <a:latin typeface="Times New Roman"/>
              </a:rPr>
              <a:t>EfficientNet-B5/XGBoost</a:t>
            </a:r>
            <a:r>
              <a:rPr sz="1400" b="0">
                <a:solidFill>
                  <a:srgbClr val="222222"/>
                </a:solidFill>
                <a:latin typeface="B Nazanin"/>
              </a:rPr>
              <a:t> محدود نبود. بااین‌حال </a:t>
            </a:r>
            <a:r>
              <a:rPr sz="1400" b="0">
                <a:solidFill>
                  <a:srgbClr val="222222"/>
                </a:solidFill>
                <a:latin typeface="Times New Roman"/>
              </a:rPr>
              <a:t>M1</a:t>
            </a:r>
            <a:r>
              <a:rPr sz="1400" b="0">
                <a:solidFill>
                  <a:srgbClr val="222222"/>
                </a:solidFill>
                <a:latin typeface="B Nazanin"/>
              </a:rPr>
              <a:t> برتری پشتیبانی‌شده‌ای بر </a:t>
            </a:r>
            <a:r>
              <a:rPr sz="1400" b="0">
                <a:solidFill>
                  <a:srgbClr val="222222"/>
                </a:solidFill>
                <a:latin typeface="Times New Roman"/>
              </a:rPr>
              <a:t>E</a:t>
            </a:r>
            <a:r>
              <a:rPr sz="1400" b="0">
                <a:solidFill>
                  <a:srgbClr val="222222"/>
                </a:solidFill>
                <a:latin typeface="B Nazanin"/>
              </a:rPr>
              <a:t> یا </a:t>
            </a:r>
            <a:r>
              <a:rPr sz="1400" b="0">
                <a:solidFill>
                  <a:srgbClr val="222222"/>
                </a:solidFill>
                <a:latin typeface="Times New Roman"/>
              </a:rPr>
              <a:t>G</a:t>
            </a:r>
            <a:r>
              <a:rPr sz="1400" b="0">
                <a:solidFill>
                  <a:srgbClr val="222222"/>
                </a:solidFill>
                <a:latin typeface="B Nazanin"/>
              </a:rPr>
              <a:t> نشان نداد و این مرحله بازتولید کامل یک مقاله‌ی بیرونی نبود.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۲۰. چرا معماری </a:t>
            </a:r>
            <a:r>
              <a:rPr sz="1400" b="0">
                <a:solidFill>
                  <a:srgbClr val="222222"/>
                </a:solidFill>
                <a:latin typeface="Times New Roman"/>
              </a:rPr>
              <a:t>ROPDeepX-style</a:t>
            </a:r>
            <a:r>
              <a:rPr sz="1400" b="0">
                <a:solidFill>
                  <a:srgbClr val="222222"/>
                </a:solidFill>
                <a:latin typeface="B Nazanin"/>
              </a:rPr>
              <a:t> ضعیف‌تر شد؟  پاسخ: معماری پیچیده‌تر تضمین‌کننده‌ی عملکرد بهتر نیست. تفاوت داده، بودجه‌ی آموزش و بهینه‌سازی می‌تواند باعث بیش‌برازش یا استفاده‌ی ناکامل از ظرفیت شود. هدف مرحله‌ی ۱۳ بازتولید مقاله نبود.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رتبه‌بندی و احتمال دو لایه‌ی جدا هستند: </a:t>
            </a:r>
            <a:r>
              <a:rPr sz="1400" b="0">
                <a:solidFill>
                  <a:srgbClr val="222222"/>
                </a:solidFill>
                <a:latin typeface="Times New Roman"/>
              </a:rPr>
              <a:t>E</a:t>
            </a:r>
            <a:r>
              <a:rPr sz="1400" b="0">
                <a:solidFill>
                  <a:srgbClr val="222222"/>
                </a:solidFill>
                <a:latin typeface="B Nazanin"/>
              </a:rPr>
              <a:t> نسبت به </a:t>
            </a:r>
            <a:r>
              <a:rPr sz="1400" b="0">
                <a:solidFill>
                  <a:srgbClr val="222222"/>
                </a:solidFill>
                <a:latin typeface="Times New Roman"/>
              </a:rPr>
              <a:t>B</a:t>
            </a:r>
            <a:r>
              <a:rPr sz="1400" b="0">
                <a:solidFill>
                  <a:srgbClr val="222222"/>
                </a:solidFill>
                <a:latin typeface="B Nazanin"/>
              </a:rPr>
              <a:t> هم </a:t>
            </a:r>
            <a:r>
              <a:rPr sz="1400" b="0">
                <a:solidFill>
                  <a:srgbClr val="222222"/>
                </a:solidFill>
                <a:latin typeface="Times New Roman"/>
              </a:rPr>
              <a:t>AUC</a:t>
            </a:r>
            <a:r>
              <a:rPr sz="1400" b="0">
                <a:solidFill>
                  <a:srgbClr val="222222"/>
                </a:solidFill>
                <a:latin typeface="B Nazanin"/>
              </a:rPr>
              <a:t> و هم </a:t>
            </a:r>
            <a:r>
              <a:rPr sz="1400" b="0">
                <a:solidFill>
                  <a:srgbClr val="222222"/>
                </a:solidFill>
                <a:latin typeface="Times New Roman"/>
              </a:rPr>
              <a:t>Brier</a:t>
            </a:r>
            <a:r>
              <a:rPr sz="1400" b="0">
                <a:solidFill>
                  <a:srgbClr val="222222"/>
                </a:solidFill>
                <a:latin typeface="B Nazanin"/>
              </a:rPr>
              <a:t> بهتری دارد، اما بازه‌ی اختلاف </a:t>
            </a:r>
            <a:r>
              <a:rPr sz="1400" b="0">
                <a:solidFill>
                  <a:srgbClr val="222222"/>
                </a:solidFill>
                <a:latin typeface="Times New Roman"/>
              </a:rPr>
              <a:t>ECE</a:t>
            </a:r>
            <a:r>
              <a:rPr sz="1400" b="0">
                <a:solidFill>
                  <a:srgbClr val="222222"/>
                </a:solidFill>
                <a:latin typeface="B Nazanin"/>
              </a:rPr>
              <a:t> صفر را قطع نمی‌کند؛ پس واسنجی کامل ادعا نمی‌شود.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وا‌سنجی نیز مفهوم جداگانه‌ای است. یک مدل خوب‌واسنجی‌شده باید اطمینان‌هایی تولید کند که با فراوانی واقعی موفقیت سازگار باشند. مقایسه‌ی سر خطی شبکه با </a:t>
            </a:r>
            <a:r>
              <a:rPr sz="1400" b="0">
                <a:solidFill>
                  <a:srgbClr val="222222"/>
                </a:solidFill>
                <a:latin typeface="Times New Roman"/>
              </a:rPr>
              <a:t>XGBoost</a:t>
            </a:r>
            <a:r>
              <a:rPr sz="1400" b="0">
                <a:solidFill>
                  <a:srgbClr val="222222"/>
                </a:solidFill>
                <a:latin typeface="B Nazanin"/>
              </a:rPr>
              <a:t> نمونه‌ی روشنی است: </a:t>
            </a:r>
            <a:r>
              <a:rPr sz="1400" b="0">
                <a:solidFill>
                  <a:srgbClr val="222222"/>
                </a:solidFill>
                <a:latin typeface="Times New Roman"/>
              </a:rPr>
              <a:t>XGBoost</a:t>
            </a:r>
            <a:r>
              <a:rPr sz="1400" b="0">
                <a:solidFill>
                  <a:srgbClr val="222222"/>
                </a:solidFill>
                <a:latin typeface="B Nazanin"/>
              </a:rPr>
              <a:t> سطح زیر منحنی را بهتر کرد ولی </a:t>
            </a:r>
            <a:r>
              <a:rPr sz="1400" b="0">
                <a:solidFill>
                  <a:srgbClr val="222222"/>
                </a:solidFill>
                <a:latin typeface="Times New Roman"/>
              </a:rPr>
              <a:t>ECE</a:t>
            </a:r>
            <a:r>
              <a:rPr sz="1400" b="0">
                <a:solidFill>
                  <a:srgbClr val="222222"/>
                </a:solidFill>
                <a:latin typeface="B Nazanin"/>
              </a:rPr>
              <a:t> آن بالاتر بود. پس رتبه‌بندی بهتر الزاماً به معنای احتمال‌های دقیق‌تر نیست.</a:t>
            </a:r>
          </a:p>
          <a:p>
            <a:pPr rtl="1">
              <a:spcAft>
                <a:spcPts val="500"/>
              </a:spcAft>
            </a:pPr>
            <a:r>
              <a:rPr sz="1400" b="0">
                <a:solidFill>
                  <a:srgbClr val="222222"/>
                </a:solidFill>
                <a:latin typeface="B Nazanin"/>
              </a:rPr>
              <a:t>مدل </a:t>
            </a:r>
            <a:r>
              <a:rPr sz="1400" b="0">
                <a:solidFill>
                  <a:srgbClr val="222222"/>
                </a:solidFill>
                <a:latin typeface="Times New Roman"/>
              </a:rPr>
              <a:t>E</a:t>
            </a:r>
            <a:r>
              <a:rPr sz="1400" b="0">
                <a:solidFill>
                  <a:srgbClr val="222222"/>
                </a:solidFill>
                <a:latin typeface="B Nazanin"/>
              </a:rPr>
              <a:t> نسبت به </a:t>
            </a:r>
            <a:r>
              <a:rPr sz="1400" b="0">
                <a:solidFill>
                  <a:srgbClr val="222222"/>
                </a:solidFill>
                <a:latin typeface="Times New Roman"/>
              </a:rPr>
              <a:t>B</a:t>
            </a:r>
            <a:r>
              <a:rPr sz="1400" b="0">
                <a:solidFill>
                  <a:srgbClr val="222222"/>
                </a:solidFill>
                <a:latin typeface="B Nazanin"/>
              </a:rPr>
              <a:t> سطح زیر منحنی و بریر بهتری داشت، اما بازه‌ی اختلاف خطای واسنجی صفر را قطع کرد. بنابراین در دفاع فقط بهبود رتبه‌بندی و بریر را ادعا می‌کنم. برای کاربرد بالینی باید آستانه بر اساس هزینه‌ی خطا، شیوع مرکز، حساسیت مورد نیاز و ظرفیت ارجاع انتخاب شود. این تصمیم از سطح زیر منحنی به‌تنهایی به دست نمی‌آید.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خطای مورد انتظار واسنجی  پاسخ: پیش‌بینی‌ها بر اساس میزان اطمینان در بازه‌ها قرار می‌گیرند و فاصله‌ی اطمینان متوسط با صحت واقعی اندازه‌گیری می‌شود. مقدار کمتر نشان‌دهنده‌ی واسنجی بهتر است، ولی به تعداد بازه‌ها و توزیع پیش‌بینی‌ها وابسته است.</a:t>
            </a:r>
          </a:p>
          <a:p>
            <a:pPr rtl="1">
              <a:spcAft>
                <a:spcPts val="500"/>
              </a:spcAft>
            </a:pPr>
            <a:r>
              <a:rPr sz="1400" b="0">
                <a:solidFill>
                  <a:srgbClr val="222222"/>
                </a:solidFill>
                <a:latin typeface="B Nazanin"/>
              </a:rPr>
              <a:t>پرسش: چرا مدل با </a:t>
            </a:r>
            <a:r>
              <a:rPr sz="1400" b="0">
                <a:solidFill>
                  <a:srgbClr val="222222"/>
                </a:solidFill>
                <a:latin typeface="Times New Roman"/>
              </a:rPr>
              <a:t>AUC</a:t>
            </a:r>
            <a:r>
              <a:rPr sz="1400" b="0">
                <a:solidFill>
                  <a:srgbClr val="222222"/>
                </a:solidFill>
                <a:latin typeface="B Nazanin"/>
              </a:rPr>
              <a:t> بهتر </a:t>
            </a:r>
            <a:r>
              <a:rPr sz="1400" b="0">
                <a:solidFill>
                  <a:srgbClr val="222222"/>
                </a:solidFill>
                <a:latin typeface="Times New Roman"/>
              </a:rPr>
              <a:t>ECE</a:t>
            </a:r>
            <a:r>
              <a:rPr sz="1400" b="0">
                <a:solidFill>
                  <a:srgbClr val="222222"/>
                </a:solidFill>
                <a:latin typeface="B Nazanin"/>
              </a:rPr>
              <a:t> بدتری دارد؟  پاسخ: رتبه‌بندی و واسنجی اهداف متفاوتی‌اند. یک تبدیل یکنواخت امتیازها می‌تواند رتبه‌بندی را حفظ کند ولی مقادیر احتمال را تغییر دهد.</a:t>
            </a:r>
          </a:p>
          <a:p>
            <a:pPr rtl="1">
              <a:spcAft>
                <a:spcPts val="500"/>
              </a:spcAft>
            </a:pPr>
            <a:r>
              <a:rPr sz="1400" b="0">
                <a:solidFill>
                  <a:srgbClr val="222222"/>
                </a:solidFill>
                <a:latin typeface="B Nazanin"/>
              </a:rPr>
              <a:t>پرسش: ۲۳. چرا </a:t>
            </a:r>
            <a:r>
              <a:rPr sz="1400" b="0">
                <a:solidFill>
                  <a:srgbClr val="222222"/>
                </a:solidFill>
                <a:latin typeface="Times New Roman"/>
              </a:rPr>
              <a:t>AUC</a:t>
            </a:r>
            <a:r>
              <a:rPr sz="1400" b="0">
                <a:solidFill>
                  <a:srgbClr val="222222"/>
                </a:solidFill>
                <a:latin typeface="B Nazanin"/>
              </a:rPr>
              <a:t> و </a:t>
            </a:r>
            <a:r>
              <a:rPr sz="1400" b="0">
                <a:solidFill>
                  <a:srgbClr val="222222"/>
                </a:solidFill>
                <a:latin typeface="Times New Roman"/>
              </a:rPr>
              <a:t>ECE</a:t>
            </a:r>
            <a:r>
              <a:rPr sz="1400" b="0">
                <a:solidFill>
                  <a:srgbClr val="222222"/>
                </a:solidFill>
                <a:latin typeface="B Nazanin"/>
              </a:rPr>
              <a:t> ممکن است خلاف جهت حرکت کنند؟  پاسخ: </a:t>
            </a:r>
            <a:r>
              <a:rPr sz="1400" b="0">
                <a:solidFill>
                  <a:srgbClr val="222222"/>
                </a:solidFill>
                <a:latin typeface="Times New Roman"/>
              </a:rPr>
              <a:t>AUC</a:t>
            </a:r>
            <a:r>
              <a:rPr sz="1400" b="0">
                <a:solidFill>
                  <a:srgbClr val="222222"/>
                </a:solidFill>
                <a:latin typeface="B Nazanin"/>
              </a:rPr>
              <a:t> ترتیب امتیازها را می‌سنجد، ولی </a:t>
            </a:r>
            <a:r>
              <a:rPr sz="1400" b="0">
                <a:solidFill>
                  <a:srgbClr val="222222"/>
                </a:solidFill>
                <a:latin typeface="Times New Roman"/>
              </a:rPr>
              <a:t>ECE</a:t>
            </a:r>
            <a:r>
              <a:rPr sz="1400" b="0">
                <a:solidFill>
                  <a:srgbClr val="222222"/>
                </a:solidFill>
                <a:latin typeface="B Nazanin"/>
              </a:rPr>
              <a:t> مقدار احتمال را. یک مدل می‌تواند رتبه‌بندی بهتر ولی احتمال‌های بیش‌ازحد مطمئن داشته باشد.</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Times New Roman"/>
              </a:rPr>
              <a:t>Pre-Plus</a:t>
            </a:r>
            <a:r>
              <a:rPr sz="1400" b="0">
                <a:solidFill>
                  <a:srgbClr val="222222"/>
                </a:solidFill>
                <a:latin typeface="B Nazanin"/>
              </a:rPr>
              <a:t> سخت‌ترین کلاس برای همه‌ی مدل‌ها است و </a:t>
            </a:r>
            <a:r>
              <a:rPr sz="1400" b="0">
                <a:solidFill>
                  <a:srgbClr val="222222"/>
                </a:solidFill>
                <a:latin typeface="Times New Roman"/>
              </a:rPr>
              <a:t>Plus</a:t>
            </a:r>
            <a:r>
              <a:rPr sz="1400" b="0">
                <a:solidFill>
                  <a:srgbClr val="222222"/>
                </a:solidFill>
                <a:latin typeface="B Nazanin"/>
              </a:rPr>
              <a:t> دقیق‌ترین کلاس. </a:t>
            </a:r>
            <a:r>
              <a:rPr sz="1400" b="0">
                <a:solidFill>
                  <a:srgbClr val="222222"/>
                </a:solidFill>
                <a:latin typeface="Times New Roman"/>
              </a:rPr>
              <a:t>AUC</a:t>
            </a:r>
            <a:r>
              <a:rPr sz="1400" b="0">
                <a:solidFill>
                  <a:srgbClr val="222222"/>
                </a:solidFill>
                <a:latin typeface="B Nazanin"/>
              </a:rPr>
              <a:t> یک‌دربرابر‌بقیه با تصمیم سه‌کلاسه‌ی نهایی یکی نیست و آستانه‌ی یودن هم لزوماً آستانه‌ی بالینی نیست.</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برای تفسیر مدل فقط به سطح زیر منحنی ماکرو اکتفا نکردم. سطح زیر منحنی هر کلاس نشان داد افزودن بازنمایی فضایی عروق برآورد رتبه‌بندی طبیعی، پیش‌پلاس و پلاس را نسبت به مدل رنگی افزایش داد. بااین‌حال پیش‌پلاس در تصمیم نهایی همچنان دشوار بود، زیرا کلاس میانی و کم‌تعدادتر است و با هر دو سوی طیف هم‌پوشانی دارد.</a:t>
            </a:r>
          </a:p>
          <a:p>
            <a:pPr rtl="1">
              <a:spcAft>
                <a:spcPts val="500"/>
              </a:spcAft>
            </a:pPr>
            <a:r>
              <a:rPr sz="1400" b="0">
                <a:solidFill>
                  <a:srgbClr val="222222"/>
                </a:solidFill>
                <a:latin typeface="B Nazanin"/>
              </a:rPr>
              <a:t>ماتریس درهم‌ریختگی رفتار تصمیم بیشترین احتمال را نشان می‌دهد، در حالی که سطح زیر منحنی کیفیت رتبه‌بندی در تمام آستانه‌ها را اندازه می‌گیرد. بنابراین ممکن است مدلی سطح زیر منحنی مناسبی داشته باشد ولی در یک آستانه یا قاعده‌ی تصمیم مشخص خطاهای قابل توجهی ایجاد کند.</a:t>
            </a:r>
          </a:p>
          <a:p>
            <a:pPr rtl="1">
              <a:spcAft>
                <a:spcPts val="500"/>
              </a:spcAft>
            </a:pPr>
            <a:r>
              <a:rPr sz="1400" b="0">
                <a:solidFill>
                  <a:srgbClr val="222222"/>
                </a:solidFill>
                <a:latin typeface="B Nazanin"/>
              </a:rPr>
              <a:t>به تفکیک کلاس، </a:t>
            </a:r>
            <a:r>
              <a:rPr sz="1400" b="0">
                <a:solidFill>
                  <a:srgbClr val="222222"/>
                </a:solidFill>
                <a:latin typeface="Times New Roman"/>
              </a:rPr>
              <a:t>AUC</a:t>
            </a:r>
            <a:r>
              <a:rPr sz="1400" b="0">
                <a:solidFill>
                  <a:srgbClr val="222222"/>
                </a:solidFill>
                <a:latin typeface="B Nazanin"/>
              </a:rPr>
              <a:t> مدل </a:t>
            </a:r>
            <a:r>
              <a:rPr sz="1400" b="0">
                <a:solidFill>
                  <a:srgbClr val="222222"/>
                </a:solidFill>
                <a:latin typeface="Times New Roman"/>
              </a:rPr>
              <a:t>B</a:t>
            </a:r>
            <a:r>
              <a:rPr sz="1400" b="0">
                <a:solidFill>
                  <a:srgbClr val="222222"/>
                </a:solidFill>
                <a:latin typeface="B Nazanin"/>
              </a:rPr>
              <a:t> برای طبیعی، پیش‌پلاس و پلاس به‌ترتیب ۰٫۹۱۶۸، ۰٫۹۳۱۳ و ۰٫۹۲۶۷ بود و در </a:t>
            </a:r>
            <a:r>
              <a:rPr sz="1400" b="0">
                <a:solidFill>
                  <a:srgbClr val="222222"/>
                </a:solidFill>
                <a:latin typeface="Times New Roman"/>
              </a:rPr>
              <a:t>E</a:t>
            </a:r>
            <a:r>
              <a:rPr sz="1400" b="0">
                <a:solidFill>
                  <a:srgbClr val="222222"/>
                </a:solidFill>
                <a:latin typeface="B Nazanin"/>
              </a:rPr>
              <a:t> به ۰٫۹۲۷۷، ۰٫۹۳۵۴ و ۰٫۹۳۵۴ رسید. جهت تغییر در هر سه کلاس مثبت بود؛ ولی بدون بازه‌ی زوجی اختصاصی هر کلاس، این اعداد بیشتر توصیفی‌اند.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چرا پیش‌پلاس با وجود </a:t>
            </a:r>
            <a:r>
              <a:rPr sz="1400" b="0">
                <a:solidFill>
                  <a:srgbClr val="222222"/>
                </a:solidFill>
                <a:latin typeface="Times New Roman"/>
              </a:rPr>
              <a:t>AUC</a:t>
            </a:r>
            <a:r>
              <a:rPr sz="1400" b="0">
                <a:solidFill>
                  <a:srgbClr val="222222"/>
                </a:solidFill>
                <a:latin typeface="B Nazanin"/>
              </a:rPr>
              <a:t> مناسب سخت است؟  پاسخ: زیرا </a:t>
            </a:r>
            <a:r>
              <a:rPr sz="1400" b="0">
                <a:solidFill>
                  <a:srgbClr val="222222"/>
                </a:solidFill>
                <a:latin typeface="Times New Roman"/>
              </a:rPr>
              <a:t>AUC</a:t>
            </a:r>
            <a:r>
              <a:rPr sz="1400" b="0">
                <a:solidFill>
                  <a:srgbClr val="222222"/>
                </a:solidFill>
                <a:latin typeface="B Nazanin"/>
              </a:rPr>
              <a:t> رتبه‌بندی یک‌دربرابر‌بقیه را می‌سنجد. تصمیم سه‌کلاسه‌ی نهایی به رقابت هم‌زمان سه احتمال وابسته است و پیش‌پلاس با طبیعی و پلاس هم‌پوشانی دارد.</a:t>
            </a:r>
          </a:p>
          <a:p>
            <a:pPr rtl="1">
              <a:spcAft>
                <a:spcPts val="500"/>
              </a:spcAft>
            </a:pPr>
            <a:r>
              <a:rPr sz="1400" b="0">
                <a:solidFill>
                  <a:srgbClr val="222222"/>
                </a:solidFill>
                <a:latin typeface="B Nazanin"/>
              </a:rPr>
              <a:t>پرسش: آیا آستانه‌ی یودن بهترین آستانه‌ی بالینی است؟  پاسخ: نه الزاماً. یودن حساسیت و ویژگی را به‌صورت متقارن ترکیب می‌کند. در کاربرد بالینی واقعی هزینه‌ی دو نوع خطا ممکن است یکسان نباشد.</a:t>
            </a:r>
          </a:p>
          <a:p>
            <a:pPr rtl="1">
              <a:spcAft>
                <a:spcPts val="500"/>
              </a:spcAft>
            </a:pPr>
            <a:r>
              <a:rPr sz="1400" b="0">
                <a:solidFill>
                  <a:srgbClr val="222222"/>
                </a:solidFill>
                <a:latin typeface="B Nazanin"/>
              </a:rPr>
              <a:t>پرسش: ۱۴. چرا عروق فضایی کمک کردند ولی پنج عدد نه؟  پاسخ: نقشه‌ی کامل محل، شاخه‌بندی، ناهمسانی و الگوهای چندمقیاسی را نگه می‌دارد. پنج عدد خلاصه‌های سراسری‌اند و ممکن است دو تصویر با توزیع مکانی متفاوت را مشابه نمایش دهند.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نتیجه‌ی منفی پنج نشانگر در چند آزمون مستقل حفظ شد: الحاق ساده، آموزش مشترک، </a:t>
            </a:r>
            <a:r>
              <a:rPr sz="1400" b="0">
                <a:solidFill>
                  <a:srgbClr val="222222"/>
                </a:solidFill>
                <a:latin typeface="Times New Roman"/>
              </a:rPr>
              <a:t>FiLM</a:t>
            </a:r>
            <a:r>
              <a:rPr sz="1400" b="0">
                <a:solidFill>
                  <a:srgbClr val="222222"/>
                </a:solidFill>
                <a:latin typeface="B Nazanin"/>
              </a:rPr>
              <a:t>، کنترل معماری، منبع کنارگذاشته و مقایسه‌های زوجی. پایداری این نتیجه در چند سازوکار، برداشت پسینی و گلچین‌کردن را کنار می‌گذارد.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نتیجه‌ی منفی پنج نشانگر نیز در چند سازوکار حفظ شد: الحاق ساده، آموزش مشترک، </a:t>
            </a:r>
            <a:r>
              <a:rPr sz="1400" b="0">
                <a:solidFill>
                  <a:srgbClr val="222222"/>
                </a:solidFill>
                <a:latin typeface="Times New Roman"/>
              </a:rPr>
              <a:t>FiLM</a:t>
            </a:r>
            <a:r>
              <a:rPr sz="1400" b="0">
                <a:solidFill>
                  <a:srgbClr val="222222"/>
                </a:solidFill>
                <a:latin typeface="B Nazanin"/>
              </a:rPr>
              <a:t> و ارزیابی منبع‌کنارگذاشته. این حفظ نتیجه‌ی منفی بخشی از نوآوری روش‌شناختی است، زیرا از انتخاب پسینی فقط آزمایش‌های موفق جلوگیری می‌کند. ممیزی تقسیم، تکرار فایل، ردیابی ماسک و تثبیت نسخه‌ها نیز زنجیره‌ی ادعا را قابل بررسی کرد.</a:t>
            </a:r>
          </a:p>
          <a:p>
            <a:pPr rtl="1">
              <a:spcAft>
                <a:spcPts val="500"/>
              </a:spcAft>
            </a:pPr>
            <a:r>
              <a:rPr sz="1400" b="0">
                <a:solidFill>
                  <a:srgbClr val="222222"/>
                </a:solidFill>
                <a:latin typeface="B Nazanin"/>
              </a:rPr>
              <a:t>محدودیت این بردار آن است که یک نقشه‌ی دوبعدی بزرگ را به پنج عدد تبدیل می‌کند. در نتیجه محل تغییرات، ساختار شاخه‌ها و ناهمسانی موضعی ممکن است از بین برود. به همین دلیل پروژه فقط پنج نشانگر را بررسی نکرد و نقشه‌ی کامل عروق نیز مستقیماً به یک شبکه داده شد تا بازنمایی فضایی آموخته شود.</a:t>
            </a:r>
          </a:p>
          <a:p>
            <a:pPr rtl="1">
              <a:spcAft>
                <a:spcPts val="500"/>
              </a:spcAft>
            </a:pPr>
            <a:r>
              <a:rPr sz="1400" b="0">
                <a:solidFill>
                  <a:srgbClr val="222222"/>
                </a:solidFill>
                <a:latin typeface="B Nazanin"/>
              </a:rPr>
              <a:t>الحاق ساده، آموزش مشترک، </a:t>
            </a:r>
            <a:r>
              <a:rPr sz="1400" b="0">
                <a:solidFill>
                  <a:srgbClr val="222222"/>
                </a:solidFill>
                <a:latin typeface="Times New Roman"/>
              </a:rPr>
              <a:t>FiLM</a:t>
            </a:r>
            <a:r>
              <a:rPr sz="1400" b="0">
                <a:solidFill>
                  <a:srgbClr val="222222"/>
                </a:solidFill>
                <a:latin typeface="B Nazanin"/>
              </a:rPr>
              <a:t> و </a:t>
            </a:r>
            <a:r>
              <a:rPr sz="1400" b="0">
                <a:solidFill>
                  <a:srgbClr val="222222"/>
                </a:solidFill>
                <a:latin typeface="Times New Roman"/>
              </a:rPr>
              <a:t>LOSO</a:t>
            </a:r>
            <a:r>
              <a:rPr sz="1400" b="0">
                <a:solidFill>
                  <a:srgbClr val="222222"/>
                </a:solidFill>
                <a:latin typeface="B Nazanin"/>
              </a:rPr>
              <a:t> بهبود مثبت تکرارپذیری برای پنج نشانگر نشان ندادند. گزارش نتیجه‌ی منفی از انتخاب فقط نتایج موفق جلوگیری می‌کند.</a:t>
            </a:r>
          </a:p>
          <a:p>
            <a:pPr rtl="1">
              <a:spcAft>
                <a:spcPts val="500"/>
              </a:spcAft>
            </a:pPr>
            <a:r>
              <a:rPr sz="1400" b="0">
                <a:solidFill>
                  <a:srgbClr val="222222"/>
                </a:solidFill>
                <a:latin typeface="B Nazanin"/>
              </a:rPr>
              <a:t>این نتیجه در سازوکارهای ثانویه نیز بررسی شد. افزودن شاخه‌ی نشانگر در شبکه‌ی مشترک سطح زیر منحنی را کاهش داد. در </a:t>
            </a:r>
            <a:r>
              <a:rPr sz="1400" b="0">
                <a:solidFill>
                  <a:srgbClr val="222222"/>
                </a:solidFill>
                <a:latin typeface="Times New Roman"/>
              </a:rPr>
              <a:t>FiLM</a:t>
            </a:r>
            <a:r>
              <a:rPr sz="1400" b="0">
                <a:solidFill>
                  <a:srgbClr val="222222"/>
                </a:solidFill>
                <a:latin typeface="B Nazanin"/>
              </a:rPr>
              <a:t> نیز لایه‌ی شرطی‌سازی به نگاشتی نزدیک به همانی همگرا شد و بهبود پشتیبانی‌شده‌ای ایجاد نکرد. پس نتیجه‌ی نشانگرها فقط به الحاق ساده محدود نبود.</a:t>
            </a:r>
          </a:p>
          <a:p>
            <a:pPr rtl="1">
              <a:spcAft>
                <a:spcPts val="500"/>
              </a:spcAft>
            </a:pPr>
            <a:r>
              <a:rPr sz="1400" b="0">
                <a:solidFill>
                  <a:srgbClr val="222222"/>
                </a:solidFill>
                <a:latin typeface="B Nazanin"/>
              </a:rPr>
              <a:t>سود عروق در </a:t>
            </a:r>
            <a:r>
              <a:rPr sz="1400" b="0">
                <a:solidFill>
                  <a:srgbClr val="222222"/>
                </a:solidFill>
                <a:latin typeface="Times New Roman"/>
              </a:rPr>
              <a:t>FARFUM-RoP</a:t>
            </a:r>
            <a:r>
              <a:rPr sz="1400" b="0">
                <a:solidFill>
                  <a:srgbClr val="222222"/>
                </a:solidFill>
                <a:latin typeface="B Nazanin"/>
              </a:rPr>
              <a:t> و فارابی نیز تکرار شد، هرچند عملکرد مطلق افت کرد. این موضوع ثبات جهت اثر و هم‌زمان محدودیت تعمیم را نشان می‌دهد.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۱۳. چرا نشانگرها به مدل کمک نکردند؟  پاسخ: سه توضیح سازگار وجود دارد: اطلاعات آن‌ها با بازنمایی رنگی و عروقی هم‌پوشان است؛ فشرده‌سازی به پنج عدد اطلاعات مکانی را حذف می‌کند؛ و خطای اندازه‌گیری ماسک می‌تواند نسبت سیگنال به نویز را کاهش دهد. پروژه میان این علت‌ها حکم علّی قطعی نمی‌دهد.</a:t>
            </a:r>
          </a:p>
          <a:p>
            <a:pPr rtl="1">
              <a:spcAft>
                <a:spcPts val="500"/>
              </a:spcAft>
            </a:pPr>
            <a:r>
              <a:rPr sz="1400" b="0">
                <a:solidFill>
                  <a:srgbClr val="222222"/>
                </a:solidFill>
                <a:latin typeface="B Nazanin"/>
              </a:rPr>
              <a:t>پرسش: ۱۴. چرا عروق فضایی کمک کردند ولی پنج عدد نه؟  پاسخ: نقشه‌ی کامل محل، شاخه‌بندی، ناهمسانی و الگوهای چندمقیاسی را نگه می‌دارد. پنج عدد خلاصه‌های سراسری‌اند و ممکن است دو تصویر با توزیع مکانی متفاوت را مشابه نمایش دهند.</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سه آزمایش ثانویه‌ی مدل‌های عصبی یک الگوی مشترک دارند: خطای آموزش کاهش یافت و خطای اعتبارسنجی از دوره‌ی اول بالا رفت؛ ادامه‌ی آموزش بیش‌برازش می‌داد. در </a:t>
            </a:r>
            <a:r>
              <a:rPr sz="1400" b="0">
                <a:solidFill>
                  <a:srgbClr val="222222"/>
                </a:solidFill>
                <a:latin typeface="Times New Roman"/>
              </a:rPr>
              <a:t>FiLM</a:t>
            </a:r>
            <a:r>
              <a:rPr sz="1400" b="0">
                <a:solidFill>
                  <a:srgbClr val="222222"/>
                </a:solidFill>
                <a:latin typeface="B Nazanin"/>
              </a:rPr>
              <a:t> هم پارامتر مقیاس نزدیک یک ماند، یعنی بازنمایی تقریباً بدون تغییر ماند.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سه پیام را کوتاه ارائه کن: شاخه‌ی نشانگر و </a:t>
            </a:r>
            <a:r>
              <a:rPr sz="1400" b="0">
                <a:solidFill>
                  <a:srgbClr val="222222"/>
                </a:solidFill>
                <a:latin typeface="Times New Roman"/>
              </a:rPr>
              <a:t>FiLM</a:t>
            </a:r>
            <a:r>
              <a:rPr sz="1400" b="0">
                <a:solidFill>
                  <a:srgbClr val="222222"/>
                </a:solidFill>
                <a:latin typeface="B Nazanin"/>
              </a:rPr>
              <a:t> سود پایدار نداشتند؛ سازگارسازی دامنه در تنظیم ثابت بیماری را بهتر نکرد؛ معماری جایگزین با افزودن عروق بهتر شد. این آزمایش‌ها تأییدی یا اکتشافی‌اند و هم‌وزن مقایسه‌ی اصلی نیستند.</a:t>
            </a:r>
          </a:p>
          <a:p>
            <a:pPr rtl="1">
              <a:spcAft>
                <a:spcPts val="500"/>
              </a:spcAft>
            </a:pPr>
            <a:r>
              <a:rPr sz="1400" b="0">
                <a:solidFill>
                  <a:srgbClr val="222222"/>
                </a:solidFill>
                <a:latin typeface="B Nazanin"/>
              </a:rPr>
              <a:t>برای اطمینان از اینکه نتیجه‌ی نشانگر فقط حاصل الحاق ساده نیست، سازوکارهای ثانویه بررسی شدند. در شاخه‌ی مشترک، مدل </a:t>
            </a:r>
            <a:r>
              <a:rPr sz="1400" b="0">
                <a:solidFill>
                  <a:srgbClr val="222222"/>
                </a:solidFill>
                <a:latin typeface="Times New Roman"/>
              </a:rPr>
              <a:t>H</a:t>
            </a:r>
            <a:r>
              <a:rPr sz="1400" b="0">
                <a:solidFill>
                  <a:srgbClr val="222222"/>
                </a:solidFill>
                <a:latin typeface="B Nazanin"/>
              </a:rPr>
              <a:t> به ۰٫۹۲۵۸ و مدل </a:t>
            </a:r>
            <a:r>
              <a:rPr sz="1400" b="0">
                <a:solidFill>
                  <a:srgbClr val="222222"/>
                </a:solidFill>
                <a:latin typeface="Times New Roman"/>
              </a:rPr>
              <a:t>I</a:t>
            </a:r>
            <a:r>
              <a:rPr sz="1400" b="0">
                <a:solidFill>
                  <a:srgbClr val="222222"/>
                </a:solidFill>
                <a:latin typeface="B Nazanin"/>
              </a:rPr>
              <a:t> با نشانگر به ۰٫۹۱۶۲ رسید. اختلاف منفی ۰٫۰۰۹۵۷۸ با بازه‌ی کاملاً منفی بود. در </a:t>
            </a:r>
            <a:r>
              <a:rPr sz="1400" b="0">
                <a:solidFill>
                  <a:srgbClr val="222222"/>
                </a:solidFill>
                <a:latin typeface="Times New Roman"/>
              </a:rPr>
              <a:t>FiLM</a:t>
            </a:r>
            <a:r>
              <a:rPr sz="1400" b="0">
                <a:solidFill>
                  <a:srgbClr val="222222"/>
                </a:solidFill>
                <a:latin typeface="B Nazanin"/>
              </a:rPr>
              <a:t> نیز اختلاف </a:t>
            </a:r>
            <a:r>
              <a:rPr sz="1400" b="0">
                <a:solidFill>
                  <a:srgbClr val="222222"/>
                </a:solidFill>
                <a:latin typeface="Times New Roman"/>
              </a:rPr>
              <a:t>J1-J0</a:t>
            </a:r>
            <a:r>
              <a:rPr sz="1400" b="0">
                <a:solidFill>
                  <a:srgbClr val="222222"/>
                </a:solidFill>
                <a:latin typeface="B Nazanin"/>
              </a:rPr>
              <a:t> برابر منفی ۰٫۰۰۲۱۲۳ و از نظر آماری پشتیبانی‌نشده بود. ضرایب مقیاس در حدود سه‌دهم درصد مقدار یک ماندند؛ حذف شاخه تغییر احتمال در حد دو در صد هزار ایجاد کرد و هیچ پیش‌بینی نهایی را عوض نکرد. یعنی شبکه عملاً آموخت شرطی‌سازی نشانگر را نادیده بگیرد. این نتایج ثابت نمی‌کنند نشانگرها در هر طراحی ممکن بی‌ارزش‌اند، اما توضیح «الحاق نامناسب تنها علت شکست بود» را تضعیف می‌کنند.</a:t>
            </a:r>
          </a:p>
          <a:p>
            <a:pPr rtl="1">
              <a:spcAft>
                <a:spcPts val="500"/>
              </a:spcAft>
            </a:pPr>
            <a:r>
              <a:rPr sz="1400" b="0">
                <a:solidFill>
                  <a:srgbClr val="222222"/>
                </a:solidFill>
                <a:latin typeface="B Nazanin"/>
              </a:rPr>
              <a:t>برای آموزش شاخه‌ی رنگی از </a:t>
            </a:r>
            <a:r>
              <a:rPr sz="1400" b="0">
                <a:solidFill>
                  <a:srgbClr val="222222"/>
                </a:solidFill>
                <a:latin typeface="Times New Roman"/>
              </a:rPr>
              <a:t>EfficientNet-B5</a:t>
            </a:r>
            <a:r>
              <a:rPr sz="1400" b="0">
                <a:solidFill>
                  <a:srgbClr val="222222"/>
                </a:solidFill>
                <a:latin typeface="B Nazanin"/>
              </a:rPr>
              <a:t> با ورودی ۳۸۴ در ۳۸۴ استفاده شد. بهینه‌ساز </a:t>
            </a:r>
            <a:r>
              <a:rPr sz="1400" b="0">
                <a:solidFill>
                  <a:srgbClr val="222222"/>
                </a:solidFill>
                <a:latin typeface="Times New Roman"/>
              </a:rPr>
              <a:t>AdamW</a:t>
            </a:r>
            <a:r>
              <a:rPr sz="1400" b="0">
                <a:solidFill>
                  <a:srgbClr val="222222"/>
                </a:solidFill>
                <a:latin typeface="B Nazanin"/>
              </a:rPr>
              <a:t>، وزن‌های کلاسی محاسبه‌شده فقط از آموزش و توقف زودهنگام بر اساس اعتبارسنجی به کار رفتند. آزمون در انتخاب دوره یا نقطه‌ی ذخیره‌شده دخالت نداشت. از شبکه هم سر خطی و هم بازنمایی ۲۰۴۸بعدی استخراج شد. استفاده از </a:t>
            </a:r>
            <a:r>
              <a:rPr sz="1400" b="0">
                <a:solidFill>
                  <a:srgbClr val="222222"/>
                </a:solidFill>
                <a:latin typeface="Times New Roman"/>
              </a:rPr>
              <a:t>XGBoost</a:t>
            </a:r>
            <a:r>
              <a:rPr sz="1400" b="0">
                <a:solidFill>
                  <a:srgbClr val="222222"/>
                </a:solidFill>
                <a:latin typeface="B Nazanin"/>
              </a:rPr>
              <a:t> روی بازنمایی، سطح زیر منحنی را از ۰٫۹۱۳۳ به ۰٫۹۲۴۹ رساند.</a:t>
            </a:r>
          </a:p>
          <a:p>
            <a:pPr rtl="1">
              <a:spcAft>
                <a:spcPts val="500"/>
              </a:spcAft>
            </a:pPr>
            <a:r>
              <a:rPr sz="1400" b="0">
                <a:solidFill>
                  <a:srgbClr val="222222"/>
                </a:solidFill>
                <a:latin typeface="B Nazanin"/>
              </a:rPr>
              <a:t>شاخه‌ی عروقی </a:t>
            </a:r>
            <a:r>
              <a:rPr sz="1400" b="0">
                <a:solidFill>
                  <a:srgbClr val="222222"/>
                </a:solidFill>
                <a:latin typeface="Times New Roman"/>
              </a:rPr>
              <a:t>EfficientNet-B4</a:t>
            </a:r>
            <a:r>
              <a:rPr sz="1400" b="0">
                <a:solidFill>
                  <a:srgbClr val="222222"/>
                </a:solidFill>
                <a:latin typeface="B Nazanin"/>
              </a:rPr>
              <a:t> بود و بازنمایی ۱۷۹۲بعدی تولید کرد. برای حفظ ماهیت دودویی ماسک، تغییر اندازه با نزدیک‌ترین همسایه انجام شد. این شاخه حداکثر ۳۰ دوره آموزش دید و انتخاب آن نیز فقط با اعتبارسنجی انجام شد.</a:t>
            </a:r>
          </a:p>
          <a:p>
            <a:pPr rtl="1">
              <a:spcAft>
                <a:spcPts val="500"/>
              </a:spcAft>
            </a:pPr>
            <a:r>
              <a:rPr sz="1400" b="0">
                <a:solidFill>
                  <a:srgbClr val="222222"/>
                </a:solidFill>
                <a:latin typeface="B Nazanin"/>
              </a:rPr>
              <a:t>نتیجه‌ی این مراحل این نیست که هر نوع نشانگر عروقی بی‌فایده است. نتیجه‌ی دقیق‌تر این است که پنج نشانگر نهایی، در الحاق ساده، آموزش مشترک و شرطی‌سازی </a:t>
            </a:r>
            <a:r>
              <a:rPr sz="1400" b="0">
                <a:solidFill>
                  <a:srgbClr val="222222"/>
                </a:solidFill>
                <a:latin typeface="Times New Roman"/>
              </a:rPr>
              <a:t>FiLM</a:t>
            </a:r>
            <a:r>
              <a:rPr sz="1400" b="0">
                <a:solidFill>
                  <a:srgbClr val="222222"/>
                </a:solidFill>
                <a:latin typeface="B Nazanin"/>
              </a:rPr>
              <a:t>، بهبود مثبت تکرارپذیر ایجاد نکردند. حفظ نتیجه‌ی منفی اهمیت روش‌شناختی دارد، زیرا از انتخاب پسینی فقط سازوکارهای موفق جلوگیری می‌کند.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چرا نتیجه‌ی مرحله‌ی ۹ از </a:t>
            </a:r>
            <a:r>
              <a:rPr sz="1400" b="0">
                <a:solidFill>
                  <a:srgbClr val="222222"/>
                </a:solidFill>
                <a:latin typeface="Times New Roman"/>
              </a:rPr>
              <a:t>E</a:t>
            </a:r>
            <a:r>
              <a:rPr sz="1400" b="0">
                <a:solidFill>
                  <a:srgbClr val="222222"/>
                </a:solidFill>
                <a:latin typeface="B Nazanin"/>
              </a:rPr>
              <a:t> ضعیف‌تر شد؟  پاسخ: آموزش مشترک ظرفیت و پویایی متفاوتی دارد و می‌تواند بیش‌برازش یا تداخل میان شاخه‌ها ایجاد کند. این آزمایش ثانویه برای بررسی سازوکار بود و برتری آن از پیش تضمین نشده بود.</a:t>
            </a:r>
          </a:p>
          <a:p>
            <a:pPr rtl="1">
              <a:spcAft>
                <a:spcPts val="500"/>
              </a:spcAft>
            </a:pPr>
            <a:r>
              <a:rPr sz="1400" b="0">
                <a:solidFill>
                  <a:srgbClr val="222222"/>
                </a:solidFill>
                <a:latin typeface="B Nazanin"/>
              </a:rPr>
              <a:t>پرسش: نزدیک یک ماندن </a:t>
            </a:r>
            <a:r>
              <a:rPr sz="1400" b="0">
                <a:solidFill>
                  <a:srgbClr val="222222"/>
                </a:solidFill>
                <a:latin typeface="Times New Roman"/>
              </a:rPr>
              <a:t>gamma</a:t>
            </a:r>
            <a:r>
              <a:rPr sz="1400" b="0">
                <a:solidFill>
                  <a:srgbClr val="222222"/>
                </a:solidFill>
                <a:latin typeface="B Nazanin"/>
              </a:rPr>
              <a:t> چه معنایی دارد؟  پاسخ: در </a:t>
            </a:r>
            <a:r>
              <a:rPr sz="1400" b="0">
                <a:solidFill>
                  <a:srgbClr val="222222"/>
                </a:solidFill>
                <a:latin typeface="Times New Roman"/>
              </a:rPr>
              <a:t>FiLM</a:t>
            </a:r>
            <a:r>
              <a:rPr sz="1400" b="0">
                <a:solidFill>
                  <a:srgbClr val="222222"/>
                </a:solidFill>
                <a:latin typeface="B Nazanin"/>
              </a:rPr>
              <a:t> مقدار یک یعنی بازنمایی تقریباً بدون تغییر مقیاس باقی می‌ماند. نزدیک‌بودن </a:t>
            </a:r>
            <a:r>
              <a:rPr sz="1400" b="0">
                <a:solidFill>
                  <a:srgbClr val="222222"/>
                </a:solidFill>
                <a:latin typeface="Times New Roman"/>
              </a:rPr>
              <a:t>gamma</a:t>
            </a:r>
            <a:r>
              <a:rPr sz="1400" b="0">
                <a:solidFill>
                  <a:srgbClr val="222222"/>
                </a:solidFill>
                <a:latin typeface="B Nazanin"/>
              </a:rPr>
              <a:t> به یک و اثر بسیار کوچک حذف نشانگرها نشان می‌دهد مدل از مسیر شرطی‌سازی استفاده‌ی مؤثری نکرده است.</a:t>
            </a:r>
          </a:p>
          <a:p>
            <a:pPr rtl="1">
              <a:spcAft>
                <a:spcPts val="500"/>
              </a:spcAft>
            </a:pPr>
            <a:r>
              <a:rPr sz="1400" b="0">
                <a:solidFill>
                  <a:srgbClr val="222222"/>
                </a:solidFill>
                <a:latin typeface="B Nazanin"/>
              </a:rPr>
              <a:t>پرسش: آیا نتیجه‌ی منفی می‌تواند ناشی از تنظیم فراپارامتر باشد؟  پاسخ: بله، این احتمال کاملاً حذف نمی‌شود. بنابراین ادعا به تنظیم‌های آزموده‌شده محدود است. تکرار نتیجه در چند سازوکار باعث تقویت شواهد می‌شود، ولی حکم کلی درباره‌ی همه‌ی تنظیم‌ها نمی‌دهد.</a:t>
            </a:r>
          </a:p>
          <a:p>
            <a:pPr rtl="1">
              <a:spcAft>
                <a:spcPts val="500"/>
              </a:spcAft>
            </a:pPr>
            <a:r>
              <a:rPr sz="1400" b="0">
                <a:solidFill>
                  <a:srgbClr val="222222"/>
                </a:solidFill>
                <a:latin typeface="B Nazanin"/>
              </a:rPr>
              <a:t>پرسش: چرا اعداد </a:t>
            </a:r>
            <a:r>
              <a:rPr sz="1400" b="0">
                <a:solidFill>
                  <a:srgbClr val="222222"/>
                </a:solidFill>
                <a:latin typeface="Times New Roman"/>
              </a:rPr>
              <a:t>ROPDeepX</a:t>
            </a:r>
            <a:r>
              <a:rPr sz="1400" b="0">
                <a:solidFill>
                  <a:srgbClr val="222222"/>
                </a:solidFill>
                <a:latin typeface="B Nazanin"/>
              </a:rPr>
              <a:t> را بازتولید نکردید؟  پاسخ: هدف مرحله‌ی ۱۳ بازتولید مقاله نبود. داده، تنظیم آموزش و خروجی متفاوت بودند. معماری الهام‌گرفته‌شده به‌عنوان کنترل برای بررسی پایداری سود عروق استفاده شد.</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در منبع دیده‌نشده، جهت سود عروق در </a:t>
            </a:r>
            <a:r>
              <a:rPr sz="1400" b="0">
                <a:solidFill>
                  <a:srgbClr val="222222"/>
                </a:solidFill>
                <a:latin typeface="Times New Roman"/>
              </a:rPr>
              <a:t>FARFUM-RoP</a:t>
            </a:r>
            <a:r>
              <a:rPr sz="1400" b="0">
                <a:solidFill>
                  <a:srgbClr val="222222"/>
                </a:solidFill>
                <a:latin typeface="B Nazanin"/>
              </a:rPr>
              <a:t> و </a:t>
            </a:r>
            <a:r>
              <a:rPr sz="1400" b="0">
                <a:solidFill>
                  <a:srgbClr val="222222"/>
                </a:solidFill>
                <a:latin typeface="Times New Roman"/>
              </a:rPr>
              <a:t>Farabi</a:t>
            </a:r>
            <a:r>
              <a:rPr sz="1400" b="0">
                <a:solidFill>
                  <a:srgbClr val="222222"/>
                </a:solidFill>
                <a:latin typeface="B Nazanin"/>
              </a:rPr>
              <a:t> تکرار شد، اما عملکرد مطلق افت کرد و منبع </a:t>
            </a:r>
            <a:r>
              <a:rPr sz="1400" b="0">
                <a:solidFill>
                  <a:srgbClr val="222222"/>
                </a:solidFill>
                <a:latin typeface="Times New Roman"/>
              </a:rPr>
              <a:t>Plus</a:t>
            </a:r>
            <a:r>
              <a:rPr sz="1400" b="0">
                <a:solidFill>
                  <a:srgbClr val="222222"/>
                </a:solidFill>
                <a:latin typeface="B Nazanin"/>
              </a:rPr>
              <a:t> به دلیل نداشتن </a:t>
            </a:r>
            <a:r>
              <a:rPr sz="1400" b="0">
                <a:solidFill>
                  <a:srgbClr val="222222"/>
                </a:solidFill>
                <a:latin typeface="Times New Roman"/>
              </a:rPr>
              <a:t>Pre-Plus</a:t>
            </a:r>
            <a:r>
              <a:rPr sz="1400" b="0">
                <a:solidFill>
                  <a:srgbClr val="222222"/>
                </a:solidFill>
                <a:latin typeface="B Nazanin"/>
              </a:rPr>
              <a:t> با دو منبع دیگر قابل مقایسه نیست.</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سود </a:t>
            </a:r>
            <a:r>
              <a:rPr sz="1400" b="0">
                <a:solidFill>
                  <a:srgbClr val="222222"/>
                </a:solidFill>
                <a:latin typeface="Times New Roman"/>
              </a:rPr>
              <a:t>E</a:t>
            </a:r>
            <a:r>
              <a:rPr sz="1400" b="0">
                <a:solidFill>
                  <a:srgbClr val="222222"/>
                </a:solidFill>
                <a:latin typeface="B Nazanin"/>
              </a:rPr>
              <a:t> نسبت به </a:t>
            </a:r>
            <a:r>
              <a:rPr sz="1400" b="0">
                <a:solidFill>
                  <a:srgbClr val="222222"/>
                </a:solidFill>
                <a:latin typeface="Times New Roman"/>
              </a:rPr>
              <a:t>B</a:t>
            </a:r>
            <a:r>
              <a:rPr sz="1400" b="0">
                <a:solidFill>
                  <a:srgbClr val="222222"/>
                </a:solidFill>
                <a:latin typeface="B Nazanin"/>
              </a:rPr>
              <a:t> در </a:t>
            </a:r>
            <a:r>
              <a:rPr sz="1400" b="0">
                <a:solidFill>
                  <a:srgbClr val="222222"/>
                </a:solidFill>
                <a:latin typeface="Times New Roman"/>
              </a:rPr>
              <a:t>FARFUM</a:t>
            </a:r>
            <a:r>
              <a:rPr sz="1400" b="0">
                <a:solidFill>
                  <a:srgbClr val="222222"/>
                </a:solidFill>
                <a:latin typeface="B Nazanin"/>
              </a:rPr>
              <a:t> و فارابی تکرار شد، اما عملکرد مطلق به ۰٫۸۰۹۸ و ۰٫۷۸۲۹ افت کرد. این اسلاید باید نشان دهد که تکرار جهت اثر و آمادگی بالینی دو ادعای متفاوت‌اند.</a:t>
            </a:r>
          </a:p>
          <a:p>
            <a:pPr rtl="1">
              <a:spcAft>
                <a:spcPts val="500"/>
              </a:spcAft>
            </a:pPr>
            <a:r>
              <a:rPr sz="1400" b="0">
                <a:solidFill>
                  <a:srgbClr val="222222"/>
                </a:solidFill>
                <a:latin typeface="B Nazanin"/>
              </a:rPr>
              <a:t>تعمیم با آزمایش منبع‌کنارگذاشته بررسی شد. در </a:t>
            </a:r>
            <a:r>
              <a:rPr sz="1400" b="0">
                <a:solidFill>
                  <a:srgbClr val="222222"/>
                </a:solidFill>
                <a:latin typeface="Times New Roman"/>
              </a:rPr>
              <a:t>FARFUM</a:t>
            </a:r>
            <a:r>
              <a:rPr sz="1400" b="0">
                <a:solidFill>
                  <a:srgbClr val="222222"/>
                </a:solidFill>
                <a:latin typeface="B Nazanin"/>
              </a:rPr>
              <a:t>، </a:t>
            </a:r>
            <a:r>
              <a:rPr sz="1400" b="0">
                <a:solidFill>
                  <a:srgbClr val="222222"/>
                </a:solidFill>
                <a:latin typeface="Times New Roman"/>
              </a:rPr>
              <a:t>B</a:t>
            </a:r>
            <a:r>
              <a:rPr sz="1400" b="0">
                <a:solidFill>
                  <a:srgbClr val="222222"/>
                </a:solidFill>
                <a:latin typeface="B Nazanin"/>
              </a:rPr>
              <a:t> برابر ۰٫۷۸۷۵ و </a:t>
            </a:r>
            <a:r>
              <a:rPr sz="1400" b="0">
                <a:solidFill>
                  <a:srgbClr val="222222"/>
                </a:solidFill>
                <a:latin typeface="Times New Roman"/>
              </a:rPr>
              <a:t>E</a:t>
            </a:r>
            <a:r>
              <a:rPr sz="1400" b="0">
                <a:solidFill>
                  <a:srgbClr val="222222"/>
                </a:solidFill>
                <a:latin typeface="B Nazanin"/>
              </a:rPr>
              <a:t> برابر ۰٫۸۰۹۸ بود؛ سود </a:t>
            </a:r>
            <a:r>
              <a:rPr sz="1400" b="0">
                <a:solidFill>
                  <a:srgbClr val="222222"/>
                </a:solidFill>
                <a:latin typeface="Times New Roman"/>
              </a:rPr>
              <a:t>E-B</a:t>
            </a:r>
            <a:r>
              <a:rPr sz="1400" b="0">
                <a:solidFill>
                  <a:srgbClr val="222222"/>
                </a:solidFill>
                <a:latin typeface="B Nazanin"/>
              </a:rPr>
              <a:t> حدود ۰٫۰۲۲۲ و پشتیبانی‌شده بود. در فارابی، </a:t>
            </a:r>
            <a:r>
              <a:rPr sz="1400" b="0">
                <a:solidFill>
                  <a:srgbClr val="222222"/>
                </a:solidFill>
                <a:latin typeface="Times New Roman"/>
              </a:rPr>
              <a:t>B</a:t>
            </a:r>
            <a:r>
              <a:rPr sz="1400" b="0">
                <a:solidFill>
                  <a:srgbClr val="222222"/>
                </a:solidFill>
                <a:latin typeface="B Nazanin"/>
              </a:rPr>
              <a:t> برابر ۰٫۷۶۹۹ و </a:t>
            </a:r>
            <a:r>
              <a:rPr sz="1400" b="0">
                <a:solidFill>
                  <a:srgbClr val="222222"/>
                </a:solidFill>
                <a:latin typeface="Times New Roman"/>
              </a:rPr>
              <a:t>E</a:t>
            </a:r>
            <a:r>
              <a:rPr sz="1400" b="0">
                <a:solidFill>
                  <a:srgbClr val="222222"/>
                </a:solidFill>
                <a:latin typeface="B Nazanin"/>
              </a:rPr>
              <a:t> برابر ۰٫۷۸۲۹ بود؛ سود حدود ۰٫۰۱۳۰ نیز پشتیبانی شد. پس جهت مکمل‌بودن عروق در دو منبع سه‌کلاسه تکرار شد. در پلاس، مسئله فقط طبیعی در برابر پلاس بود و پیش‌پلاس وجود نداشت؛ </a:t>
            </a:r>
            <a:r>
              <a:rPr sz="1400" b="0">
                <a:solidFill>
                  <a:srgbClr val="222222"/>
                </a:solidFill>
                <a:latin typeface="Times New Roman"/>
              </a:rPr>
              <a:t>AUC</a:t>
            </a:r>
            <a:r>
              <a:rPr sz="1400" b="0">
                <a:solidFill>
                  <a:srgbClr val="222222"/>
                </a:solidFill>
                <a:latin typeface="B Nazanin"/>
              </a:rPr>
              <a:t>های حدود ۰٫۹۸۴ آن را نباید مستقیم با معیار سه‌کلاسه‌ی دو منبع دیگر مقایسه کرد.</a:t>
            </a:r>
          </a:p>
          <a:p>
            <a:pPr rtl="1">
              <a:spcAft>
                <a:spcPts val="500"/>
              </a:spcAft>
            </a:pPr>
            <a:r>
              <a:rPr sz="1400" b="0">
                <a:solidFill>
                  <a:srgbClr val="222222"/>
                </a:solidFill>
                <a:latin typeface="B Nazanin"/>
              </a:rPr>
              <a:t>در عین حال </a:t>
            </a:r>
            <a:r>
              <a:rPr sz="1400" b="0">
                <a:solidFill>
                  <a:srgbClr val="222222"/>
                </a:solidFill>
                <a:latin typeface="Times New Roman"/>
              </a:rPr>
              <a:t>E</a:t>
            </a:r>
            <a:r>
              <a:rPr sz="1400" b="0">
                <a:solidFill>
                  <a:srgbClr val="222222"/>
                </a:solidFill>
                <a:latin typeface="B Nazanin"/>
              </a:rPr>
              <a:t> از ۰٫۹۳۲۸ در آزمون آمیخته به ۰٫۸۰۹۸ و ۰٫۷۸۲۹ در منبع‌های کنارگذاشته افت کرد. این افت ۰٫۱۲ تا ۰٫۱۵ بسیار بزرگ‌تر از سود درون‌توزیع ۰٫۰۰۸ بود. بنابراین حتی اگر عروق مکمل باشند، جابه‌جایی دامنه مانع اصلی کاربرد است. تکرار جهت اثر با تعمیم کافی برای استقرار بالینی یکسان نیست.</a:t>
            </a:r>
          </a:p>
          <a:p>
            <a:pPr rtl="1">
              <a:spcAft>
                <a:spcPts val="500"/>
              </a:spcAft>
            </a:pPr>
            <a:r>
              <a:rPr sz="1400" b="0">
                <a:solidFill>
                  <a:srgbClr val="222222"/>
                </a:solidFill>
                <a:latin typeface="B Nazanin"/>
              </a:rPr>
              <a:t>تقسیم مرجع گروه‌مجزا از نشت هویت شناخته‌شده جلوگیری می‌کند، اما هر سه منبع تصویربرداری در آموزش و آزمون آن حضور دارند. بنابراین مدل در طول آموزش با سبک هر سه منبع آشناست. برای جداکردن عملکرد درون‌توزیع از انتقال بین‌منبعی، ارزیابی منبع‌کنارگذاشته انجام شد. در هر نوبت، یک منبع کامل برای آزمون کنار گذاشته شد و تمام مراحل برازش و انتخاب فقط با دو منبع دیگر انجام گرفت.</a:t>
            </a:r>
          </a:p>
          <a:p>
            <a:pPr rtl="1">
              <a:spcAft>
                <a:spcPts val="500"/>
              </a:spcAft>
            </a:pPr>
            <a:r>
              <a:rPr sz="1400" b="0">
                <a:solidFill>
                  <a:srgbClr val="222222"/>
                </a:solidFill>
                <a:latin typeface="B Nazanin"/>
              </a:rPr>
              <a:t>در </a:t>
            </a:r>
            <a:r>
              <a:rPr sz="1400" b="0">
                <a:solidFill>
                  <a:srgbClr val="222222"/>
                </a:solidFill>
                <a:latin typeface="Times New Roman"/>
              </a:rPr>
              <a:t>FARFUM-RoP</a:t>
            </a:r>
            <a:r>
              <a:rPr sz="1400" b="0">
                <a:solidFill>
                  <a:srgbClr val="222222"/>
                </a:solidFill>
                <a:latin typeface="B Nazanin"/>
              </a:rPr>
              <a:t>، سطح زیر منحنی مدل رنگی ۰٫۷۸۷۵ و مدل رنگی-عروقی ۰٫۸۰۹۸ بود. اختلاف حدود ۰٫۰۲۲۲ و بازه‌ی اطمینان آن کاملاً مثبت بود. در فارابی نیز اختلاف </a:t>
            </a:r>
            <a:r>
              <a:rPr sz="1400" b="0">
                <a:solidFill>
                  <a:srgbClr val="222222"/>
                </a:solidFill>
                <a:latin typeface="Times New Roman"/>
              </a:rPr>
              <a:t>E-B</a:t>
            </a:r>
            <a:r>
              <a:rPr sz="1400" b="0">
                <a:solidFill>
                  <a:srgbClr val="222222"/>
                </a:solidFill>
                <a:latin typeface="B Nazanin"/>
              </a:rPr>
              <a:t> حدود ۰٫۰۱۳۰ و بازه‌ی آن مثبت بود. بنابراین مکمل‌بودن بازنمایی عروق در دو منبع سه‌کلاسه‌ی دیده‌نشده تکرار شد.</a:t>
            </a:r>
          </a:p>
          <a:p>
            <a:pPr rtl="1">
              <a:spcAft>
                <a:spcPts val="500"/>
              </a:spcAft>
            </a:pPr>
            <a:r>
              <a:rPr sz="1400" b="0">
                <a:solidFill>
                  <a:srgbClr val="222222"/>
                </a:solidFill>
                <a:latin typeface="B Nazanin"/>
              </a:rPr>
              <a:t>بااین‌حال مهم‌ترین نتیجه فقط جهت سود عروق نیست. عملکرد مطلق </a:t>
            </a:r>
            <a:r>
              <a:rPr sz="1400" b="0">
                <a:solidFill>
                  <a:srgbClr val="222222"/>
                </a:solidFill>
                <a:latin typeface="Times New Roman"/>
              </a:rPr>
              <a:t>E</a:t>
            </a:r>
            <a:r>
              <a:rPr sz="1400" b="0">
                <a:solidFill>
                  <a:srgbClr val="222222"/>
                </a:solidFill>
                <a:latin typeface="B Nazanin"/>
              </a:rPr>
              <a:t> از ۰٫۹۳۲۸ در آزمون آمیخته به ۰٫۸۰۹۸ در </a:t>
            </a:r>
            <a:r>
              <a:rPr sz="1400" b="0">
                <a:solidFill>
                  <a:srgbClr val="222222"/>
                </a:solidFill>
                <a:latin typeface="Times New Roman"/>
              </a:rPr>
              <a:t>FARFUM</a:t>
            </a:r>
            <a:r>
              <a:rPr sz="1400" b="0">
                <a:solidFill>
                  <a:srgbClr val="222222"/>
                </a:solidFill>
                <a:latin typeface="B Nazanin"/>
              </a:rPr>
              <a:t> و ۰٫۷۸۲۹ در فارابی افت کرد. این کاهش حدود ۰٫۱۲ تا ۰٫۱۵ واحد از بهبود ۰٫۰۰۸ عروق در آزمون مرجع بسیار بزرگ‌تر است. پس مانع اصلی برای انتقال به کاربرد واقعی، جابه‌جایی منبع و تعمیم بین‌مرکزی است.</a:t>
            </a:r>
          </a:p>
          <a:p>
            <a:pPr rtl="1">
              <a:spcAft>
                <a:spcPts val="500"/>
              </a:spcAft>
            </a:pPr>
            <a:r>
              <a:rPr sz="1400" b="0">
                <a:solidFill>
                  <a:srgbClr val="222222"/>
                </a:solidFill>
                <a:latin typeface="B Nazanin"/>
              </a:rPr>
              <a:t>مجموعه‌ی پلاس کلاس پیش‌پلاس ندارد، بنابراین در نوبت کنارگذاری آن فقط معیار دودویی طبیعی در برابر پلاس گزارش شد. این عدد با سطح زیر منحنی سه‌کلاسه‌ی دو منبع دیگر هم‌مقیاس نیست و مقایسه‌ی مستقیم آن‌ها نادرست است.</a:t>
            </a:r>
          </a:p>
          <a:p>
            <a:pPr rtl="1">
              <a:spcAft>
                <a:spcPts val="500"/>
              </a:spcAft>
            </a:pPr>
            <a:r>
              <a:rPr sz="1400" b="0">
                <a:solidFill>
                  <a:srgbClr val="222222"/>
                </a:solidFill>
                <a:latin typeface="B Nazanin"/>
              </a:rPr>
              <a:t>همچنین </a:t>
            </a:r>
            <a:r>
              <a:rPr sz="1400" b="0">
                <a:solidFill>
                  <a:srgbClr val="222222"/>
                </a:solidFill>
                <a:latin typeface="Times New Roman"/>
              </a:rPr>
              <a:t>LOSO</a:t>
            </a:r>
            <a:r>
              <a:rPr sz="1400" b="0">
                <a:solidFill>
                  <a:srgbClr val="222222"/>
                </a:solidFill>
                <a:latin typeface="B Nazanin"/>
              </a:rPr>
              <a:t> را اعتبارسنجی خارجی کامل نمی‌نامم. این آزمون شبیه‌سازی انتقال به منبع دیده‌نشده است، اما هر سه منبع در کل فرایند توسعه‌ی پژوهش شناخته‌شده بودند. برای ادعای اعتبار بالینی به یک مرکز مستقل، پروتکل از پیش ثبت‌شده و ارزیابی آینده‌نگر نیاز داریم.</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اگر عملکرد پلاس ۰٫۹۸ است، چرا می‌گویید تعمیم ضعیف است؟  پاسخ: چون آن معیار دودویی طبیعی در برابر پلاس است و پیش‌پلاس در منبع وجود ندارد. با معیار سه‌کلاسه‌ی دو منبع دیگر قابل مقایسه نیست.</a:t>
            </a:r>
          </a:p>
          <a:p>
            <a:pPr rtl="1">
              <a:spcAft>
                <a:spcPts val="500"/>
              </a:spcAft>
            </a:pPr>
            <a:r>
              <a:rPr sz="1400" b="0">
                <a:solidFill>
                  <a:srgbClr val="222222"/>
                </a:solidFill>
                <a:latin typeface="B Nazanin"/>
              </a:rPr>
              <a:t>پرسش: آیا </a:t>
            </a:r>
            <a:r>
              <a:rPr sz="1400" b="0">
                <a:solidFill>
                  <a:srgbClr val="222222"/>
                </a:solidFill>
                <a:latin typeface="Times New Roman"/>
              </a:rPr>
              <a:t>LOSO</a:t>
            </a:r>
            <a:r>
              <a:rPr sz="1400" b="0">
                <a:solidFill>
                  <a:srgbClr val="222222"/>
                </a:solidFill>
                <a:latin typeface="B Nazanin"/>
              </a:rPr>
              <a:t> ثابت می‌کند مدل روی هر مرکز جدیدی کار می‌کند؟  پاسخ: خیر. فقط سه منبع موجود را بررسی می‌کند. مرکز جدید ممکن است دوربین، شیوع، کیفیت یا فرایند برچسب‌گذاری متفاوتی داشته باشد.</a:t>
            </a:r>
          </a:p>
          <a:p>
            <a:pPr rtl="1">
              <a:spcAft>
                <a:spcPts val="500"/>
              </a:spcAft>
            </a:pPr>
            <a:r>
              <a:rPr sz="1400" b="0">
                <a:solidFill>
                  <a:srgbClr val="222222"/>
                </a:solidFill>
                <a:latin typeface="B Nazanin"/>
              </a:rPr>
              <a:t>پرسش: مهم‌تر است که </a:t>
            </a:r>
            <a:r>
              <a:rPr sz="1400" b="0">
                <a:solidFill>
                  <a:srgbClr val="222222"/>
                </a:solidFill>
                <a:latin typeface="Times New Roman"/>
              </a:rPr>
              <a:t>E-B</a:t>
            </a:r>
            <a:r>
              <a:rPr sz="1400" b="0">
                <a:solidFill>
                  <a:srgbClr val="222222"/>
                </a:solidFill>
                <a:latin typeface="B Nazanin"/>
              </a:rPr>
              <a:t> مثبت بود یا عملکرد مطلق افت کرد؟  پاسخ: هر دو مهم‌اند، ولی برای کاربرد بالینی افت مطلق بزرگ‌تر اولویت دارد. عروق مکمل‌اند، اما مشکل انتقال را حل نکرده‌اند.</a:t>
            </a:r>
          </a:p>
          <a:p>
            <a:pPr rtl="1">
              <a:spcAft>
                <a:spcPts val="500"/>
              </a:spcAft>
            </a:pPr>
            <a:r>
              <a:rPr sz="1400" b="0">
                <a:solidFill>
                  <a:srgbClr val="222222"/>
                </a:solidFill>
                <a:latin typeface="B Nazanin"/>
              </a:rPr>
              <a:t>پرسش: ۱۶. چرا در </a:t>
            </a:r>
            <a:r>
              <a:rPr sz="1400" b="0">
                <a:solidFill>
                  <a:srgbClr val="222222"/>
                </a:solidFill>
                <a:latin typeface="Times New Roman"/>
              </a:rPr>
              <a:t>LOSO</a:t>
            </a:r>
            <a:r>
              <a:rPr sz="1400" b="0">
                <a:solidFill>
                  <a:srgbClr val="222222"/>
                </a:solidFill>
                <a:latin typeface="B Nazanin"/>
              </a:rPr>
              <a:t> عملکرد افت کرد؟  پاسخ: منابع از نظر دوربین، وضوح، جمعیت، توزیع کلاس و شرایط تصویربرداری متفاوت‌اند. مدل بخشی از الگوهای منبع را یاد گرفته و انتقال مفهوم بیماری به منبع جدید دشوارتر است.</a:t>
            </a:r>
          </a:p>
          <a:p>
            <a:pPr rtl="1">
              <a:spcAft>
                <a:spcPts val="500"/>
              </a:spcAft>
            </a:pPr>
            <a:r>
              <a:rPr sz="1400" b="0">
                <a:solidFill>
                  <a:srgbClr val="222222"/>
                </a:solidFill>
                <a:latin typeface="B Nazanin"/>
              </a:rPr>
              <a:t>پرسش: ۱۷. آیا </a:t>
            </a:r>
            <a:r>
              <a:rPr sz="1400" b="0">
                <a:solidFill>
                  <a:srgbClr val="222222"/>
                </a:solidFill>
                <a:latin typeface="Times New Roman"/>
              </a:rPr>
              <a:t>LOSO</a:t>
            </a:r>
            <a:r>
              <a:rPr sz="1400" b="0">
                <a:solidFill>
                  <a:srgbClr val="222222"/>
                </a:solidFill>
                <a:latin typeface="B Nazanin"/>
              </a:rPr>
              <a:t> اعتبارسنجی خارجی است؟  پاسخ: یک آزمون انتقال قوی‌تر از تقسیم آمیخته است، اما اعتبارسنجی خارجی کامل نیست؛ زیرا هر سه منبع در طراحی و تحلیل پژوهش شناخته‌شده بودند.</a:t>
            </a:r>
          </a:p>
          <a:p>
            <a:pPr rtl="1">
              <a:spcAft>
                <a:spcPts val="500"/>
              </a:spcAft>
            </a:pPr>
            <a:r>
              <a:rPr sz="1400" b="0">
                <a:solidFill>
                  <a:srgbClr val="222222"/>
                </a:solidFill>
                <a:latin typeface="B Nazanin"/>
              </a:rPr>
              <a:t>پرسش: ۱۸. چرا معیار پلاس با دو منبع دیگر قابل مقایسه نیست؟  پاسخ: مجموعه‌ی پلاس کلاس پیش‌پلاس ندارد. معیار آن دودویی طبیعی در برابر پلاس است، در حالی که معیار دو منبع دیگر سه‌کلاسه است.</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جابه‌جایی دامنه اندازه‌گیری شد، نه فرض: بازنمایی عروق بیشترین جابه‌جایی را داشت و همان بازنمایی بیشترین سود را داد.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افت عملکرد در منبع دیده‌نشده نشان داد بازنمایی‌ها نسبت به شرایط تصویربرداری حساس‌اند. برای اندازه‌گیری این موضوع، اختلاف میانگین استانداردشده‌ی مؤلفه‌ها، فاصله‌ی مرکز توزیع و قابلیت پیش‌بینی منبع بررسی شد. بازنمایی عروق با وجود مکمل‌بودن برای بیماری، ناوردا نسبت به منبع نبود. برای مثال در مجموعه‌ی پلاس میانه‌ی قدرمطلق اختلاف استانداردشده در بازنمایی عروق ۱٫۲۲۹ و در بازنمایی رنگی ۰٫۵۴۱ بود.</a:t>
            </a:r>
          </a:p>
          <a:p>
            <a:pPr rtl="1">
              <a:spcAft>
                <a:spcPts val="500"/>
              </a:spcAft>
            </a:pPr>
            <a:r>
              <a:rPr sz="1400" b="0">
                <a:solidFill>
                  <a:srgbClr val="222222"/>
                </a:solidFill>
                <a:latin typeface="B Nazanin"/>
              </a:rPr>
              <a:t>برای کاهش این وابستگی، مدل </a:t>
            </a:r>
            <a:r>
              <a:rPr sz="1400" b="0">
                <a:solidFill>
                  <a:srgbClr val="222222"/>
                </a:solidFill>
                <a:latin typeface="Times New Roman"/>
              </a:rPr>
              <a:t>K1</a:t>
            </a:r>
            <a:r>
              <a:rPr sz="1400" b="0">
                <a:solidFill>
                  <a:srgbClr val="222222"/>
                </a:solidFill>
                <a:latin typeface="B Nazanin"/>
              </a:rPr>
              <a:t> از دو سازوکار استفاده کرد. نخست </a:t>
            </a:r>
            <a:r>
              <a:rPr sz="1400" b="0">
                <a:solidFill>
                  <a:srgbClr val="222222"/>
                </a:solidFill>
                <a:latin typeface="Times New Roman"/>
              </a:rPr>
              <a:t>DANN</a:t>
            </a:r>
            <a:r>
              <a:rPr sz="1400" b="0">
                <a:solidFill>
                  <a:srgbClr val="222222"/>
                </a:solidFill>
                <a:latin typeface="B Nazanin"/>
              </a:rPr>
              <a:t> با لایه‌ی وارون‌سازی گرادیان که استخراج‌کننده را وادار می‌کند بازنمایی مفید برای بیماری ولی نامناسب برای تشخیص منبع تولید کند. دوم </a:t>
            </a:r>
            <a:r>
              <a:rPr sz="1400" b="0">
                <a:solidFill>
                  <a:srgbClr val="222222"/>
                </a:solidFill>
                <a:latin typeface="Times New Roman"/>
              </a:rPr>
              <a:t>MMD</a:t>
            </a:r>
            <a:r>
              <a:rPr sz="1400" b="0">
                <a:solidFill>
                  <a:srgbClr val="222222"/>
                </a:solidFill>
                <a:latin typeface="B Nazanin"/>
              </a:rPr>
              <a:t> شرطی به کلاس که فاصله‌ی توزیع بازنمایی‌ها را درون کلاس‌ها کاهش می‌دهد. تابع هدف بیماری، خطای دامنه و فاصله‌ی </a:t>
            </a:r>
            <a:r>
              <a:rPr sz="1400" b="0">
                <a:solidFill>
                  <a:srgbClr val="222222"/>
                </a:solidFill>
                <a:latin typeface="Times New Roman"/>
              </a:rPr>
              <a:t>MMD</a:t>
            </a:r>
            <a:r>
              <a:rPr sz="1400" b="0">
                <a:solidFill>
                  <a:srgbClr val="222222"/>
                </a:solidFill>
                <a:latin typeface="B Nazanin"/>
              </a:rPr>
              <a:t> را با ضرایب ثابت ترکیب کرد.</a:t>
            </a:r>
          </a:p>
          <a:p>
            <a:pPr rtl="1">
              <a:spcAft>
                <a:spcPts val="500"/>
              </a:spcAft>
            </a:pPr>
            <a:r>
              <a:rPr sz="1400" b="0">
                <a:solidFill>
                  <a:srgbClr val="222222"/>
                </a:solidFill>
                <a:latin typeface="B Nazanin"/>
              </a:rPr>
              <a:t>تحلیل دامنه نیز این نگرانی را پشتیبانی کرد. اختلاف استانداردشده‌ی ویژگی‌ها میان منبع‌ها قابل توجه بود و یک طبقه‌بند منبع می‌توانست با عملکرد حدود ۰٫۸۸ تا ۰٫۹۸ منبع تصویر را پیش‌بینی کند. یعنی بازنمایی‌ها علاوه بر بیماری، اثر دوربین، مرکز، جمعیت و شرایط تصویربرداری را حمل می‌کردند.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اگر </a:t>
            </a:r>
            <a:r>
              <a:rPr sz="1400" b="0">
                <a:solidFill>
                  <a:srgbClr val="222222"/>
                </a:solidFill>
                <a:latin typeface="Times New Roman"/>
              </a:rPr>
              <a:t>SMD</a:t>
            </a:r>
            <a:r>
              <a:rPr sz="1400" b="0">
                <a:solidFill>
                  <a:srgbClr val="222222"/>
                </a:solidFill>
                <a:latin typeface="B Nazanin"/>
              </a:rPr>
              <a:t> کمتر شد چرا عملکرد بهتر نشد؟  پاسخ: زیرا </a:t>
            </a:r>
            <a:r>
              <a:rPr sz="1400" b="0">
                <a:solidFill>
                  <a:srgbClr val="222222"/>
                </a:solidFill>
                <a:latin typeface="Times New Roman"/>
              </a:rPr>
              <a:t>SMD</a:t>
            </a:r>
            <a:r>
              <a:rPr sz="1400" b="0">
                <a:solidFill>
                  <a:srgbClr val="222222"/>
                </a:solidFill>
                <a:latin typeface="B Nazanin"/>
              </a:rPr>
              <a:t> فقط فاصله‌ی توصیفی مؤلفه‌ها را اندازه می‌گیرد. هم‌ترازکردن توزیع ممکن است اطلاعات مفید بیماری را نیز حذف کند یا مشکل اصلی در تغییر رابطه‌ی تصویر و برچسب باشد.</a:t>
            </a:r>
          </a:p>
          <a:p>
            <a:pPr rtl="1">
              <a:spcAft>
                <a:spcPts val="500"/>
              </a:spcAft>
            </a:pPr>
            <a:r>
              <a:rPr sz="1400" b="0">
                <a:solidFill>
                  <a:srgbClr val="222222"/>
                </a:solidFill>
                <a:latin typeface="B Nazanin"/>
              </a:rPr>
              <a:t>پرسش: آیا بازنمایی عروق به دلیل </a:t>
            </a:r>
            <a:r>
              <a:rPr sz="1400" b="0">
                <a:solidFill>
                  <a:srgbClr val="222222"/>
                </a:solidFill>
                <a:latin typeface="Times New Roman"/>
              </a:rPr>
              <a:t>SMD</a:t>
            </a:r>
            <a:r>
              <a:rPr sz="1400" b="0">
                <a:solidFill>
                  <a:srgbClr val="222222"/>
                </a:solidFill>
                <a:latin typeface="B Nazanin"/>
              </a:rPr>
              <a:t> بزرگ نامناسب است؟  پاسخ: خیر. همان بازنمایی برای بیماری اطلاعات مکمل داشت. یک نمایش می‌تواند هم‌زمان اطلاعات بیماری و منبع را حمل کند.</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کنترل علّی: با </a:t>
            </a:r>
            <a:r>
              <a:rPr sz="1400" b="0">
                <a:solidFill>
                  <a:srgbClr val="222222"/>
                </a:solidFill>
                <a:latin typeface="Times New Roman"/>
              </a:rPr>
              <a:t>DANN</a:t>
            </a:r>
            <a:r>
              <a:rPr sz="1400" b="0">
                <a:solidFill>
                  <a:srgbClr val="222222"/>
                </a:solidFill>
                <a:latin typeface="B Nazanin"/>
              </a:rPr>
              <a:t>+</a:t>
            </a:r>
            <a:r>
              <a:rPr sz="1400" b="0">
                <a:solidFill>
                  <a:srgbClr val="222222"/>
                </a:solidFill>
                <a:latin typeface="Times New Roman"/>
              </a:rPr>
              <a:t>MMD</a:t>
            </a:r>
            <a:r>
              <a:rPr sz="1400" b="0">
                <a:solidFill>
                  <a:srgbClr val="222222"/>
                </a:solidFill>
                <a:latin typeface="B Nazanin"/>
              </a:rPr>
              <a:t> بعضی شاخص‌های جابه‌جایی کاهش یافت، اما عملکرد بیماری بهبود نیافت؛ پس کاهش فاصله‌ی بازنمایی الزاماً انتقال اطلاعات بیماری نیست.</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نتیجه نشان داد بعضی شاخص‌های هندسی جابه‌جایی کاهش یافتند، ولی پیش‌بینی‌پذیری منبع همچنان بالا باقی ماند و سطح زیر منحنی بیماری در </a:t>
            </a:r>
            <a:r>
              <a:rPr sz="1400" b="0">
                <a:solidFill>
                  <a:srgbClr val="222222"/>
                </a:solidFill>
                <a:latin typeface="Times New Roman"/>
              </a:rPr>
              <a:t>FARFUM</a:t>
            </a:r>
            <a:r>
              <a:rPr sz="1400" b="0">
                <a:solidFill>
                  <a:srgbClr val="222222"/>
                </a:solidFill>
                <a:latin typeface="B Nazanin"/>
              </a:rPr>
              <a:t> و فارابی بهتر نشد. در نوبت پلاس نیز افزایش بسیار کوچک دودویی با بدترشدن بریر و </a:t>
            </a:r>
            <a:r>
              <a:rPr sz="1400" b="0">
                <a:solidFill>
                  <a:srgbClr val="222222"/>
                </a:solidFill>
                <a:latin typeface="Times New Roman"/>
              </a:rPr>
              <a:t>F1</a:t>
            </a:r>
            <a:r>
              <a:rPr sz="1400" b="0">
                <a:solidFill>
                  <a:srgbClr val="222222"/>
                </a:solidFill>
                <a:latin typeface="B Nazanin"/>
              </a:rPr>
              <a:t> همراه بود.</a:t>
            </a:r>
          </a:p>
          <a:p>
            <a:pPr rtl="1">
              <a:spcAft>
                <a:spcPts val="500"/>
              </a:spcAft>
            </a:pPr>
            <a:r>
              <a:rPr sz="1400" b="0">
                <a:solidFill>
                  <a:srgbClr val="222222"/>
                </a:solidFill>
                <a:latin typeface="B Nazanin"/>
              </a:rPr>
              <a:t>این آزمایش نشان می‌دهد نزدیک‌شدن توزیع‌ها در فضای بازنمایی الزاماً به بهترشدن مرز تصمیم بیماری منجر نمی‌شود. ممکن است اطلاعات منبع با اطلاعات بیماری هم‌بسته باشد یا تنظیم ضرایب و تعریف دامنه مناسب نباشد. نتیجه‌ی من رد کلی سازگارسازی دامنه نیست؛ فقط نشان می‌دهد این پیکربندی ثابت نتوانست پیامد بیماری را بهتر کند.</a:t>
            </a:r>
          </a:p>
          <a:p>
            <a:pPr rtl="1">
              <a:spcAft>
                <a:spcPts val="500"/>
              </a:spcAft>
            </a:pPr>
            <a:r>
              <a:rPr sz="1400" b="0">
                <a:solidFill>
                  <a:srgbClr val="222222"/>
                </a:solidFill>
                <a:latin typeface="B Nazanin"/>
              </a:rPr>
              <a:t>روش </a:t>
            </a:r>
            <a:r>
              <a:rPr sz="1400" b="0">
                <a:solidFill>
                  <a:srgbClr val="222222"/>
                </a:solidFill>
                <a:latin typeface="Times New Roman"/>
              </a:rPr>
              <a:t>CC-DANN</a:t>
            </a:r>
            <a:r>
              <a:rPr sz="1400" b="0">
                <a:solidFill>
                  <a:srgbClr val="222222"/>
                </a:solidFill>
                <a:latin typeface="B Nazanin"/>
              </a:rPr>
              <a:t>+</a:t>
            </a:r>
            <a:r>
              <a:rPr sz="1400" b="0">
                <a:solidFill>
                  <a:srgbClr val="222222"/>
                </a:solidFill>
                <a:latin typeface="Times New Roman"/>
              </a:rPr>
              <a:t>MMD</a:t>
            </a:r>
            <a:r>
              <a:rPr sz="1400" b="0">
                <a:solidFill>
                  <a:srgbClr val="222222"/>
                </a:solidFill>
                <a:latin typeface="B Nazanin"/>
              </a:rPr>
              <a:t> تلاش کرد با یک زیان بیماری، یک تمایزگر دامنه و فاصله‌ی </a:t>
            </a:r>
            <a:r>
              <a:rPr sz="1400" b="0">
                <a:solidFill>
                  <a:srgbClr val="222222"/>
                </a:solidFill>
                <a:latin typeface="Times New Roman"/>
              </a:rPr>
              <a:t>MMD</a:t>
            </a:r>
            <a:r>
              <a:rPr sz="1400" b="0">
                <a:solidFill>
                  <a:srgbClr val="222222"/>
                </a:solidFill>
                <a:latin typeface="B Nazanin"/>
              </a:rPr>
              <a:t> بازنمایی‌های منبع را نزدیک کند. اما در تنظیم ثابت بررسی‌شده، </a:t>
            </a:r>
            <a:r>
              <a:rPr sz="1400" b="0">
                <a:solidFill>
                  <a:srgbClr val="222222"/>
                </a:solidFill>
                <a:latin typeface="Times New Roman"/>
              </a:rPr>
              <a:t>AUC</a:t>
            </a:r>
            <a:r>
              <a:rPr sz="1400" b="0">
                <a:solidFill>
                  <a:srgbClr val="222222"/>
                </a:solidFill>
                <a:latin typeface="B Nazanin"/>
              </a:rPr>
              <a:t> بیماری در </a:t>
            </a:r>
            <a:r>
              <a:rPr sz="1400" b="0">
                <a:solidFill>
                  <a:srgbClr val="222222"/>
                </a:solidFill>
                <a:latin typeface="Times New Roman"/>
              </a:rPr>
              <a:t>FARFUM</a:t>
            </a:r>
            <a:r>
              <a:rPr sz="1400" b="0">
                <a:solidFill>
                  <a:srgbClr val="222222"/>
                </a:solidFill>
                <a:latin typeface="B Nazanin"/>
              </a:rPr>
              <a:t> و فارابی کمی کاهش یافت و در پلاس افزایش بسیار کوچک همراه با بدترشدن بعضی معیارها بود. نتیجه رد کل سازگارسازی دامنه نیست؛ نشان می‌دهد نزدیک‌کردن هندسی توزیع‌ها لزوماً مرز تصمیم بیماری را بهتر نمی‌کند، به‌خصوص وقتی منبع و برچسب هم‌بسته‌اند.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چرا نمی‌گویید </a:t>
            </a:r>
            <a:r>
              <a:rPr sz="1400" b="0">
                <a:solidFill>
                  <a:srgbClr val="222222"/>
                </a:solidFill>
                <a:latin typeface="Times New Roman"/>
              </a:rPr>
              <a:t>DANN</a:t>
            </a:r>
            <a:r>
              <a:rPr sz="1400" b="0">
                <a:solidFill>
                  <a:srgbClr val="222222"/>
                </a:solidFill>
                <a:latin typeface="B Nazanin"/>
              </a:rPr>
              <a:t> شکست خورده است؟  پاسخ: فقط یک تنظیم با ضرایب و تعریف دامنه‌ی مشخص بررسی شد. نتیجه درباره‌ی همان پیکربندی است، نه تمام روش‌های خصمانه یا تمام فراپارامترها.</a:t>
            </a:r>
          </a:p>
          <a:p>
            <a:pPr rtl="1">
              <a:spcAft>
                <a:spcPts val="500"/>
              </a:spcAft>
            </a:pPr>
            <a:r>
              <a:rPr sz="1400" b="0">
                <a:solidFill>
                  <a:srgbClr val="222222"/>
                </a:solidFill>
                <a:latin typeface="B Nazanin"/>
              </a:rPr>
              <a:t>پرسش: ۱۹. چرا </a:t>
            </a:r>
            <a:r>
              <a:rPr sz="1400" b="0">
                <a:solidFill>
                  <a:srgbClr val="222222"/>
                </a:solidFill>
                <a:latin typeface="Times New Roman"/>
              </a:rPr>
              <a:t>DANN</a:t>
            </a:r>
            <a:r>
              <a:rPr sz="1400" b="0">
                <a:solidFill>
                  <a:srgbClr val="222222"/>
                </a:solidFill>
                <a:latin typeface="B Nazanin"/>
              </a:rPr>
              <a:t>+</a:t>
            </a:r>
            <a:r>
              <a:rPr sz="1400" b="0">
                <a:solidFill>
                  <a:srgbClr val="222222"/>
                </a:solidFill>
                <a:latin typeface="Times New Roman"/>
              </a:rPr>
              <a:t>MMD</a:t>
            </a:r>
            <a:r>
              <a:rPr sz="1400" b="0">
                <a:solidFill>
                  <a:srgbClr val="222222"/>
                </a:solidFill>
                <a:latin typeface="B Nazanin"/>
              </a:rPr>
              <a:t> نتیجه نداد؟  پاسخ: کاهش فاصله‌ی بازنمایی الزاماً اطلاعات بیماری را حفظ نمی‌کند. ممکن است منبع و بیماری هم‌بسته باشند، ضرایب مناسب نباشند یا نوع جابه‌جایی فقط هم‌متغیر نباشد. نتیجه فقط درباره‌ی تنظیم ثابت بررسی‌شده است.</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کنترل معماری: </a:t>
            </a:r>
            <a:r>
              <a:rPr sz="1400" b="0">
                <a:solidFill>
                  <a:srgbClr val="222222"/>
                </a:solidFill>
                <a:latin typeface="Times New Roman"/>
              </a:rPr>
              <a:t>M0</a:t>
            </a:r>
            <a:r>
              <a:rPr sz="1400" b="0">
                <a:solidFill>
                  <a:srgbClr val="222222"/>
                </a:solidFill>
                <a:latin typeface="B Nazanin"/>
              </a:rPr>
              <a:t> فقط‌رنگی از </a:t>
            </a:r>
            <a:r>
              <a:rPr sz="1400" b="0">
                <a:solidFill>
                  <a:srgbClr val="222222"/>
                </a:solidFill>
                <a:latin typeface="Times New Roman"/>
              </a:rPr>
              <a:t>B</a:t>
            </a:r>
            <a:r>
              <a:rPr sz="1400" b="0">
                <a:solidFill>
                  <a:srgbClr val="222222"/>
                </a:solidFill>
                <a:latin typeface="B Nazanin"/>
              </a:rPr>
              <a:t> ضعیف‌تر شد، ولی </a:t>
            </a:r>
            <a:r>
              <a:rPr sz="1400" b="0">
                <a:solidFill>
                  <a:srgbClr val="222222"/>
                </a:solidFill>
                <a:latin typeface="Times New Roman"/>
              </a:rPr>
              <a:t>M1</a:t>
            </a:r>
            <a:r>
              <a:rPr sz="1400" b="0">
                <a:solidFill>
                  <a:srgbClr val="222222"/>
                </a:solidFill>
                <a:latin typeface="B Nazanin"/>
              </a:rPr>
              <a:t> نسبت به </a:t>
            </a:r>
            <a:r>
              <a:rPr sz="1400" b="0">
                <a:solidFill>
                  <a:srgbClr val="222222"/>
                </a:solidFill>
                <a:latin typeface="Times New Roman"/>
              </a:rPr>
              <a:t>M0</a:t>
            </a:r>
            <a:r>
              <a:rPr sz="1400" b="0">
                <a:solidFill>
                  <a:srgbClr val="222222"/>
                </a:solidFill>
                <a:latin typeface="B Nazanin"/>
              </a:rPr>
              <a:t> حدود ۰٫۰۲۰۹ بهبود پشتیبانی‌شده داشت؛ پس سود عروق به معماری تصویری خاص گره نخورده است. وزن توجه فقط توصیفی تفسیر می‌شود.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یکی از توضیحات جایگزین برای نتیجه‌ی </a:t>
            </a:r>
            <a:r>
              <a:rPr sz="1400" b="0">
                <a:solidFill>
                  <a:srgbClr val="222222"/>
                </a:solidFill>
                <a:latin typeface="Times New Roman"/>
              </a:rPr>
              <a:t>E-B</a:t>
            </a:r>
            <a:r>
              <a:rPr sz="1400" b="0">
                <a:solidFill>
                  <a:srgbClr val="222222"/>
                </a:solidFill>
                <a:latin typeface="B Nazanin"/>
              </a:rPr>
              <a:t> این بود که سود عروق شاید فقط به ضعف یا ویژگی خاص خط پایه‌ی </a:t>
            </a:r>
            <a:r>
              <a:rPr sz="1400" b="0">
                <a:solidFill>
                  <a:srgbClr val="222222"/>
                </a:solidFill>
                <a:latin typeface="Times New Roman"/>
              </a:rPr>
              <a:t>EfficientNet-B5</a:t>
            </a:r>
            <a:r>
              <a:rPr sz="1400" b="0">
                <a:solidFill>
                  <a:srgbClr val="222222"/>
                </a:solidFill>
                <a:latin typeface="B Nazanin"/>
              </a:rPr>
              <a:t> وابسته باشد. برای بررسی این احتمال، در مرحله‌ی ۱۳ یک بازنمایی رنگی متفاوت با دو ستون فقرات </a:t>
            </a:r>
            <a:r>
              <a:rPr sz="1400" b="0">
                <a:solidFill>
                  <a:srgbClr val="222222"/>
                </a:solidFill>
                <a:latin typeface="Times New Roman"/>
              </a:rPr>
              <a:t>ResNet50</a:t>
            </a:r>
            <a:r>
              <a:rPr sz="1400" b="0">
                <a:solidFill>
                  <a:srgbClr val="222222"/>
                </a:solidFill>
                <a:latin typeface="B Nazanin"/>
              </a:rPr>
              <a:t> و </a:t>
            </a:r>
            <a:r>
              <a:rPr sz="1400" b="0">
                <a:solidFill>
                  <a:srgbClr val="222222"/>
                </a:solidFill>
                <a:latin typeface="Times New Roman"/>
              </a:rPr>
              <a:t>EfficientNet-B4</a:t>
            </a:r>
            <a:r>
              <a:rPr sz="1400" b="0">
                <a:solidFill>
                  <a:srgbClr val="222222"/>
                </a:solidFill>
                <a:latin typeface="B Nazanin"/>
              </a:rPr>
              <a:t> و سازوکار توجه نرم ساخته شد.</a:t>
            </a:r>
          </a:p>
          <a:p>
            <a:pPr rtl="1">
              <a:spcAft>
                <a:spcPts val="500"/>
              </a:spcAft>
            </a:pPr>
            <a:r>
              <a:rPr sz="1400" b="0">
                <a:solidFill>
                  <a:srgbClr val="222222"/>
                </a:solidFill>
                <a:latin typeface="B Nazanin"/>
              </a:rPr>
              <a:t>مدل </a:t>
            </a:r>
            <a:r>
              <a:rPr sz="1400" b="0">
                <a:solidFill>
                  <a:srgbClr val="222222"/>
                </a:solidFill>
                <a:latin typeface="Times New Roman"/>
              </a:rPr>
              <a:t>M0</a:t>
            </a:r>
            <a:r>
              <a:rPr sz="1400" b="0">
                <a:solidFill>
                  <a:srgbClr val="222222"/>
                </a:solidFill>
                <a:latin typeface="B Nazanin"/>
              </a:rPr>
              <a:t> کنترل فقط‌رنگی این معماری بود و مدل </a:t>
            </a:r>
            <a:r>
              <a:rPr sz="1400" b="0">
                <a:solidFill>
                  <a:srgbClr val="222222"/>
                </a:solidFill>
                <a:latin typeface="Times New Roman"/>
              </a:rPr>
              <a:t>M1</a:t>
            </a:r>
            <a:r>
              <a:rPr sz="1400" b="0">
                <a:solidFill>
                  <a:srgbClr val="222222"/>
                </a:solidFill>
                <a:latin typeface="B Nazanin"/>
              </a:rPr>
              <a:t> همان معماری را همراه بازنمایی ۱۷۹۲بعدی عروق استفاده کرد. ابتدا </a:t>
            </a:r>
            <a:r>
              <a:rPr sz="1400" b="0">
                <a:solidFill>
                  <a:srgbClr val="222222"/>
                </a:solidFill>
                <a:latin typeface="Times New Roman"/>
              </a:rPr>
              <a:t>M0</a:t>
            </a:r>
            <a:r>
              <a:rPr sz="1400" b="0">
                <a:solidFill>
                  <a:srgbClr val="222222"/>
                </a:solidFill>
                <a:latin typeface="B Nazanin"/>
              </a:rPr>
              <a:t> با </a:t>
            </a:r>
            <a:r>
              <a:rPr sz="1400" b="0">
                <a:solidFill>
                  <a:srgbClr val="222222"/>
                </a:solidFill>
                <a:latin typeface="Times New Roman"/>
              </a:rPr>
              <a:t>B</a:t>
            </a:r>
            <a:r>
              <a:rPr sz="1400" b="0">
                <a:solidFill>
                  <a:srgbClr val="222222"/>
                </a:solidFill>
                <a:latin typeface="B Nazanin"/>
              </a:rPr>
              <a:t> مقایسه شد. </a:t>
            </a:r>
            <a:r>
              <a:rPr sz="1400" b="0">
                <a:solidFill>
                  <a:srgbClr val="222222"/>
                </a:solidFill>
                <a:latin typeface="Times New Roman"/>
              </a:rPr>
              <a:t>M0</a:t>
            </a:r>
            <a:r>
              <a:rPr sz="1400" b="0">
                <a:solidFill>
                  <a:srgbClr val="222222"/>
                </a:solidFill>
                <a:latin typeface="B Nazanin"/>
              </a:rPr>
              <a:t> سطح زیر منحنی ۰٫۹۰۶۰ داشت و حدود ۰٫۰۱۸۹ از </a:t>
            </a:r>
            <a:r>
              <a:rPr sz="1400" b="0">
                <a:solidFill>
                  <a:srgbClr val="222222"/>
                </a:solidFill>
                <a:latin typeface="Times New Roman"/>
              </a:rPr>
              <a:t>B</a:t>
            </a:r>
            <a:r>
              <a:rPr sz="1400" b="0">
                <a:solidFill>
                  <a:srgbClr val="222222"/>
                </a:solidFill>
                <a:latin typeface="B Nazanin"/>
              </a:rPr>
              <a:t> ضعیف‌تر بود. بنابراین پیچیده‌ترشدن معماری رنگی در این پروتکل بهبود ایجاد نکرد.</a:t>
            </a:r>
          </a:p>
          <a:p>
            <a:pPr rtl="1">
              <a:spcAft>
                <a:spcPts val="500"/>
              </a:spcAft>
            </a:pPr>
            <a:r>
              <a:rPr sz="1400" b="0">
                <a:solidFill>
                  <a:srgbClr val="222222"/>
                </a:solidFill>
                <a:latin typeface="B Nazanin"/>
              </a:rPr>
              <a:t>سپس </a:t>
            </a:r>
            <a:r>
              <a:rPr sz="1400" b="0">
                <a:solidFill>
                  <a:srgbClr val="222222"/>
                </a:solidFill>
                <a:latin typeface="Times New Roman"/>
              </a:rPr>
              <a:t>M1</a:t>
            </a:r>
            <a:r>
              <a:rPr sz="1400" b="0">
                <a:solidFill>
                  <a:srgbClr val="222222"/>
                </a:solidFill>
                <a:latin typeface="B Nazanin"/>
              </a:rPr>
              <a:t> با </a:t>
            </a:r>
            <a:r>
              <a:rPr sz="1400" b="0">
                <a:solidFill>
                  <a:srgbClr val="222222"/>
                </a:solidFill>
                <a:latin typeface="Times New Roman"/>
              </a:rPr>
              <a:t>M0</a:t>
            </a:r>
            <a:r>
              <a:rPr sz="1400" b="0">
                <a:solidFill>
                  <a:srgbClr val="222222"/>
                </a:solidFill>
                <a:latin typeface="B Nazanin"/>
              </a:rPr>
              <a:t> مقایسه شد. افزودن عروق سطح زیر منحنی را حدود ۰٫۰۲۰۹ افزایش داد و بازه‌ی اطمینان اختلاف کاملاً مثبت بود. </a:t>
            </a:r>
            <a:r>
              <a:rPr sz="1400" b="0">
                <a:solidFill>
                  <a:srgbClr val="222222"/>
                </a:solidFill>
                <a:latin typeface="Times New Roman"/>
              </a:rPr>
              <a:t>F1</a:t>
            </a:r>
            <a:r>
              <a:rPr sz="1400" b="0">
                <a:solidFill>
                  <a:srgbClr val="222222"/>
                </a:solidFill>
                <a:latin typeface="B Nazanin"/>
              </a:rPr>
              <a:t> میانگین افزایش و بریر کاهش یافت. مقایسه‌ی </a:t>
            </a:r>
            <a:r>
              <a:rPr sz="1400" b="0">
                <a:solidFill>
                  <a:srgbClr val="222222"/>
                </a:solidFill>
                <a:latin typeface="Times New Roman"/>
              </a:rPr>
              <a:t>M1</a:t>
            </a:r>
            <a:r>
              <a:rPr sz="1400" b="0">
                <a:solidFill>
                  <a:srgbClr val="222222"/>
                </a:solidFill>
                <a:latin typeface="B Nazanin"/>
              </a:rPr>
              <a:t> با </a:t>
            </a:r>
            <a:r>
              <a:rPr sz="1400" b="0">
                <a:solidFill>
                  <a:srgbClr val="222222"/>
                </a:solidFill>
                <a:latin typeface="Times New Roman"/>
              </a:rPr>
              <a:t>E</a:t>
            </a:r>
            <a:r>
              <a:rPr sz="1400" b="0">
                <a:solidFill>
                  <a:srgbClr val="222222"/>
                </a:solidFill>
                <a:latin typeface="B Nazanin"/>
              </a:rPr>
              <a:t> و </a:t>
            </a:r>
            <a:r>
              <a:rPr sz="1400" b="0">
                <a:solidFill>
                  <a:srgbClr val="222222"/>
                </a:solidFill>
                <a:latin typeface="Times New Roman"/>
              </a:rPr>
              <a:t>G</a:t>
            </a:r>
            <a:r>
              <a:rPr sz="1400" b="0">
                <a:solidFill>
                  <a:srgbClr val="222222"/>
                </a:solidFill>
                <a:latin typeface="B Nazanin"/>
              </a:rPr>
              <a:t> نیز تفاوت پشتیبانی‌شده‌ای نشان نداد.</a:t>
            </a:r>
          </a:p>
          <a:p>
            <a:pPr rtl="1">
              <a:spcAft>
                <a:spcPts val="500"/>
              </a:spcAft>
            </a:pPr>
            <a:r>
              <a:rPr sz="1400" b="0">
                <a:solidFill>
                  <a:srgbClr val="222222"/>
                </a:solidFill>
                <a:latin typeface="B Nazanin"/>
              </a:rPr>
              <a:t>نتیجه‌ی این آزمایش این نیست که معماری دو‌ستون‌فقرات بهترین مدل است؛ زیرا کنترل </a:t>
            </a:r>
            <a:r>
              <a:rPr sz="1400" b="0">
                <a:solidFill>
                  <a:srgbClr val="222222"/>
                </a:solidFill>
                <a:latin typeface="Times New Roman"/>
              </a:rPr>
              <a:t>M0</a:t>
            </a:r>
            <a:r>
              <a:rPr sz="1400" b="0">
                <a:solidFill>
                  <a:srgbClr val="222222"/>
                </a:solidFill>
                <a:latin typeface="B Nazanin"/>
              </a:rPr>
              <a:t> خود از </a:t>
            </a:r>
            <a:r>
              <a:rPr sz="1400" b="0">
                <a:solidFill>
                  <a:srgbClr val="222222"/>
                </a:solidFill>
                <a:latin typeface="Times New Roman"/>
              </a:rPr>
              <a:t>B</a:t>
            </a:r>
            <a:r>
              <a:rPr sz="1400" b="0">
                <a:solidFill>
                  <a:srgbClr val="222222"/>
                </a:solidFill>
                <a:latin typeface="B Nazanin"/>
              </a:rPr>
              <a:t> ضعیف‌تر بود. نتیجه‌ی دقیق‌تر این است که مکمل‌بودن بازنمایی فضایی عروق در یک استخراج‌کننده‌ی رنگی مستقل نیز تکرار شد. این تکرار احتمال اینکه سود عروق صرفاً یک ویژگی تصادفی معماری </a:t>
            </a:r>
            <a:r>
              <a:rPr sz="1400" b="0">
                <a:solidFill>
                  <a:srgbClr val="222222"/>
                </a:solidFill>
                <a:latin typeface="Times New Roman"/>
              </a:rPr>
              <a:t>B</a:t>
            </a:r>
            <a:r>
              <a:rPr sz="1400" b="0">
                <a:solidFill>
                  <a:srgbClr val="222222"/>
                </a:solidFill>
                <a:latin typeface="B Nazanin"/>
              </a:rPr>
              <a:t> باشد را کاهش می‌دهد.</a:t>
            </a:r>
          </a:p>
          <a:p>
            <a:pPr rtl="1">
              <a:spcAft>
                <a:spcPts val="500"/>
              </a:spcAft>
            </a:pPr>
            <a:r>
              <a:rPr sz="1400" b="0">
                <a:solidFill>
                  <a:srgbClr val="222222"/>
                </a:solidFill>
                <a:latin typeface="B Nazanin"/>
              </a:rPr>
              <a:t>وزن‌های توجه نیز فقط به‌صورت توصیفی تفسیر شدند. توجه بالاتر یک شاخه اثبات علّی اهمیت آن نیست و نباید به‌عنوان توضیح کامل تصمیم مدل ارائه شود.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چرا معماری پیچیده‌تر ضعیف‌تر شد؟  پاسخ: پیچیدگی بیشتر می‌تواند به بیش‌برازش، بهینه‌سازی دشوارتر یا نیاز به داده و تنظیم بیشتر منجر شود. معماری بهتر در یک مقاله لزوماً در جمعیت و پروتکل دیگر بهترین نیست.</a:t>
            </a:r>
          </a:p>
          <a:p>
            <a:pPr rtl="1">
              <a:spcAft>
                <a:spcPts val="500"/>
              </a:spcAft>
            </a:pPr>
            <a:r>
              <a:rPr sz="1400" b="0">
                <a:solidFill>
                  <a:srgbClr val="222222"/>
                </a:solidFill>
                <a:latin typeface="B Nazanin"/>
              </a:rPr>
              <a:t>پرسش: اگر </a:t>
            </a:r>
            <a:r>
              <a:rPr sz="1400" b="0">
                <a:solidFill>
                  <a:srgbClr val="222222"/>
                </a:solidFill>
                <a:latin typeface="Times New Roman"/>
              </a:rPr>
              <a:t>M1</a:t>
            </a:r>
            <a:r>
              <a:rPr sz="1400" b="0">
                <a:solidFill>
                  <a:srgbClr val="222222"/>
                </a:solidFill>
                <a:latin typeface="B Nazanin"/>
              </a:rPr>
              <a:t> به </a:t>
            </a:r>
            <a:r>
              <a:rPr sz="1400" b="0">
                <a:solidFill>
                  <a:srgbClr val="222222"/>
                </a:solidFill>
                <a:latin typeface="Times New Roman"/>
              </a:rPr>
              <a:t>E</a:t>
            </a:r>
            <a:r>
              <a:rPr sz="1400" b="0">
                <a:solidFill>
                  <a:srgbClr val="222222"/>
                </a:solidFill>
                <a:latin typeface="B Nazanin"/>
              </a:rPr>
              <a:t> نرسید، آزمایش چه فایده‌ای داشت؟  پاسخ: هدف یافتن مدل برتر نبود؛ هدف کنترل پایداری سود عروق بود. </a:t>
            </a:r>
            <a:r>
              <a:rPr sz="1400" b="0">
                <a:solidFill>
                  <a:srgbClr val="222222"/>
                </a:solidFill>
                <a:latin typeface="Times New Roman"/>
              </a:rPr>
              <a:t>M1</a:t>
            </a:r>
            <a:r>
              <a:rPr sz="1400" b="0">
                <a:solidFill>
                  <a:srgbClr val="222222"/>
                </a:solidFill>
                <a:latin typeface="B Nazanin"/>
              </a:rPr>
              <a:t> نسبت به کنترل متناظر </a:t>
            </a:r>
            <a:r>
              <a:rPr sz="1400" b="0">
                <a:solidFill>
                  <a:srgbClr val="222222"/>
                </a:solidFill>
                <a:latin typeface="Times New Roman"/>
              </a:rPr>
              <a:t>M0</a:t>
            </a:r>
            <a:r>
              <a:rPr sz="1400" b="0">
                <a:solidFill>
                  <a:srgbClr val="222222"/>
                </a:solidFill>
                <a:latin typeface="B Nazanin"/>
              </a:rPr>
              <a:t> بهبود پشتیبانی‌شده داشت.</a:t>
            </a:r>
          </a:p>
          <a:p>
            <a:pPr rtl="1">
              <a:spcAft>
                <a:spcPts val="500"/>
              </a:spcAft>
            </a:pPr>
            <a:r>
              <a:rPr sz="1400" b="0">
                <a:solidFill>
                  <a:srgbClr val="222222"/>
                </a:solidFill>
                <a:latin typeface="B Nazanin"/>
              </a:rPr>
              <a:t>پرسش: آیا </a:t>
            </a:r>
            <a:r>
              <a:rPr sz="1400" b="0">
                <a:solidFill>
                  <a:srgbClr val="222222"/>
                </a:solidFill>
                <a:latin typeface="Times New Roman"/>
              </a:rPr>
              <a:t>attention</a:t>
            </a:r>
            <a:r>
              <a:rPr sz="1400" b="0">
                <a:solidFill>
                  <a:srgbClr val="222222"/>
                </a:solidFill>
                <a:latin typeface="B Nazanin"/>
              </a:rPr>
              <a:t> توضیح می‌دهد مدل به کجا نگاه کرده است؟  پاسخ: تا حد محدود و توصیفی. وزن توجه نشان‌دهنده‌ی سهم محاسباتی است، نه اثبات علّی یا تضمین تفسیر بالینی.</a:t>
            </a:r>
          </a:p>
          <a:p>
            <a:pPr rtl="1">
              <a:spcAft>
                <a:spcPts val="500"/>
              </a:spcAft>
            </a:pPr>
            <a:r>
              <a:rPr sz="1400" b="0">
                <a:solidFill>
                  <a:srgbClr val="222222"/>
                </a:solidFill>
                <a:latin typeface="B Nazanin"/>
              </a:rPr>
              <a:t>پرسش: ۲۱. مرحله‌ی ۱۳ چه چیزی را ثابت کرد؟  پاسخ: </a:t>
            </a:r>
            <a:r>
              <a:rPr sz="1400" b="0">
                <a:solidFill>
                  <a:srgbClr val="222222"/>
                </a:solidFill>
                <a:latin typeface="Times New Roman"/>
              </a:rPr>
              <a:t>M0</a:t>
            </a:r>
            <a:r>
              <a:rPr sz="1400" b="0">
                <a:solidFill>
                  <a:srgbClr val="222222"/>
                </a:solidFill>
                <a:latin typeface="B Nazanin"/>
              </a:rPr>
              <a:t> از </a:t>
            </a:r>
            <a:r>
              <a:rPr sz="1400" b="0">
                <a:solidFill>
                  <a:srgbClr val="222222"/>
                </a:solidFill>
                <a:latin typeface="Times New Roman"/>
              </a:rPr>
              <a:t>B</a:t>
            </a:r>
            <a:r>
              <a:rPr sz="1400" b="0">
                <a:solidFill>
                  <a:srgbClr val="222222"/>
                </a:solidFill>
                <a:latin typeface="B Nazanin"/>
              </a:rPr>
              <a:t> ضعیف‌تر بود، ولی </a:t>
            </a:r>
            <a:r>
              <a:rPr sz="1400" b="0">
                <a:solidFill>
                  <a:srgbClr val="222222"/>
                </a:solidFill>
                <a:latin typeface="Times New Roman"/>
              </a:rPr>
              <a:t>M1</a:t>
            </a:r>
            <a:r>
              <a:rPr sz="1400" b="0">
                <a:solidFill>
                  <a:srgbClr val="222222"/>
                </a:solidFill>
                <a:latin typeface="B Nazanin"/>
              </a:rPr>
              <a:t> نسبت به </a:t>
            </a:r>
            <a:r>
              <a:rPr sz="1400" b="0">
                <a:solidFill>
                  <a:srgbClr val="222222"/>
                </a:solidFill>
                <a:latin typeface="Times New Roman"/>
              </a:rPr>
              <a:t>M0</a:t>
            </a:r>
            <a:r>
              <a:rPr sz="1400" b="0">
                <a:solidFill>
                  <a:srgbClr val="222222"/>
                </a:solidFill>
                <a:latin typeface="B Nazanin"/>
              </a:rPr>
              <a:t> بهبود ۰٫۰۲۰۹ پشتیبانی‌شده داشت. پس سود عروق در یک بازنمایی رنگی متفاوت نیز تکرار شد.</a:t>
            </a:r>
          </a:p>
          <a:p>
            <a:pPr rtl="1">
              <a:spcAft>
                <a:spcPts val="500"/>
              </a:spcAft>
            </a:pPr>
            <a:r>
              <a:rPr sz="1400" b="0">
                <a:solidFill>
                  <a:srgbClr val="222222"/>
                </a:solidFill>
                <a:latin typeface="B Nazanin"/>
              </a:rPr>
              <a:t>پرسش: ۲۲. آیا </a:t>
            </a:r>
            <a:r>
              <a:rPr sz="1400" b="0">
                <a:solidFill>
                  <a:srgbClr val="222222"/>
                </a:solidFill>
                <a:latin typeface="Times New Roman"/>
              </a:rPr>
              <a:t>attention</a:t>
            </a:r>
            <a:r>
              <a:rPr sz="1400" b="0">
                <a:solidFill>
                  <a:srgbClr val="222222"/>
                </a:solidFill>
                <a:latin typeface="B Nazanin"/>
              </a:rPr>
              <a:t> تفسیر علّی ارائه می‌دهد؟  پاسخ: خیر. وزن توجه فقط سهم محاسباتی توصیفی را نشان می‌دهد و اثبات نمی‌کند یک ناحیه یا شاخه علت تصمیم بوده است.</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سهم علمی یک الگوریتم منفرد نیست؛ یک زنجیره‌ی شواهد کنترل‌شده است: تفکیک نشانگر عددی از ساختار فضایی، اثبات زوجی مکمل‌بودن عروق، تکرار بین‌منبعی، پایداری نسبت به معماری، حفظ نتیجه‌ی منفی و ممیزی داده و منشأ.</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نوآوری را «استفاده از عروق» تعریف نکن. سهم واقعی، طراحی مقایسه‌ای برای تفکیک ارزش سه شکل نمایش، ممیزی منشأ داده، آزمون پایداری میان منبع و معماری و گزارش نتایج منفی است.</a:t>
            </a:r>
          </a:p>
          <a:p>
            <a:pPr rtl="1">
              <a:spcAft>
                <a:spcPts val="500"/>
              </a:spcAft>
            </a:pPr>
            <a:r>
              <a:rPr sz="1400" b="0">
                <a:solidFill>
                  <a:srgbClr val="222222"/>
                </a:solidFill>
                <a:latin typeface="B Nazanin"/>
              </a:rPr>
              <a:t>نوآوری اصلی این پایان‌نامه یک الگوریتم منفرد نیست، بلکه طراحی یک زنجیره‌ی شواهد کنترل‌شده است. پروژه میان پنج خلاصه‌ی عددی و نقشه‌ی کامل فضایی عروق تفاوت گذاشت و نشان داد نداشتن ارزش افزوده برای پنج عدد به معنای بی‌اهمیت‌بودن عروق نیست. مکمل‌بودن عروق با مقایسه‌ی زوجی </a:t>
            </a:r>
            <a:r>
              <a:rPr sz="1400" b="0">
                <a:solidFill>
                  <a:srgbClr val="222222"/>
                </a:solidFill>
                <a:latin typeface="Times New Roman"/>
              </a:rPr>
              <a:t>E-B</a:t>
            </a:r>
            <a:r>
              <a:rPr sz="1400" b="0">
                <a:solidFill>
                  <a:srgbClr val="222222"/>
                </a:solidFill>
                <a:latin typeface="B Nazanin"/>
              </a:rPr>
              <a:t>، بهبود سطح زیر منحنی و بریر، تکرار در دو منبع کنارگذاشته و تکرار در یک معماری رنگی متفاوت پشتیبانی شد.</a:t>
            </a:r>
          </a:p>
          <a:p>
            <a:pPr rtl="1">
              <a:spcAft>
                <a:spcPts val="500"/>
              </a:spcAft>
            </a:pPr>
            <a:r>
              <a:rPr sz="1400" b="0">
                <a:solidFill>
                  <a:srgbClr val="222222"/>
                </a:solidFill>
                <a:latin typeface="B Nazanin"/>
              </a:rPr>
              <a:t>در نتیجه، نوآوری اصلی پایان‌نامه یک الگوریتم منفرد نیست. نوآوری در طراحی زنجیره‌ی شواهدی است که میان وجود سیگنال، اطلاعات افزایشی، پایداری نسبت به معماری و انتقال به منبع دیده‌نشده تمایز ایجاد می‌کند. همچنین نتایج منفی حفظ شدند و فقط آزمایش‌های موفق انتخاب نشدند.</a:t>
            </a:r>
          </a:p>
          <a:p>
            <a:pPr rtl="1">
              <a:spcAft>
                <a:spcPts val="500"/>
              </a:spcAft>
            </a:pPr>
            <a:r>
              <a:rPr sz="1400" b="0">
                <a:solidFill>
                  <a:srgbClr val="222222"/>
                </a:solidFill>
                <a:latin typeface="B Nazanin"/>
              </a:rPr>
              <a:t>نوآوری اصلی صرفاً استفاده از عروق یا یک شبکه‌ی جدید نیست. سهم پژوهش، طراحی یک چارچوب مقایسه‌ای برای تفکیک سه ادعاست: آیا خلاصه‌های قابل تفسیر سیگنال مستقل دارند؛ آیا نسبت به </a:t>
            </a:r>
            <a:r>
              <a:rPr sz="1400" b="0">
                <a:solidFill>
                  <a:srgbClr val="222222"/>
                </a:solidFill>
                <a:latin typeface="Times New Roman"/>
              </a:rPr>
              <a:t>RGB</a:t>
            </a:r>
            <a:r>
              <a:rPr sz="1400" b="0">
                <a:solidFill>
                  <a:srgbClr val="222222"/>
                </a:solidFill>
                <a:latin typeface="B Nazanin"/>
              </a:rPr>
              <a:t> ارزش افزوده دارند؛ و آیا حفظ ساختار فضایی عروق مکمل است. این چارچوب با ممیزی منشأ، مقایسه‌ی زوجی، آزمون منبع‌کنارگذاشته، معماری جایگزین و گزارش نتیجه‌های منفی همراه شد. گزارش اینکه </a:t>
            </a:r>
            <a:r>
              <a:rPr sz="1400" b="0">
                <a:solidFill>
                  <a:srgbClr val="222222"/>
                </a:solidFill>
                <a:latin typeface="Times New Roman"/>
              </a:rPr>
              <a:t>letterbox</a:t>
            </a:r>
            <a:r>
              <a:rPr sz="1400" b="0">
                <a:solidFill>
                  <a:srgbClr val="222222"/>
                </a:solidFill>
                <a:latin typeface="B Nazanin"/>
              </a:rPr>
              <a:t> پذیرفته نشد، همجوشی دیرهنگام شاخه‌ی عروق را کنار گذاشت، نشانگر در چند سازوکار سود نداد و سازگارسازی دامنه بهتر نشد، بخشی از صداقت علمی و نوآوری روش‌شناختی است.</a:t>
            </a:r>
          </a:p>
          <a:p>
            <a:pPr rtl="1">
              <a:spcAft>
                <a:spcPts val="500"/>
              </a:spcAft>
            </a:pPr>
            <a:r>
              <a:rPr sz="1400" b="0">
                <a:solidFill>
                  <a:srgbClr val="222222"/>
                </a:solidFill>
                <a:latin typeface="B Nazanin"/>
              </a:rPr>
              <a:t>از نظر بازتولیدپذیری، مخزن به لایه‌های داده، جداسازی، نشانگر، طبقه‌بندی، مقایسه، پیکربندی و مصنوعات تقسیم شده است. تقسیم، جدول نشانگر و وزن‌های شبکه با هش ثبت شده‌اند تا نسخه‌ی دقیق ورودی هر اجرا قابل ردیابی باشد. پیشوندهای مرجع شامل 0</a:t>
            </a:r>
            <a:r>
              <a:rPr sz="1400" b="0">
                <a:solidFill>
                  <a:srgbClr val="222222"/>
                </a:solidFill>
                <a:latin typeface="Times New Roman"/>
              </a:rPr>
              <a:t>d4c</a:t>
            </a:r>
            <a:r>
              <a:rPr sz="1400" b="0">
                <a:solidFill>
                  <a:srgbClr val="222222"/>
                </a:solidFill>
                <a:latin typeface="B Nazanin"/>
              </a:rPr>
              <a:t> برای تقسیم، </a:t>
            </a:r>
            <a:r>
              <a:rPr sz="1400" b="0">
                <a:solidFill>
                  <a:srgbClr val="222222"/>
                </a:solidFill>
                <a:latin typeface="Times New Roman"/>
              </a:rPr>
              <a:t>b4661d</a:t>
            </a:r>
            <a:r>
              <a:rPr sz="1400" b="0">
                <a:solidFill>
                  <a:srgbClr val="222222"/>
                </a:solidFill>
                <a:latin typeface="B Nazanin"/>
              </a:rPr>
              <a:t> برای نشانگر، 2</a:t>
            </a:r>
            <a:r>
              <a:rPr sz="1400" b="0">
                <a:solidFill>
                  <a:srgbClr val="222222"/>
                </a:solidFill>
                <a:latin typeface="Times New Roman"/>
              </a:rPr>
              <a:t>b0b</a:t>
            </a:r>
            <a:r>
              <a:rPr sz="1400" b="0">
                <a:solidFill>
                  <a:srgbClr val="222222"/>
                </a:solidFill>
                <a:latin typeface="B Nazanin"/>
              </a:rPr>
              <a:t> برای وزن </a:t>
            </a:r>
            <a:r>
              <a:rPr sz="1400" b="0">
                <a:solidFill>
                  <a:srgbClr val="222222"/>
                </a:solidFill>
                <a:latin typeface="Times New Roman"/>
              </a:rPr>
              <a:t>RGB</a:t>
            </a:r>
            <a:r>
              <a:rPr sz="1400" b="0">
                <a:solidFill>
                  <a:srgbClr val="222222"/>
                </a:solidFill>
                <a:latin typeface="B Nazanin"/>
              </a:rPr>
              <a:t> و 3</a:t>
            </a:r>
            <a:r>
              <a:rPr sz="1400" b="0">
                <a:solidFill>
                  <a:srgbClr val="222222"/>
                </a:solidFill>
                <a:latin typeface="Times New Roman"/>
              </a:rPr>
              <a:t>e171</a:t>
            </a:r>
            <a:r>
              <a:rPr sz="1400" b="0">
                <a:solidFill>
                  <a:srgbClr val="222222"/>
                </a:solidFill>
                <a:latin typeface="B Nazanin"/>
              </a:rPr>
              <a:t> برای وزن عروق است. هش هویت فایل را تضمین می‌کند، نه اینکه فایل از نظر بالینی صحیح است.</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۳. تکرار بین‌منبعی  پاسخ: سود عروق در </a:t>
            </a:r>
            <a:r>
              <a:rPr sz="1400" b="0">
                <a:solidFill>
                  <a:srgbClr val="222222"/>
                </a:solidFill>
                <a:latin typeface="Times New Roman"/>
              </a:rPr>
              <a:t>FARFUM-RoP</a:t>
            </a:r>
            <a:r>
              <a:rPr sz="1400" b="0">
                <a:solidFill>
                  <a:srgbClr val="222222"/>
                </a:solidFill>
                <a:latin typeface="B Nazanin"/>
              </a:rPr>
              <a:t> و فارابی نیز تکرار شد، هرچند عملکرد مطلق افت کرد. این موضوع ثبات جهت اثر و هم‌زمان محدودیت تعمیم را نشان می‌دهد.</a:t>
            </a:r>
          </a:p>
          <a:p>
            <a:pPr rtl="1">
              <a:spcAft>
                <a:spcPts val="500"/>
              </a:spcAft>
            </a:pPr>
            <a:r>
              <a:rPr sz="1400" b="0">
                <a:solidFill>
                  <a:srgbClr val="222222"/>
                </a:solidFill>
                <a:latin typeface="B Nazanin"/>
              </a:rPr>
              <a:t>پرسش: ۶. ممیزی داده و منشأ  پاسخ: تقسیم گروهی، هش دقیق، هش ادراکی، تطبیق قطعی ماسک و تثبیت مصنوعات امکان ردیابی ادعاها را فراهم کردند.</a:t>
            </a:r>
          </a:p>
          <a:p>
            <a:pPr rtl="1">
              <a:spcAft>
                <a:spcPts val="500"/>
              </a:spcAft>
            </a:pPr>
            <a:r>
              <a:rPr sz="1400" b="0">
                <a:solidFill>
                  <a:srgbClr val="222222"/>
                </a:solidFill>
                <a:latin typeface="B Nazanin"/>
              </a:rPr>
              <a:t>پرسش: ۷. جداسازی جابه‌جایی نمایش از پیامد بیماری  پاسخ: پروژه نشان داد کاهش بعضی فاصله‌های بازنمایی الزاماً عملکرد بیماری را بهتر نمی‌کند.</a:t>
            </a:r>
          </a:p>
          <a:p>
            <a:pPr rtl="1">
              <a:spcAft>
                <a:spcPts val="500"/>
              </a:spcAft>
            </a:pPr>
            <a:r>
              <a:rPr sz="1400" b="0">
                <a:solidFill>
                  <a:srgbClr val="222222"/>
                </a:solidFill>
                <a:latin typeface="B Nazanin"/>
              </a:rPr>
              <a:t>پرسش: نوآوری پروژه اگر الگوریتم جدید نیست چیست؟  پاسخ: تفکیک تجربی چند سطح نمایش عروقی، مقایسه‌ی زوجی روی جمعیت مشترک، تکرار بین‌منبعی و معماری، ممیزی منشأ و حفظ نتایج منفی.</a:t>
            </a:r>
          </a:p>
          <a:p>
            <a:pPr rtl="1">
              <a:spcAft>
                <a:spcPts val="500"/>
              </a:spcAft>
            </a:pPr>
            <a:r>
              <a:rPr sz="1400" b="0">
                <a:solidFill>
                  <a:srgbClr val="222222"/>
                </a:solidFill>
                <a:latin typeface="B Nazanin"/>
              </a:rPr>
              <a:t>پرسش: ۲۹. مهم‌ترین نوآوری چیست؟  پاسخ: تفکیک تجربی سیگنال مستقل، ارزش افزوده‌ی پنج نشانگر، ارزش افزوده‌ی ساختار فضایی، پایداری معماری و انتقال بین‌منبعی روی یک زنجیره‌ی ردیابی‌شده.</a:t>
            </a:r>
          </a:p>
          <a:p>
            <a:pPr rtl="1">
              <a:spcAft>
                <a:spcPts val="500"/>
              </a:spcAft>
            </a:pPr>
            <a:r>
              <a:rPr sz="1400" b="0">
                <a:solidFill>
                  <a:srgbClr val="222222"/>
                </a:solidFill>
                <a:latin typeface="B Nazanin"/>
              </a:rPr>
              <a:t>پرسش: ۲۷. نقش هش در پروژه چیست؟  پاسخ: هش هویت فایل و نسخه را کنترل می‌کند و از استفاده‌ی ناخواسته از تقسیم، جدول یا مدل متفاوت جلوگیری می‌کند. هش صحت بالینی فایل را اثبات نمی‌کند.</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محدودیت‌ها مرز ادعا هستند، نه اعتراف: مطالعه‌ی گذشته‌نگر، گروه </a:t>
            </a:r>
            <a:r>
              <a:rPr sz="1400" b="0">
                <a:solidFill>
                  <a:srgbClr val="222222"/>
                </a:solidFill>
                <a:latin typeface="Times New Roman"/>
              </a:rPr>
              <a:t>Farabi</a:t>
            </a:r>
            <a:r>
              <a:rPr sz="1400" b="0">
                <a:solidFill>
                  <a:srgbClr val="222222"/>
                </a:solidFill>
                <a:latin typeface="B Nazanin"/>
              </a:rPr>
              <a:t> در سطح معاینه، نبود اعتبارسنجی خارجی مستقل، نبود معیار خارجی جداسازی، دامنه‌ی محدود پنج نشانگر و افت بین‌منبعی. هیچ‌کدام نتیجه‌ی زوجی را باطل نمی‌کند، اما دامنه‌ی تعمیم را دقیق مشخص می‌کند.</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نبود اعتبارسنجی خارجی آینده‌نگر، شناسه‌ی ناقص بیمار در فارابی، چهار نزدیک‌به‌تکراری، نبود معیار خارجی تثبیت‌شده‌ی جداسازی، استفاده‌ی اکتشافی مجدد از آزمون و پوشش‌ندادن عدم‌قطعیت آموزش را ذکر کن.</a:t>
            </a:r>
          </a:p>
          <a:p>
            <a:pPr rtl="1">
              <a:spcAft>
                <a:spcPts val="500"/>
              </a:spcAft>
            </a:pPr>
            <a:r>
              <a:rPr sz="1400" b="0">
                <a:solidFill>
                  <a:srgbClr val="222222"/>
                </a:solidFill>
                <a:latin typeface="B Nazanin"/>
              </a:rPr>
              <a:t>در کنار این دستاوردها، محدودیت‌ها باید صریح بیان شوند. مطالعه گذشته‌نگر است و اعتبارسنجی آینده‌نگر یا مرکز کاملاً مستقل ندارد. در فارابی فقط استقلال معاینه اثبات شده است. چهار جفت نزدیک‌به‌تکراری باقی مانده‌اند. آزمون مرجع در آزمایش‌های ثانویه دوباره استفاده شده و این نتایج اکتشافی‌اند. معیار خارجی تثبیت‌شده برای جداسازی در بسته‌ی نهایی وجود ندارد و پنج نشانگر نیز پهنا و پیچ‌خوردگی را شامل نمی‌شوند.</a:t>
            </a:r>
          </a:p>
          <a:p>
            <a:pPr rtl="1">
              <a:spcAft>
                <a:spcPts val="500"/>
              </a:spcAft>
            </a:pPr>
            <a:r>
              <a:rPr sz="1400" b="0">
                <a:solidFill>
                  <a:srgbClr val="222222"/>
                </a:solidFill>
                <a:latin typeface="B Nazanin"/>
              </a:rPr>
              <a:t>محدودیت‌ها روشن‌اند. مطالعه گذشته‌نگر است و اعتبارسنجی خارجی آینده‌نگر ندارد. در فارابی شناسه‌ی بیمار کامل نیست. چهار جفت نزدیک‌به‌تکراری باقی مانده‌اند. کیفیت جداسازی با معیار خارجی تثبیت‌شده در بسته‌ی نهایی سنجیده نشده است. آزمون مرجع در مراحل ثانویه نیز دوباره استفاده شد، پس آن مراحل اکتشافی‌اند. بازنمونه‌گیری زوجی عدم‌قطعیت ناشی از نمونه‌های آزمون را پوشش می‌دهد، اما نوسان بذر آموزش، انتخاب فراپارامتر، مرکز جدید یا اپراتور را پوشش نمی‌دهد. تحلیل درمان، عدالت میان زیرگروه‌ها و اثر بر جریان کار بالینی نیز انجام نشده است.</a:t>
            </a:r>
          </a:p>
          <a:p>
            <a:pPr rtl="1">
              <a:spcAft>
                <a:spcPts val="500"/>
              </a:spcAft>
            </a:pPr>
            <a:r>
              <a:rPr sz="1400" b="0">
                <a:solidFill>
                  <a:srgbClr val="222222"/>
                </a:solidFill>
                <a:latin typeface="B Nazanin"/>
              </a:rPr>
              <a:t>مسیر آینده باید از این محدودیت‌ها پیروی کند: ایجاد مجموعه‌ی خارجی قفل‌شده با شناسه‌ی بیمار کامل، سنجش جداگانه‌ی جداسازی با مرجع متخصص، آموزش چندبذری و تحلیل عدم‌قطعیت کامل، کالیبراسیون و انتخاب نقطه‌ی کار بالینی، مطالعه‌ی سازگارسازی دامنه با طراحی از پیش ثبت‌شده، و در نهایت ارزیابی آینده‌نگر تأثیر مدل بر تصمیم متخصص.</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مطالعه‌ی گذشته‌نگر  پاسخ: داده‌ها از پیش موجود بودند و پژوهش آینده‌نگر در مسیر بالینی انجام نشد. بنابراین اثر مدل بر تصمیم پزشک، زمان کار، درمان یا پیامد بیمار سنجیده نشده است.</a:t>
            </a:r>
          </a:p>
          <a:p>
            <a:pPr rtl="1">
              <a:spcAft>
                <a:spcPts val="500"/>
              </a:spcAft>
            </a:pPr>
            <a:r>
              <a:rPr sz="1400" b="0">
                <a:solidFill>
                  <a:srgbClr val="222222"/>
                </a:solidFill>
                <a:latin typeface="B Nazanin"/>
              </a:rPr>
              <a:t>پرسش: نبود اعتبارسنجی خارجی مستقل  پاسخ: </a:t>
            </a:r>
            <a:r>
              <a:rPr sz="1400" b="0">
                <a:solidFill>
                  <a:srgbClr val="222222"/>
                </a:solidFill>
                <a:latin typeface="Times New Roman"/>
              </a:rPr>
              <a:t>LOSO</a:t>
            </a:r>
            <a:r>
              <a:rPr sz="1400" b="0">
                <a:solidFill>
                  <a:srgbClr val="222222"/>
                </a:solidFill>
                <a:latin typeface="B Nazanin"/>
              </a:rPr>
              <a:t> آزمون انتقال است، اما هر سه منبع در فرایند توسعه شناخته‌شده بودند. مرکز کاملاً مستقل و پروتکل از پیش ثبت‌شده لازم است.</a:t>
            </a:r>
          </a:p>
          <a:p>
            <a:pPr rtl="1">
              <a:spcAft>
                <a:spcPts val="500"/>
              </a:spcAft>
            </a:pPr>
            <a:r>
              <a:rPr sz="1400" b="0">
                <a:solidFill>
                  <a:srgbClr val="222222"/>
                </a:solidFill>
                <a:latin typeface="B Nazanin"/>
              </a:rPr>
              <a:t>پرسش: شناسه‌ی فارابی  پاسخ: جدایی فقط در سطح معاینه اثبات شده است. احتمال تعلق معاینات مختلف به یک بیمار را نمی‌توان کاملاً رد کرد.</a:t>
            </a:r>
          </a:p>
          <a:p>
            <a:pPr rtl="1">
              <a:spcAft>
                <a:spcPts val="500"/>
              </a:spcAft>
            </a:pPr>
            <a:r>
              <a:rPr sz="1400" b="0">
                <a:solidFill>
                  <a:srgbClr val="222222"/>
                </a:solidFill>
                <a:latin typeface="B Nazanin"/>
              </a:rPr>
              <a:t>پرسش: نزدیک‌به‌تکراری‌ها  پاسخ: چهار جفت مشابه میان بخش‌ها باقی ماندند. نبود تکرار دقیق به معنای نبود تمام شباهت‌های معنایی نیست.</a:t>
            </a:r>
          </a:p>
          <a:p>
            <a:pPr rtl="1">
              <a:spcAft>
                <a:spcPts val="500"/>
              </a:spcAft>
            </a:pPr>
            <a:r>
              <a:rPr sz="1400" b="0">
                <a:solidFill>
                  <a:srgbClr val="222222"/>
                </a:solidFill>
                <a:latin typeface="B Nazanin"/>
              </a:rPr>
              <a:t>پرسش: استفاده‌ی دوباره از آزمون  پاسخ: آزمایش‌های مراحل ۹ تا ۱۳ بعد از مشاهده‌ی نتیجه‌ی اصلی روی همان آزمون مرجع ارزیابی شدند. بنابراین اکتشافی‌اند و به آزمون تأییدی جدید نیاز دارند.</a:t>
            </a:r>
          </a:p>
          <a:p>
            <a:pPr rtl="1">
              <a:spcAft>
                <a:spcPts val="500"/>
              </a:spcAft>
            </a:pPr>
            <a:r>
              <a:rPr sz="1400" b="0">
                <a:solidFill>
                  <a:srgbClr val="222222"/>
                </a:solidFill>
                <a:latin typeface="B Nazanin"/>
              </a:rPr>
              <a:t>پرسش: اعتبار جداسازی  پاسخ: معیار خارجی تثبیت‌شده برای جداسازی در بسته‌ی نهایی گزارش وجود ندارد. خطای ماسک می‌تواند به نشانگر و بازنمایی عروقی منتقل شود.</a:t>
            </a:r>
          </a:p>
          <a:p>
            <a:pPr rtl="1">
              <a:spcAft>
                <a:spcPts val="500"/>
              </a:spcAft>
            </a:pPr>
            <a:r>
              <a:rPr sz="1400" b="0">
                <a:solidFill>
                  <a:srgbClr val="222222"/>
                </a:solidFill>
                <a:latin typeface="B Nazanin"/>
              </a:rPr>
              <a:t>پرسش: محدودبودن نشانگرها  پاسخ: پهنای رگ، پیچ‌خوردگی، انحنا، تفکیک شریان و ورید و ویژگی‌های موضعی در بردار نهایی پنج‌بعدی نبودند. نتیجه‌ی منفی به همین پنج نشانگر محدود است.</a:t>
            </a:r>
          </a:p>
          <a:p>
            <a:pPr rtl="1">
              <a:spcAft>
                <a:spcPts val="500"/>
              </a:spcAft>
            </a:pPr>
            <a:r>
              <a:rPr sz="1400" b="0">
                <a:solidFill>
                  <a:srgbClr val="222222"/>
                </a:solidFill>
                <a:latin typeface="B Nazanin"/>
              </a:rPr>
              <a:t>پرسش: عدم قطعیت آموزش  پاسخ: بازنمونه‌گیری عدم قطعیت نمونه‌گیری آزمون را می‌سنجد، ولی تغییر بذر آموزش، جست‌وجوی فراپارامتر و تغییر مرکز را به‌طور کامل پوشش نمی‌دهد.</a:t>
            </a:r>
          </a:p>
          <a:p>
            <a:pPr rtl="1">
              <a:spcAft>
                <a:spcPts val="500"/>
              </a:spcAft>
            </a:pPr>
            <a:r>
              <a:rPr sz="1400" b="0">
                <a:solidFill>
                  <a:srgbClr val="222222"/>
                </a:solidFill>
                <a:latin typeface="B Nazanin"/>
              </a:rPr>
              <a:t>پرسش: مهم‌ترین محدودیت نتیجه چیست؟  پاسخ: افت بزرگ عملکرد در منبع دیده‌نشده، نبود اعتبارسنجی بالینی خارجی، نبود معیار خارجی تثبیت‌شده برای جداسازی، محدودیت شناسه‌ی بیمار فارابی و استفاده‌ی دوباره از آزمون مرجع در آزمایش‌های ثانویه.</a:t>
            </a:r>
          </a:p>
          <a:p>
            <a:pPr rtl="1">
              <a:spcAft>
                <a:spcPts val="500"/>
              </a:spcAft>
            </a:pPr>
            <a:r>
              <a:rPr sz="1400" b="0">
                <a:solidFill>
                  <a:srgbClr val="222222"/>
                </a:solidFill>
                <a:latin typeface="B Nazanin"/>
              </a:rPr>
              <a:t>پرسش: آیا </a:t>
            </a:r>
            <a:r>
              <a:rPr sz="1400" b="0">
                <a:solidFill>
                  <a:srgbClr val="222222"/>
                </a:solidFill>
                <a:latin typeface="Times New Roman"/>
              </a:rPr>
              <a:t>LOSO</a:t>
            </a:r>
            <a:r>
              <a:rPr sz="1400" b="0">
                <a:solidFill>
                  <a:srgbClr val="222222"/>
                </a:solidFill>
                <a:latin typeface="B Nazanin"/>
              </a:rPr>
              <a:t> ثابت می‌کند مدل روی هر مرکز جدیدی کار می‌کند؟  پاسخ: خیر. فقط سه منبع موجود را بررسی می‌کند. مرکز جدید ممکن است دوربین، شیوع، کیفیت یا فرایند برچسب‌گذاری متفاوتی داشته باشد.</a:t>
            </a:r>
          </a:p>
          <a:p>
            <a:pPr rtl="1">
              <a:spcAft>
                <a:spcPts val="500"/>
              </a:spcAft>
            </a:pPr>
            <a:r>
              <a:rPr sz="1400" b="0">
                <a:solidFill>
                  <a:srgbClr val="222222"/>
                </a:solidFill>
                <a:latin typeface="B Nazanin"/>
              </a:rPr>
              <a:t>پرسش: ۲۸. مهم‌ترین محدودیت چیست؟  پاسخ: برای کاربرد، افت بین‌منبعی و نبود اعتبارسنجی خارجی مستقل مهم‌ترین‌اند. از نظر روش‌شناسی نیز نبود شناسه‌ی بیمار فارابی و استفاده‌ی دوباره از آزمون در مراحل ثانویه اهمیت دارند.</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نتیجه‌ی نهایی: عروق مهم‌اند، اما شیوه‌ی نمایش آن‌ها تعیین‌کننده است؛ ساختار فضایی مکمل تصویر رنگی بود و پنج خلاصه‌ی عددی ارزش افزوده‌ی تکرارپذیر نداشتند. خروجی پروژه یک ابزار پژوهشی طبقه‌بندی تصویر است، نه جایگزین معاینه و نه ابزار آماده‌ی بالینی.</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جمله‌ی نهایی: «عروق مهم‌اند، اما شیوه‌ی نمایش آن‌ها تعیین‌کننده است؛ ساختار فضایی مکمل </a:t>
            </a:r>
            <a:r>
              <a:rPr sz="1400" b="0">
                <a:solidFill>
                  <a:srgbClr val="222222"/>
                </a:solidFill>
                <a:latin typeface="Times New Roman"/>
              </a:rPr>
              <a:t>RGB</a:t>
            </a:r>
            <a:r>
              <a:rPr sz="1400" b="0">
                <a:solidFill>
                  <a:srgbClr val="222222"/>
                </a:solidFill>
                <a:latin typeface="B Nazanin"/>
              </a:rPr>
              <a:t> بود، درحالی‌که پنج خلاصه‌ی عددی ارزش افزوده‌ی تکرارپذیر نداشتند، و افت بین‌مرکزی هنوز مانع اصلی کاربرد است.</a:t>
            </a:r>
          </a:p>
          <a:p>
            <a:pPr rtl="1">
              <a:spcAft>
                <a:spcPts val="500"/>
              </a:spcAft>
            </a:pPr>
            <a:r>
              <a:rPr sz="1400" b="0">
                <a:solidFill>
                  <a:srgbClr val="222222"/>
                </a:solidFill>
                <a:latin typeface="B Nazanin"/>
              </a:rPr>
              <a:t>اگر بخواهم کل پایان‌نامه را در یک نتیجه خلاصه کنم، پنج نشانگر عددی کاملاً بی‌اطلاعات نبودند، اما پس از حضور بازنمایی‌های غنی‌تر ارزش افزوده‌ی تکرارپذیر ایجاد نکردند. در مقابل، نقشه‌ی کامل فضایی عروق به تصویر رنگی اطلاعات مکمل افزود و این جهت اثر در دو منبع کنارگذاشته و یک معماری جایگزین تکرار شد. بااین‌حال افت بزرگ بین منابع نشان داد مسئله‌ی اصلی برای حرکت به سمت کاربرد، تعمیم و اعتبارسنجی خارجی است. بنابراین ادعای نهایی من محدود ولی مستند است: عروق مهم‌اند، اما نحوه‌ی نمایش آن‌ها تعیین‌کننده است؛ نتیجه‌ی حاضر یک شاهد پژوهشی قابل دفاع است، نه اعلام آمادگی بالینی.</a:t>
            </a:r>
          </a:p>
          <a:p>
            <a:pPr rtl="1">
              <a:spcAft>
                <a:spcPts val="500"/>
              </a:spcAft>
            </a:pPr>
            <a:r>
              <a:rPr sz="1400" b="0">
                <a:solidFill>
                  <a:srgbClr val="222222"/>
                </a:solidFill>
                <a:latin typeface="B Nazanin"/>
              </a:rPr>
              <a:t>بهبود عروق حدود ۰٫۰۰۸ سطح زیر منحنی است و از نظر آماری پشتیبانی می‌شود، اما اهمیت بالینی از این عدد به‌تنهایی نتیجه نمی‌شود. افت ۰٫۱۲ تا ۰٫۱۵ در منبع دیده‌نشده بزرگ‌تر است و نشان می‌دهد اولویت بعدی اعتبارسنجی خارجی، مقاوم‌سازی نسبت به دوربین و واسنجی مرکز هدف است.</a:t>
            </a:r>
          </a:p>
          <a:p>
            <a:pPr rtl="1">
              <a:spcAft>
                <a:spcPts val="500"/>
              </a:spcAft>
            </a:pPr>
            <a:r>
              <a:rPr sz="1400" b="0">
                <a:solidFill>
                  <a:srgbClr val="222222"/>
                </a:solidFill>
                <a:latin typeface="B Nazanin"/>
              </a:rPr>
              <a:t>بنابراین خروجی پروژه یک ابزار پژوهشی طبقه‌بندی تصویر است، نه جایگزین معاینه یا تصمیم درمانی. ادعای محدود و قابل دفاع این است که در جمعیت و پروتکل بررسی‌شده، حفظ آرایش فضایی عروق اطلاعات مکمل پایدارتری از پنج خلاصه‌ی عددی فراهم کرد.</a:t>
            </a:r>
          </a:p>
          <a:p>
            <a:pPr rtl="1">
              <a:spcAft>
                <a:spcPts val="500"/>
              </a:spcAft>
            </a:pPr>
            <a:r>
              <a:rPr sz="1400" b="0">
                <a:solidFill>
                  <a:srgbClr val="222222"/>
                </a:solidFill>
                <a:latin typeface="B Nazanin"/>
              </a:rPr>
              <a:t>بنابراین ادعای اصلی پروژه از یک رتبه‌بندی ساده‌ی مدل‌ها به دست نمی‌آید. استدلال بر مقایسه‌های زوجی از پیش تعریف‌شده تکیه دارد. این طراحی اجازه می‌دهد بگوییم یک نوع اطلاعات به‌تنهایی مفید است، مکمل نوع دیگری است یا پس از حضور یک بازنمایی قوی به اطلاعات زائد تبدیل می‌شود.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مهم‌ترین نوآوری در یک جمله چیست؟  پاسخ: تفکیک تجربی و زوجی میان سیگنال مستقل پنج نشانگر، ارزش افزوده‌ی آن‌ها و ارزش افزوده‌ی ساختار کامل فضایی عروق، همراه با آزمون انتقال و پایداری معماری.</a:t>
            </a:r>
          </a:p>
          <a:p>
            <a:pPr rtl="1">
              <a:spcAft>
                <a:spcPts val="500"/>
              </a:spcAft>
            </a:pPr>
            <a:r>
              <a:rPr sz="1400" b="0">
                <a:solidFill>
                  <a:srgbClr val="222222"/>
                </a:solidFill>
                <a:latin typeface="B Nazanin"/>
              </a:rPr>
              <a:t>پرسش: چرا نتیجه از نظر بالینی آماده نیست؟  پاسخ: به دلیل نبود اعتبارسنجی خارجی آینده‌نگر، افت بین‌منبعی، نبود سنجش مستقیم نهایی ماسک و نبود ارزیابی اثر مدل بر تصمیم و پیامد بیمار.</a:t>
            </a:r>
          </a:p>
          <a:p>
            <a:pPr rtl="1">
              <a:spcAft>
                <a:spcPts val="500"/>
              </a:spcAft>
            </a:pPr>
            <a:r>
              <a:rPr sz="1400" b="0">
                <a:solidFill>
                  <a:srgbClr val="222222"/>
                </a:solidFill>
                <a:latin typeface="B Nazanin"/>
              </a:rPr>
              <a:t>پرسش: اولین آزمایش بعدی چه باید باشد؟  پاسخ: یک مطالعه‌ی مرکز خارجی مستقل با شناسه‌ی بیمار، مرجع جداسازی متخصص، پروتکل از پیش ثبت‌شده و نقطه‌ی کار بالینی مشخص.</a:t>
            </a:r>
          </a:p>
          <a:p>
            <a:pPr rtl="1">
              <a:spcAft>
                <a:spcPts val="500"/>
              </a:spcAft>
            </a:pPr>
            <a:r>
              <a:rPr sz="1400" b="0">
                <a:solidFill>
                  <a:srgbClr val="222222"/>
                </a:solidFill>
                <a:latin typeface="B Nazanin"/>
              </a:rPr>
              <a:t>پرسش: ۳۰. نتیجه‌ی پایان‌نامه در یک جمله چیست؟  پاسخ: در جمعیت و پروتکل مشخص، عروق مهم بودند اما شیوه‌ی نمایش تعیین‌کننده بود: نقشه‌ی فضایی مکمل تصویر رنگی شد، در حالی که پنج خلاصه‌ی عددی با وجود داشتن اطلاعات مستقل، ارزش افزوده‌ی تکرارپذیر ایجاد نکردند.</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spcAft>
                <a:spcPts val="500"/>
              </a:spcAft>
            </a:pPr>
            <a:r>
              <a:rPr sz="1400" b="0">
                <a:solidFill>
                  <a:srgbClr val="222222"/>
                </a:solidFill>
                <a:latin typeface="B Nazanin"/>
              </a:rPr>
              <a:t>— محور اسلاید —</a:t>
            </a:r>
          </a:p>
          <a:p>
            <a:pPr rtl="1">
              <a:spcAft>
                <a:spcPts val="500"/>
              </a:spcAft>
            </a:pPr>
            <a:r>
              <a:rPr sz="1400" b="0">
                <a:solidFill>
                  <a:srgbClr val="222222"/>
                </a:solidFill>
                <a:latin typeface="B Nazanin"/>
              </a:rPr>
              <a:t>پاسخ‌دادن به داور با الگوی چهارمرحله‌ای: پاسخ مستقیم در یک جمله، عدد یا طراحی پشتیبان، تفسیر علمی، و مرز ادعا. در این اسلاید سخت‌ترین پرسش‌ها با همین الگو آمده است.</a:t>
            </a:r>
          </a:p>
          <a:p>
            <a:pPr rtl="1">
              <a:spcAft>
                <a:spcPts val="500"/>
              </a:spcAft>
            </a:pPr>
            <a:r>
              <a:rPr sz="1400" b="0">
                <a:solidFill>
                  <a:srgbClr val="222222"/>
                </a:solidFill>
                <a:latin typeface="B Nazanin"/>
              </a:rPr>
              <a:t>— شرح و شاهد —</a:t>
            </a:r>
          </a:p>
          <a:p>
            <a:pPr rtl="1">
              <a:spcAft>
                <a:spcPts val="500"/>
              </a:spcAft>
            </a:pPr>
            <a:r>
              <a:rPr sz="1400" b="0">
                <a:solidFill>
                  <a:srgbClr val="222222"/>
                </a:solidFill>
                <a:latin typeface="B Nazanin"/>
              </a:rPr>
              <a:t>۱. پاسخ مستقیم را در یک جمله بگو. ۲. عدد یا طراحی آزمایش پشتیبان را ارائه کن. ۳. تفسیر علمی را بیان کن. ۴. مرز ادعا را مشخص کن. برای مثال: «بله، عروق فضایی ارزش افزوده داشتند؛ </a:t>
            </a:r>
            <a:r>
              <a:rPr sz="1400" b="0">
                <a:solidFill>
                  <a:srgbClr val="222222"/>
                </a:solidFill>
                <a:latin typeface="Times New Roman"/>
              </a:rPr>
              <a:t>E</a:t>
            </a:r>
            <a:r>
              <a:rPr sz="1400" b="0">
                <a:solidFill>
                  <a:srgbClr val="222222"/>
                </a:solidFill>
                <a:latin typeface="B Nazanin"/>
              </a:rPr>
              <a:t> نسبت به </a:t>
            </a:r>
            <a:r>
              <a:rPr sz="1400" b="0">
                <a:solidFill>
                  <a:srgbClr val="222222"/>
                </a:solidFill>
                <a:latin typeface="Times New Roman"/>
              </a:rPr>
              <a:t>B</a:t>
            </a:r>
            <a:r>
              <a:rPr sz="1400" b="0">
                <a:solidFill>
                  <a:srgbClr val="222222"/>
                </a:solidFill>
                <a:latin typeface="B Nazanin"/>
              </a:rPr>
              <a:t> حدود ۰٫۰۰۷۹ </a:t>
            </a:r>
            <a:r>
              <a:rPr sz="1400" b="0">
                <a:solidFill>
                  <a:srgbClr val="222222"/>
                </a:solidFill>
                <a:latin typeface="Times New Roman"/>
              </a:rPr>
              <a:t>AUC</a:t>
            </a:r>
            <a:r>
              <a:rPr sz="1400" b="0">
                <a:solidFill>
                  <a:srgbClr val="222222"/>
                </a:solidFill>
                <a:latin typeface="B Nazanin"/>
              </a:rPr>
              <a:t> اضافه کرد و بازه‌ی زوجی مثبت بود؛ این نشان می‌دهد اطلاعات مکانی عروق با </a:t>
            </a:r>
            <a:r>
              <a:rPr sz="1400" b="0">
                <a:solidFill>
                  <a:srgbClr val="222222"/>
                </a:solidFill>
                <a:latin typeface="Times New Roman"/>
              </a:rPr>
              <a:t>RGB</a:t>
            </a:r>
            <a:r>
              <a:rPr sz="1400" b="0">
                <a:solidFill>
                  <a:srgbClr val="222222"/>
                </a:solidFill>
                <a:latin typeface="B Nazanin"/>
              </a:rPr>
              <a:t> کاملاً زائد نبود؛ بااین‌حال ارزش بالینی آن بدون نقطه‌ی کار و اعتبارسنجی خارجی اثبات نشده است.</a:t>
            </a:r>
          </a:p>
          <a:p>
            <a:pPr rtl="1">
              <a:spcAft>
                <a:spcPts val="500"/>
              </a:spcAft>
            </a:pPr>
            <a:r>
              <a:rPr sz="1400" b="0">
                <a:solidFill>
                  <a:srgbClr val="222222"/>
                </a:solidFill>
                <a:latin typeface="B Nazanin"/>
              </a:rPr>
              <a:t>— عدد تاریخی نزدیک ۰٫۹۸ را به‌عنوان نتیجه‌ی معتبر نهایی نشان نده. — ۸۸۷۰ و ۸۸۶۲ را دو نسخه‌ی متناقض معرفی نکن. — پلاس دودویی را با </a:t>
            </a:r>
            <a:r>
              <a:rPr sz="1400" b="0">
                <a:solidFill>
                  <a:srgbClr val="222222"/>
                </a:solidFill>
                <a:latin typeface="Times New Roman"/>
              </a:rPr>
              <a:t>FARFUM</a:t>
            </a:r>
            <a:r>
              <a:rPr sz="1400" b="0">
                <a:solidFill>
                  <a:srgbClr val="222222"/>
                </a:solidFill>
                <a:latin typeface="B Nazanin"/>
              </a:rPr>
              <a:t> و فارابی سه‌کلاسه مستقیم مقایسه نکن. — از بالاترین عدد نقطه‌ای نتیجه‌ی برتری قطعی نگیر. — </a:t>
            </a:r>
            <a:r>
              <a:rPr sz="1400" b="0">
                <a:solidFill>
                  <a:srgbClr val="222222"/>
                </a:solidFill>
                <a:latin typeface="Times New Roman"/>
              </a:rPr>
              <a:t>attention</a:t>
            </a:r>
            <a:r>
              <a:rPr sz="1400" b="0">
                <a:solidFill>
                  <a:srgbClr val="222222"/>
                </a:solidFill>
                <a:latin typeface="B Nazanin"/>
              </a:rPr>
              <a:t> را توضیح علّی تلقی نکن. — کیفیت بالینی جداسازی را بدون معیار خارجی ادعا نکن. — نگو «هیچ نشتی وجود ندارد»؛ بگو کنترل‌های مشخص چه چیزهایی را رد کرده‌اند و چه ابهام‌هایی باقی مانده‌اند.</a:t>
            </a:r>
          </a:p>
          <a:p>
            <a:pPr rtl="1">
              <a:spcAft>
                <a:spcPts val="500"/>
              </a:spcAft>
            </a:pPr>
            <a:r>
              <a:rPr sz="1400" b="0">
                <a:solidFill>
                  <a:srgbClr val="222222"/>
                </a:solidFill>
                <a:latin typeface="B Nazanin"/>
              </a:rPr>
              <a:t>— پرسش‌های محتمل داور —</a:t>
            </a:r>
          </a:p>
          <a:p>
            <a:pPr rtl="1">
              <a:spcAft>
                <a:spcPts val="500"/>
              </a:spcAft>
            </a:pPr>
            <a:r>
              <a:rPr sz="1400" b="0">
                <a:solidFill>
                  <a:srgbClr val="222222"/>
                </a:solidFill>
                <a:latin typeface="B Nazanin"/>
              </a:rPr>
              <a:t>پرسش: ۱۰. آیا مدل </a:t>
            </a:r>
            <a:r>
              <a:rPr sz="1400" b="0">
                <a:solidFill>
                  <a:srgbClr val="222222"/>
                </a:solidFill>
                <a:latin typeface="Times New Roman"/>
              </a:rPr>
              <a:t>A</a:t>
            </a:r>
            <a:r>
              <a:rPr sz="1400" b="0">
                <a:solidFill>
                  <a:srgbClr val="222222"/>
                </a:solidFill>
                <a:latin typeface="B Nazanin"/>
              </a:rPr>
              <a:t> ثابت می‌کند نشانگرها بهتر از شانس‌اند؟  پاسخ: مدل </a:t>
            </a:r>
            <a:r>
              <a:rPr sz="1400" b="0">
                <a:solidFill>
                  <a:srgbClr val="222222"/>
                </a:solidFill>
                <a:latin typeface="Times New Roman"/>
              </a:rPr>
              <a:t>A</a:t>
            </a:r>
            <a:r>
              <a:rPr sz="1400" b="0">
                <a:solidFill>
                  <a:srgbClr val="222222"/>
                </a:solidFill>
                <a:latin typeface="B Nazanin"/>
              </a:rPr>
              <a:t> برآورد نقطه‌ای ۰٫۶۵۹۶ دارد و نشان می‌دهد اطلاعاتی وجود دارد؛ ولی آزمون مستقل از پیش تعریف‌شده برای فاصله‌ی آن از ۰٫۵ گزارش نشده است. بنابراین بهتر است بگوییم «سیگنال یا اطلاعات نقطه‌ای» نه اثبات رسمی برتری بر شانس.</a:t>
            </a:r>
          </a:p>
          <a:p>
            <a:pPr rtl="1">
              <a:spcAft>
                <a:spcPts val="500"/>
              </a:spcAft>
            </a:pPr>
            <a:r>
              <a:rPr sz="1400" b="0">
                <a:solidFill>
                  <a:srgbClr val="222222"/>
                </a:solidFill>
                <a:latin typeface="B Nazanin"/>
              </a:rPr>
              <a:t>پرسش: ۱۲. مهم‌ترین نتیجه‌ی آماری چیست؟  پاسخ: مقایسه‌ی </a:t>
            </a:r>
            <a:r>
              <a:rPr sz="1400" b="0">
                <a:solidFill>
                  <a:srgbClr val="222222"/>
                </a:solidFill>
                <a:latin typeface="Times New Roman"/>
              </a:rPr>
              <a:t>E-B</a:t>
            </a:r>
            <a:r>
              <a:rPr sz="1400" b="0">
                <a:solidFill>
                  <a:srgbClr val="222222"/>
                </a:solidFill>
                <a:latin typeface="B Nazanin"/>
              </a:rPr>
              <a:t>: افزایش سطح زیر منحنی ۰٫۰۰۷۹ با بازه‌ی کاملاً مثبت و کاهش بریر ۰٫۰۲۷۷ با بازه‌ی کاملاً منفی. این دو نتیجه مکمل‌بودن بازنمایی فضایی عروق را پشتیبانی می‌کنند.</a:t>
            </a:r>
          </a:p>
          <a:p>
            <a:pPr rtl="1">
              <a:spcAft>
                <a:spcPts val="500"/>
              </a:spcAft>
            </a:pPr>
            <a:r>
              <a:rPr sz="1400" b="0">
                <a:solidFill>
                  <a:srgbClr val="222222"/>
                </a:solidFill>
                <a:latin typeface="B Nazanin"/>
              </a:rPr>
              <a:t>پرسش: ۱۳. چرا نشانگرها به مدل کمک نکردند؟  پاسخ: سه توضیح سازگار وجود دارد: اطلاعات آن‌ها با بازنمایی رنگی و عروقی هم‌پوشان است؛ فشرده‌سازی به پنج عدد اطلاعات مکانی را حذف می‌کند؛ و خطای اندازه‌گیری ماسک می‌تواند نسبت سیگنال به نویز را کاهش دهد. پروژه میان این علت‌ها حکم علّی قطعی نمی‌دهد.</a:t>
            </a:r>
          </a:p>
          <a:p>
            <a:pPr rtl="1">
              <a:spcAft>
                <a:spcPts val="500"/>
              </a:spcAft>
            </a:pPr>
            <a:r>
              <a:rPr sz="1400" b="0">
                <a:solidFill>
                  <a:srgbClr val="222222"/>
                </a:solidFill>
                <a:latin typeface="B Nazanin"/>
              </a:rPr>
              <a:t>پرسش: ۱۵. آیا بهبود ۰٫۰۰۸ ارزشمند است؟  پاسخ: از نظر آماری پشتیبانی شده، ولی ارزش بالینی از </a:t>
            </a:r>
            <a:r>
              <a:rPr sz="1400" b="0">
                <a:solidFill>
                  <a:srgbClr val="222222"/>
                </a:solidFill>
                <a:latin typeface="Times New Roman"/>
              </a:rPr>
              <a:t>AUC</a:t>
            </a:r>
            <a:r>
              <a:rPr sz="1400" b="0">
                <a:solidFill>
                  <a:srgbClr val="222222"/>
                </a:solidFill>
                <a:latin typeface="B Nazanin"/>
              </a:rPr>
              <a:t> به‌تنهایی مشخص نیست. باید حساسیت در نقطه‌ی کار، هزینه‌ی خطا، شیوع، واسنجی و اثر بر روند بالینی بررسی شود.</a:t>
            </a:r>
          </a:p>
          <a:p>
            <a:pPr rtl="1">
              <a:spcAft>
                <a:spcPts val="500"/>
              </a:spcAft>
            </a:pPr>
            <a:r>
              <a:rPr sz="1400" b="0">
                <a:solidFill>
                  <a:srgbClr val="222222"/>
                </a:solidFill>
                <a:latin typeface="B Nazanin"/>
              </a:rPr>
              <a:t>پرسش: ۱۷. آیا </a:t>
            </a:r>
            <a:r>
              <a:rPr sz="1400" b="0">
                <a:solidFill>
                  <a:srgbClr val="222222"/>
                </a:solidFill>
                <a:latin typeface="Times New Roman"/>
              </a:rPr>
              <a:t>LOSO</a:t>
            </a:r>
            <a:r>
              <a:rPr sz="1400" b="0">
                <a:solidFill>
                  <a:srgbClr val="222222"/>
                </a:solidFill>
                <a:latin typeface="B Nazanin"/>
              </a:rPr>
              <a:t> اعتبارسنجی خارجی است؟  پاسخ: یک آزمون انتقال قوی‌تر از تقسیم آمیخته است، اما اعتبارسنجی خارجی کامل نیست؛ زیرا هر سه منبع در طراحی و تحلیل پژوهش شناخته‌شده بودند.</a:t>
            </a:r>
          </a:p>
          <a:p>
            <a:pPr rtl="1">
              <a:spcAft>
                <a:spcPts val="500"/>
              </a:spcAft>
            </a:pPr>
            <a:r>
              <a:rPr sz="1400" b="0">
                <a:solidFill>
                  <a:srgbClr val="222222"/>
                </a:solidFill>
                <a:latin typeface="B Nazanin"/>
              </a:rPr>
              <a:t>پرسش: ۱۹. چرا </a:t>
            </a:r>
            <a:r>
              <a:rPr sz="1400" b="0">
                <a:solidFill>
                  <a:srgbClr val="222222"/>
                </a:solidFill>
                <a:latin typeface="Times New Roman"/>
              </a:rPr>
              <a:t>DANN</a:t>
            </a:r>
            <a:r>
              <a:rPr sz="1400" b="0">
                <a:solidFill>
                  <a:srgbClr val="222222"/>
                </a:solidFill>
                <a:latin typeface="B Nazanin"/>
              </a:rPr>
              <a:t>+</a:t>
            </a:r>
            <a:r>
              <a:rPr sz="1400" b="0">
                <a:solidFill>
                  <a:srgbClr val="222222"/>
                </a:solidFill>
                <a:latin typeface="Times New Roman"/>
              </a:rPr>
              <a:t>MMD</a:t>
            </a:r>
            <a:r>
              <a:rPr sz="1400" b="0">
                <a:solidFill>
                  <a:srgbClr val="222222"/>
                </a:solidFill>
                <a:latin typeface="B Nazanin"/>
              </a:rPr>
              <a:t> نتیجه نداد؟  پاسخ: کاهش فاصله‌ی بازنمایی الزاماً اطلاعات بیماری را حفظ نمی‌کند. ممکن است منبع و بیماری هم‌بسته باشند، ضرایب مناسب نباشند یا نوع جابه‌جایی فقط هم‌متغیر نباشد. نتیجه فقط درباره‌ی تنظیم ثابت بررسی‌شده است.</a:t>
            </a:r>
          </a:p>
          <a:p>
            <a:pPr rtl="1">
              <a:spcAft>
                <a:spcPts val="500"/>
              </a:spcAft>
            </a:pPr>
            <a:r>
              <a:rPr sz="1400" b="0">
                <a:solidFill>
                  <a:srgbClr val="222222"/>
                </a:solidFill>
                <a:latin typeface="B Nazanin"/>
              </a:rPr>
              <a:t>پرسش: ۲۴. آیا آزمون واقعاً فقط یک بار استفاده شد؟  پاسخ: برای مقایسه‌ی اصلی، تقسیم آزمون ثابت بود. اما آزمایش‌های ثانویه پس از مشاهده‌ی نتیجه‌ی اولیه روی همان آزمون ارزیابی شدند؛ بنابراین آن‌ها اکتشافی‌اند و نمی‌توان آزمون را برای کل مسیر کاملاً دست‌نخورده دانست.</a:t>
            </a:r>
          </a:p>
          <a:p>
            <a:pPr rtl="1">
              <a:spcAft>
                <a:spcPts val="500"/>
              </a:spcAft>
            </a:pPr>
            <a:r>
              <a:rPr sz="1400" b="0">
                <a:solidFill>
                  <a:srgbClr val="222222"/>
                </a:solidFill>
                <a:latin typeface="B Nazanin"/>
              </a:rPr>
              <a:t>پرسش: ۲۸. مهم‌ترین محدودیت چیست؟  پاسخ: برای کاربرد، افت بین‌منبعی و نبود اعتبارسنجی خارجی مستقل مهم‌ترین‌اند. از نظر روش‌شناسی نیز نبود شناسه‌ی بیمار فارابی و استفاده‌ی دوباره از آزمون در مراحل ثانویه اهمیت دارند.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1280160"/>
          </a:xfrm>
          <a:prstGeom prst="rect">
            <a:avLst/>
          </a:prstGeom>
          <a:noFill/>
        </p:spPr>
        <p:txBody>
          <a:bodyPr wrap="square">
            <a:spAutoFit/>
          </a:bodyPr>
          <a:lstStyle/>
          <a:p>
            <a:pPr rtl="1" algn="ctr"/>
            <a:r>
              <a:rPr sz="3800" b="1">
                <a:solidFill>
                  <a:srgbClr val="FFFFFF"/>
                </a:solidFill>
                <a:latin typeface="B Nazanin"/>
              </a:rPr>
              <a:t>تشخیص بیماری پلاس در رتینوپاتی نارس</a:t>
            </a:r>
          </a:p>
          <a:p>
            <a:pPr rtl="1" algn="ctr"/>
            <a:r>
              <a:rPr sz="1900" b="0">
                <a:solidFill>
                  <a:srgbClr val="D5DDE8"/>
                </a:solidFill>
                <a:latin typeface="B Nazanin"/>
              </a:rPr>
              <a:t>ارزیابی سهم بازنمایی عروقی فضایی و نشانگرهای اسکالر عروقی در کنار بازنمایی تصویر</a:t>
            </a:r>
          </a:p>
        </p:txBody>
      </p:sp>
      <p:sp>
        <p:nvSpPr>
          <p:cNvPr id="4" name="TextBox 3"/>
          <p:cNvSpPr txBox="1"/>
          <p:nvPr/>
        </p:nvSpPr>
        <p:spPr>
          <a:xfrm>
            <a:off x="914400" y="4114800"/>
            <a:ext cx="10332720" cy="1463040"/>
          </a:xfrm>
          <a:prstGeom prst="rect">
            <a:avLst/>
          </a:prstGeom>
          <a:noFill/>
        </p:spPr>
        <p:txBody>
          <a:bodyPr wrap="square">
            <a:spAutoFit/>
          </a:bodyPr>
          <a:lstStyle/>
          <a:p>
            <a:pPr rtl="1" algn="ctr"/>
            <a:r>
              <a:rPr sz="2200" b="1">
                <a:solidFill>
                  <a:srgbClr val="FFFFFF"/>
                </a:solidFill>
                <a:latin typeface="B Nazanin"/>
              </a:rPr>
              <a:t>نیکی مهدیان</a:t>
            </a:r>
          </a:p>
          <a:p>
            <a:pPr rtl="1" algn="ctr"/>
            <a:r>
              <a:rPr sz="1700" b="0">
                <a:solidFill>
                  <a:srgbClr val="B9C4D4"/>
                </a:solidFill>
                <a:latin typeface="B Nazanin"/>
              </a:rPr>
              <a:t>استاد راهنما: دکتر تقی راد</a:t>
            </a:r>
          </a:p>
          <a:p>
            <a:pPr rtl="1" algn="ctr"/>
            <a:r>
              <a:rPr sz="1600" b="0">
                <a:solidFill>
                  <a:srgbClr val="B9C4D4"/>
                </a:solidFill>
                <a:latin typeface="B Nazanin"/>
              </a:rPr>
              <a:t>دانشکده‌ی مهندسی برق - دانشگاه صنعتی خواجه نصیرالدین طوسی</a:t>
            </a:r>
          </a:p>
          <a:p>
            <a:pPr rtl="1" algn="ctr"/>
            <a:r>
              <a:rPr sz="1600" b="0">
                <a:solidFill>
                  <a:srgbClr val="B9C4D4"/>
                </a:solidFill>
                <a:latin typeface="B Nazanin"/>
              </a:rPr>
              <a:t>پروژه‌ی کارشناسی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مسئله‌ی بالینی</a:t>
            </a:r>
          </a:p>
        </p:txBody>
      </p:sp>
      <p:sp>
        <p:nvSpPr>
          <p:cNvPr id="3" name="TextBox 2"/>
          <p:cNvSpPr txBox="1"/>
          <p:nvPr/>
        </p:nvSpPr>
        <p:spPr>
          <a:xfrm>
            <a:off x="731520" y="1783080"/>
            <a:ext cx="10789920" cy="4480560"/>
          </a:xfrm>
          <a:prstGeom prst="rect">
            <a:avLst/>
          </a:prstGeom>
          <a:noFill/>
        </p:spPr>
        <p:txBody>
          <a:bodyPr wrap="square">
            <a:spAutoFit/>
          </a:bodyPr>
          <a:lstStyle/>
          <a:p>
            <a:pPr rtl="1">
              <a:spcAft>
                <a:spcPts val="1600"/>
              </a:spcAft>
            </a:pPr>
            <a:r>
              <a:rPr sz="2400" b="0">
                <a:solidFill>
                  <a:srgbClr val="1B2A41"/>
                </a:solidFill>
                <a:latin typeface="B Nazanin"/>
              </a:rPr>
              <a:t>▪ رتینوپاتی نارس و </a:t>
            </a:r>
            <a:r>
              <a:rPr sz="2400" b="0">
                <a:solidFill>
                  <a:srgbClr val="1B2A41"/>
                </a:solidFill>
                <a:latin typeface="Times New Roman"/>
              </a:rPr>
              <a:t>ROP</a:t>
            </a:r>
          </a:p>
          <a:p>
            <a:pPr rtl="1">
              <a:spcAft>
                <a:spcPts val="1600"/>
              </a:spcAft>
            </a:pPr>
            <a:r>
              <a:rPr sz="2400" b="0">
                <a:solidFill>
                  <a:srgbClr val="1B2A41"/>
                </a:solidFill>
                <a:latin typeface="B Nazanin"/>
              </a:rPr>
              <a:t>▪ بیماری </a:t>
            </a:r>
            <a:r>
              <a:rPr sz="2400" b="0">
                <a:solidFill>
                  <a:srgbClr val="1B2A41"/>
                </a:solidFill>
                <a:latin typeface="Times New Roman"/>
              </a:rPr>
              <a:t>Plus</a:t>
            </a:r>
          </a:p>
          <a:p>
            <a:pPr rtl="1">
              <a:spcAft>
                <a:spcPts val="1600"/>
              </a:spcAft>
            </a:pPr>
            <a:r>
              <a:rPr sz="2400" b="0">
                <a:solidFill>
                  <a:srgbClr val="1B2A41"/>
                </a:solidFill>
                <a:latin typeface="B Nazanin"/>
              </a:rPr>
              <a:t>▪ مرز </a:t>
            </a:r>
            <a:r>
              <a:rPr sz="2400" b="0">
                <a:solidFill>
                  <a:srgbClr val="1B2A41"/>
                </a:solidFill>
                <a:latin typeface="Times New Roman"/>
              </a:rPr>
              <a:t>Pre-Plus</a:t>
            </a:r>
          </a:p>
          <a:p>
            <a:pPr rtl="1">
              <a:spcAft>
                <a:spcPts val="1600"/>
              </a:spcAft>
            </a:pPr>
            <a:r>
              <a:rPr sz="2400" b="0">
                <a:solidFill>
                  <a:srgbClr val="1B2A41"/>
                </a:solidFill>
                <a:latin typeface="B Nazanin"/>
              </a:rPr>
              <a:t>▪ خروجی مدل: احتمال سه‌رده‌ای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پرسش پژوهش</a:t>
            </a:r>
          </a:p>
        </p:txBody>
      </p:sp>
      <p:sp>
        <p:nvSpPr>
          <p:cNvPr id="3" name="TextBox 2"/>
          <p:cNvSpPr txBox="1"/>
          <p:nvPr/>
        </p:nvSpPr>
        <p:spPr>
          <a:xfrm>
            <a:off x="731520" y="1783080"/>
            <a:ext cx="10789920" cy="4480560"/>
          </a:xfrm>
          <a:prstGeom prst="rect">
            <a:avLst/>
          </a:prstGeom>
          <a:noFill/>
        </p:spPr>
        <p:txBody>
          <a:bodyPr wrap="square">
            <a:spAutoFit/>
          </a:bodyPr>
          <a:lstStyle/>
          <a:p>
            <a:pPr rtl="1">
              <a:spcAft>
                <a:spcPts val="1600"/>
              </a:spcAft>
            </a:pPr>
            <a:r>
              <a:rPr sz="2400" b="0">
                <a:solidFill>
                  <a:srgbClr val="1B2A41"/>
                </a:solidFill>
                <a:latin typeface="B Nazanin"/>
              </a:rPr>
              <a:t>▪ چهار پرسش پژوهش</a:t>
            </a:r>
          </a:p>
          <a:p>
            <a:pPr rtl="1">
              <a:spcAft>
                <a:spcPts val="1600"/>
              </a:spcAft>
            </a:pPr>
            <a:r>
              <a:rPr sz="2400" b="0">
                <a:solidFill>
                  <a:srgbClr val="1B2A41"/>
                </a:solidFill>
                <a:latin typeface="B Nazanin"/>
              </a:rPr>
              <a:t>▪ یک پروتکل واحد</a:t>
            </a:r>
          </a:p>
          <a:p>
            <a:pPr rtl="1">
              <a:spcAft>
                <a:spcPts val="1600"/>
              </a:spcAft>
            </a:pPr>
            <a:r>
              <a:rPr sz="2400" b="0">
                <a:solidFill>
                  <a:srgbClr val="1B2A41"/>
                </a:solidFill>
                <a:latin typeface="B Nazanin"/>
              </a:rPr>
              <a:t>▪ آزمون قفل‌شده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جمعیت، منابع و تقسیم</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منبع بزرگ، عدد تجمیعی را جهت می‌دهد</a:t>
            </a:r>
          </a:p>
        </p:txBody>
      </p:sp>
      <p:pic>
        <p:nvPicPr>
          <p:cNvPr id="4" name="Picture 3" descr="D1_source_class_distribution.png"/>
          <p:cNvPicPr>
            <a:picLocks noChangeAspect="1"/>
          </p:cNvPicPr>
          <p:nvPr/>
        </p:nvPicPr>
        <p:blipFill>
          <a:blip r:embed="rId2"/>
          <a:stretch>
            <a:fillRect/>
          </a:stretch>
        </p:blipFill>
        <p:spPr>
          <a:xfrm>
            <a:off x="502920" y="1691640"/>
            <a:ext cx="6035040" cy="3621024"/>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۸۸۶۲ مورد، ۴۱۴ گروه</a:t>
            </a:r>
          </a:p>
          <a:p>
            <a:pPr rtl="1">
              <a:spcAft>
                <a:spcPts val="1600"/>
              </a:spcAft>
            </a:pPr>
            <a:r>
              <a:rPr sz="2100" b="0">
                <a:solidFill>
                  <a:srgbClr val="1B2A41"/>
                </a:solidFill>
                <a:latin typeface="B Nazanin"/>
              </a:rPr>
              <a:t>▪ سه مرکز تصویربرداری</a:t>
            </a:r>
          </a:p>
          <a:p>
            <a:pPr rtl="1">
              <a:spcAft>
                <a:spcPts val="1600"/>
              </a:spcAft>
            </a:pPr>
            <a:r>
              <a:rPr sz="2100" b="0">
                <a:solidFill>
                  <a:srgbClr val="1B2A41"/>
                </a:solidFill>
                <a:latin typeface="B Nazanin"/>
              </a:rPr>
              <a:t>▪ تقسیم ۶۲۰۳ / ۱۳۲۸ / ۱۳۳۱</a:t>
            </a:r>
          </a:p>
          <a:p>
            <a:pPr rtl="1">
              <a:spcAft>
                <a:spcPts val="1600"/>
              </a:spcAft>
            </a:pPr>
            <a:r>
              <a:rPr sz="2100" b="0">
                <a:solidFill>
                  <a:srgbClr val="1B2A41"/>
                </a:solidFill>
                <a:latin typeface="B Nazanin"/>
              </a:rPr>
              <a:t>▪ عدم‌توازن منبع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ممیزی داده و جلوگیری از نشت</a:t>
            </a:r>
          </a:p>
        </p:txBody>
      </p:sp>
      <p:sp>
        <p:nvSpPr>
          <p:cNvPr id="3" name="TextBox 2"/>
          <p:cNvSpPr txBox="1"/>
          <p:nvPr/>
        </p:nvSpPr>
        <p:spPr>
          <a:xfrm>
            <a:off x="731520" y="1783080"/>
            <a:ext cx="10789920" cy="4480560"/>
          </a:xfrm>
          <a:prstGeom prst="rect">
            <a:avLst/>
          </a:prstGeom>
          <a:noFill/>
        </p:spPr>
        <p:txBody>
          <a:bodyPr wrap="square">
            <a:spAutoFit/>
          </a:bodyPr>
          <a:lstStyle/>
          <a:p>
            <a:pPr rtl="1">
              <a:spcAft>
                <a:spcPts val="1600"/>
              </a:spcAft>
            </a:pPr>
            <a:r>
              <a:rPr sz="2400" b="0">
                <a:solidFill>
                  <a:srgbClr val="1B2A41"/>
                </a:solidFill>
                <a:latin typeface="B Nazanin"/>
              </a:rPr>
              <a:t>▪ استقلال در سطح گروه</a:t>
            </a:r>
          </a:p>
          <a:p>
            <a:pPr rtl="1">
              <a:spcAft>
                <a:spcPts val="1600"/>
              </a:spcAft>
            </a:pPr>
            <a:r>
              <a:rPr sz="2400" b="0">
                <a:solidFill>
                  <a:srgbClr val="1B2A41"/>
                </a:solidFill>
                <a:latin typeface="B Nazanin"/>
              </a:rPr>
              <a:t>▪ تعریف گروه در </a:t>
            </a:r>
            <a:r>
              <a:rPr sz="2400" b="0">
                <a:solidFill>
                  <a:srgbClr val="1B2A41"/>
                </a:solidFill>
                <a:latin typeface="Times New Roman"/>
              </a:rPr>
              <a:t>Farabi</a:t>
            </a:r>
          </a:p>
          <a:p>
            <a:pPr rtl="1">
              <a:spcAft>
                <a:spcPts val="1600"/>
              </a:spcAft>
            </a:pPr>
            <a:r>
              <a:rPr sz="2400" b="0">
                <a:solidFill>
                  <a:srgbClr val="1B2A41"/>
                </a:solidFill>
                <a:latin typeface="B Nazanin"/>
              </a:rPr>
              <a:t>▪ نبود هم‌پوشانی</a:t>
            </a:r>
          </a:p>
          <a:p>
            <a:pPr rtl="1">
              <a:spcAft>
                <a:spcPts val="1600"/>
              </a:spcAft>
            </a:pPr>
            <a:r>
              <a:rPr sz="2400" b="0">
                <a:solidFill>
                  <a:srgbClr val="1B2A41"/>
                </a:solidFill>
                <a:latin typeface="B Nazanin"/>
              </a:rPr>
              <a:t>▪ قفل اثر انگشت داده</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زنجیره‌ی عروقی و پنج نشانگر</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پنج خلاصه‌ی عددی با معنای هندسی روشن</a:t>
            </a:r>
          </a:p>
        </p:txBody>
      </p:sp>
      <p:pic>
        <p:nvPicPr>
          <p:cNvPr id="4" name="Picture 3" descr="M2_biomarker_pipeline.png"/>
          <p:cNvPicPr>
            <a:picLocks noChangeAspect="1"/>
          </p:cNvPicPr>
          <p:nvPr/>
        </p:nvPicPr>
        <p:blipFill>
          <a:blip r:embed="rId2"/>
          <a:stretch>
            <a:fillRect/>
          </a:stretch>
        </p:blipFill>
        <p:spPr>
          <a:xfrm>
            <a:off x="502920" y="1691640"/>
            <a:ext cx="6035040" cy="2637787"/>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پنج نشانگر نهایی</a:t>
            </a:r>
          </a:p>
          <a:p>
            <a:pPr rtl="1">
              <a:spcAft>
                <a:spcPts val="1600"/>
              </a:spcAft>
            </a:pPr>
            <a:r>
              <a:rPr sz="2100" b="0">
                <a:solidFill>
                  <a:srgbClr val="1B2A41"/>
                </a:solidFill>
                <a:latin typeface="B Nazanin"/>
              </a:rPr>
              <a:t>▪ مخرج مساحت محتوا</a:t>
            </a:r>
          </a:p>
          <a:p>
            <a:pPr rtl="1">
              <a:spcAft>
                <a:spcPts val="1600"/>
              </a:spcAft>
            </a:pPr>
            <a:r>
              <a:rPr sz="2100" b="0">
                <a:solidFill>
                  <a:srgbClr val="1B2A41"/>
                </a:solidFill>
                <a:latin typeface="B Nazanin"/>
              </a:rPr>
              <a:t>▪ خط لوله‌ی تثبیت‌شده</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طراحی مدل‌ها</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یک پیکربندی ثابت برای همه‌ی مدل‌های برداری</a:t>
            </a:r>
          </a:p>
        </p:txBody>
      </p:sp>
      <p:pic>
        <p:nvPicPr>
          <p:cNvPr id="4" name="Picture 3" descr="M3_model_architectures.png"/>
          <p:cNvPicPr>
            <a:picLocks noChangeAspect="1"/>
          </p:cNvPicPr>
          <p:nvPr/>
        </p:nvPicPr>
        <p:blipFill>
          <a:blip r:embed="rId2"/>
          <a:stretch>
            <a:fillRect/>
          </a:stretch>
        </p:blipFill>
        <p:spPr>
          <a:xfrm>
            <a:off x="502920" y="1691640"/>
            <a:ext cx="6035040" cy="4631158"/>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هفت ورودی اصلی</a:t>
            </a:r>
          </a:p>
          <a:p>
            <a:pPr rtl="1">
              <a:spcAft>
                <a:spcPts val="1600"/>
              </a:spcAft>
            </a:pPr>
            <a:r>
              <a:rPr sz="2100" b="0">
                <a:solidFill>
                  <a:srgbClr val="1B2A41"/>
                </a:solidFill>
                <a:latin typeface="B Nazanin"/>
              </a:rPr>
              <a:t>▪ </a:t>
            </a:r>
            <a:r>
              <a:rPr sz="2100" b="0">
                <a:solidFill>
                  <a:srgbClr val="1B2A41"/>
                </a:solidFill>
                <a:latin typeface="Times New Roman"/>
              </a:rPr>
              <a:t>XGBoost</a:t>
            </a:r>
            <a:r>
              <a:rPr sz="2100" b="0">
                <a:solidFill>
                  <a:srgbClr val="1B2A41"/>
                </a:solidFill>
                <a:latin typeface="B Nazanin"/>
              </a:rPr>
              <a:t> با تنظیم ثابت</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روش ارزیابی</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سه رژیم جدا که هرگز با هم جمع نمی‌شوند</a:t>
            </a:r>
          </a:p>
        </p:txBody>
      </p:sp>
      <p:sp>
        <p:nvSpPr>
          <p:cNvPr id="4" name="TextBox 3"/>
          <p:cNvSpPr txBox="1"/>
          <p:nvPr/>
        </p:nvSpPr>
        <p:spPr>
          <a:xfrm>
            <a:off x="731520" y="1783080"/>
            <a:ext cx="10789920" cy="4480560"/>
          </a:xfrm>
          <a:prstGeom prst="rect">
            <a:avLst/>
          </a:prstGeom>
          <a:noFill/>
        </p:spPr>
        <p:txBody>
          <a:bodyPr wrap="square">
            <a:spAutoFit/>
          </a:bodyPr>
          <a:lstStyle/>
          <a:p>
            <a:pPr rtl="1">
              <a:spcAft>
                <a:spcPts val="1600"/>
              </a:spcAft>
            </a:pPr>
            <a:r>
              <a:rPr sz="2400" b="0">
                <a:solidFill>
                  <a:srgbClr val="1B2A41"/>
                </a:solidFill>
                <a:latin typeface="B Nazanin"/>
              </a:rPr>
              <a:t>▪ سه رژیم جدا</a:t>
            </a:r>
          </a:p>
          <a:p>
            <a:pPr rtl="1">
              <a:spcAft>
                <a:spcPts val="1600"/>
              </a:spcAft>
            </a:pPr>
            <a:r>
              <a:rPr sz="2400" b="0">
                <a:solidFill>
                  <a:srgbClr val="1B2A41"/>
                </a:solidFill>
                <a:latin typeface="B Nazanin"/>
              </a:rPr>
              <a:t>▪ </a:t>
            </a:r>
            <a:r>
              <a:rPr sz="2400" b="0">
                <a:solidFill>
                  <a:srgbClr val="1B2A41"/>
                </a:solidFill>
                <a:latin typeface="Times New Roman"/>
              </a:rPr>
              <a:t>Bootstrap</a:t>
            </a:r>
            <a:r>
              <a:rPr sz="2400" b="0">
                <a:solidFill>
                  <a:srgbClr val="1B2A41"/>
                </a:solidFill>
                <a:latin typeface="B Nazanin"/>
              </a:rPr>
              <a:t> زوجی طبقه‌محور</a:t>
            </a:r>
          </a:p>
          <a:p>
            <a:pPr rtl="1">
              <a:spcAft>
                <a:spcPts val="1600"/>
              </a:spcAft>
            </a:pPr>
            <a:r>
              <a:rPr sz="2400" b="0">
                <a:solidFill>
                  <a:srgbClr val="1B2A41"/>
                </a:solidFill>
                <a:latin typeface="B Nazanin"/>
              </a:rPr>
              <a:t>▪ پنج معیار</a:t>
            </a:r>
          </a:p>
          <a:p>
            <a:pPr rtl="1">
              <a:spcAft>
                <a:spcPts val="1600"/>
              </a:spcAft>
            </a:pPr>
            <a:r>
              <a:rPr sz="2400" b="0">
                <a:solidFill>
                  <a:srgbClr val="1B2A41"/>
                </a:solidFill>
                <a:latin typeface="B Nazanin"/>
              </a:rPr>
              <a:t>▪ قفل آزمون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نتایج آزمون کانونی</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آزمون کانونی با ۱۳۳۱ تصویر</a:t>
            </a:r>
          </a:p>
        </p:txBody>
      </p:sp>
      <p:graphicFrame>
        <p:nvGraphicFramePr>
          <p:cNvPr id="4" name="Table 3"/>
          <p:cNvGraphicFramePr>
            <a:graphicFrameLocks noGrp="1"/>
          </p:cNvGraphicFramePr>
          <p:nvPr/>
        </p:nvGraphicFramePr>
        <p:xfrm>
          <a:off x="502920" y="1691640"/>
          <a:ext cx="11155677" cy="2743200"/>
        </p:xfrm>
        <a:graphic>
          <a:graphicData uri="http://schemas.openxmlformats.org/drawingml/2006/table">
            <a:tbl>
              <a:tblPr firstRow="1" bandRow="1">
                <a:tableStyleId>{5C22544A-7EE6-4342-B048-85BDC9FD1C3A}</a:tableStyleId>
              </a:tblPr>
              <a:tblGrid>
                <a:gridCol w="3417055"/>
                <a:gridCol w="1507524"/>
                <a:gridCol w="1708527"/>
                <a:gridCol w="1708527"/>
                <a:gridCol w="1407022"/>
                <a:gridCol w="1407022"/>
              </a:tblGrid>
              <a:tr h="391885">
                <a:tc>
                  <a:txBody>
                    <a:bodyPr/>
                    <a:lstStyle/>
                    <a:p>
                      <a:pPr rtl="1" algn="ctr"/>
                      <a:r>
                        <a:rPr sz="1500" b="1">
                          <a:solidFill>
                            <a:srgbClr val="FFFFFF"/>
                          </a:solidFill>
                          <a:latin typeface="B Nazanin"/>
                        </a:rPr>
                        <a:t>مدل</a:t>
                      </a:r>
                    </a:p>
                  </a:txBody>
                  <a:tcPr>
                    <a:solidFill>
                      <a:srgbClr val="1B2A41"/>
                    </a:solidFill>
                  </a:tcPr>
                </a:tc>
                <a:tc>
                  <a:txBody>
                    <a:bodyPr/>
                    <a:lstStyle/>
                    <a:p>
                      <a:pPr rtl="1" algn="ctr"/>
                      <a:r>
                        <a:rPr sz="1500" b="1">
                          <a:solidFill>
                            <a:srgbClr val="FFFFFF"/>
                          </a:solidFill>
                          <a:latin typeface="Times New Roman"/>
                        </a:rPr>
                        <a:t>AUC</a:t>
                      </a:r>
                    </a:p>
                  </a:txBody>
                  <a:tcPr>
                    <a:solidFill>
                      <a:srgbClr val="1B2A41"/>
                    </a:solidFill>
                  </a:tcPr>
                </a:tc>
                <a:tc>
                  <a:txBody>
                    <a:bodyPr/>
                    <a:lstStyle/>
                    <a:p>
                      <a:pPr rtl="1" algn="ctr"/>
                      <a:r>
                        <a:rPr sz="1500" b="1">
                          <a:solidFill>
                            <a:srgbClr val="FFFFFF"/>
                          </a:solidFill>
                          <a:latin typeface="B Nazanin"/>
                        </a:rPr>
                        <a:t>دقت متعادل</a:t>
                      </a:r>
                    </a:p>
                  </a:txBody>
                  <a:tcPr>
                    <a:solidFill>
                      <a:srgbClr val="1B2A41"/>
                    </a:solidFill>
                  </a:tcPr>
                </a:tc>
                <a:tc>
                  <a:txBody>
                    <a:bodyPr/>
                    <a:lstStyle/>
                    <a:p>
                      <a:pPr rtl="1" algn="ctr"/>
                      <a:r>
                        <a:rPr sz="1500" b="1">
                          <a:solidFill>
                            <a:srgbClr val="FFFFFF"/>
                          </a:solidFill>
                          <a:latin typeface="Times New Roman"/>
                        </a:rPr>
                        <a:t>F1</a:t>
                      </a:r>
                      <a:r>
                        <a:rPr sz="1500" b="1">
                          <a:solidFill>
                            <a:srgbClr val="FFFFFF"/>
                          </a:solidFill>
                          <a:latin typeface="B Nazanin"/>
                        </a:rPr>
                        <a:t> ماکرو</a:t>
                      </a:r>
                    </a:p>
                  </a:txBody>
                  <a:tcPr>
                    <a:solidFill>
                      <a:srgbClr val="1B2A41"/>
                    </a:solidFill>
                  </a:tcPr>
                </a:tc>
                <a:tc>
                  <a:txBody>
                    <a:bodyPr/>
                    <a:lstStyle/>
                    <a:p>
                      <a:pPr rtl="1" algn="ctr"/>
                      <a:r>
                        <a:rPr sz="1500" b="1">
                          <a:solidFill>
                            <a:srgbClr val="FFFFFF"/>
                          </a:solidFill>
                          <a:latin typeface="Times New Roman"/>
                        </a:rPr>
                        <a:t>Brier</a:t>
                      </a:r>
                    </a:p>
                  </a:txBody>
                  <a:tcPr>
                    <a:solidFill>
                      <a:srgbClr val="1B2A41"/>
                    </a:solidFill>
                  </a:tcPr>
                </a:tc>
                <a:tc>
                  <a:txBody>
                    <a:bodyPr/>
                    <a:lstStyle/>
                    <a:p>
                      <a:pPr rtl="1" algn="ctr"/>
                      <a:r>
                        <a:rPr sz="1500" b="1">
                          <a:solidFill>
                            <a:srgbClr val="FFFFFF"/>
                          </a:solidFill>
                          <a:latin typeface="Times New Roman"/>
                        </a:rPr>
                        <a:t>ECE</a:t>
                      </a:r>
                    </a:p>
                  </a:txBody>
                  <a:tcPr>
                    <a:solidFill>
                      <a:srgbClr val="1B2A41"/>
                    </a:solidFill>
                  </a:tcPr>
                </a:tc>
              </a:tr>
              <a:tr h="391885">
                <a:tc>
                  <a:txBody>
                    <a:bodyPr/>
                    <a:lstStyle/>
                    <a:p>
                      <a:pPr rtl="1" algn="ctr"/>
                      <a:r>
                        <a:rPr sz="1500" b="0">
                          <a:solidFill>
                            <a:srgbClr val="1B2A41"/>
                          </a:solidFill>
                          <a:latin typeface="B Nazanin"/>
                        </a:rPr>
                        <a:t>نشانگرهای اسکالر</a:t>
                      </a:r>
                    </a:p>
                  </a:txBody>
                  <a:tcPr>
                    <a:solidFill>
                      <a:srgbClr val="FFFFFF"/>
                    </a:solidFill>
                  </a:tcPr>
                </a:tc>
                <a:tc>
                  <a:txBody>
                    <a:bodyPr/>
                    <a:lstStyle/>
                    <a:p>
                      <a:pPr rtl="1" algn="ctr"/>
                      <a:r>
                        <a:rPr sz="1500" b="0">
                          <a:solidFill>
                            <a:srgbClr val="1B2A41"/>
                          </a:solidFill>
                          <a:latin typeface="B Nazanin"/>
                        </a:rPr>
                        <a:t>۰٫۶۵۹۶</a:t>
                      </a:r>
                    </a:p>
                  </a:txBody>
                  <a:tcPr>
                    <a:solidFill>
                      <a:srgbClr val="FFFFFF"/>
                    </a:solidFill>
                  </a:tcPr>
                </a:tc>
                <a:tc>
                  <a:txBody>
                    <a:bodyPr/>
                    <a:lstStyle/>
                    <a:p>
                      <a:pPr rtl="1" algn="ctr"/>
                      <a:r>
                        <a:rPr sz="1500" b="0">
                          <a:solidFill>
                            <a:srgbClr val="1B2A41"/>
                          </a:solidFill>
                          <a:latin typeface="B Nazanin"/>
                        </a:rPr>
                        <a:t>۰٫۴۹۸۵</a:t>
                      </a:r>
                    </a:p>
                  </a:txBody>
                  <a:tcPr>
                    <a:solidFill>
                      <a:srgbClr val="FFFFFF"/>
                    </a:solidFill>
                  </a:tcPr>
                </a:tc>
                <a:tc>
                  <a:txBody>
                    <a:bodyPr/>
                    <a:lstStyle/>
                    <a:p>
                      <a:pPr rtl="1" algn="ctr"/>
                      <a:r>
                        <a:rPr sz="1500" b="0">
                          <a:solidFill>
                            <a:srgbClr val="1B2A41"/>
                          </a:solidFill>
                          <a:latin typeface="B Nazanin"/>
                        </a:rPr>
                        <a:t>۰٫۴۳۴۶</a:t>
                      </a:r>
                    </a:p>
                  </a:txBody>
                  <a:tcPr>
                    <a:solidFill>
                      <a:srgbClr val="FFFFFF"/>
                    </a:solidFill>
                  </a:tcPr>
                </a:tc>
                <a:tc>
                  <a:txBody>
                    <a:bodyPr/>
                    <a:lstStyle/>
                    <a:p>
                      <a:pPr rtl="1" algn="ctr"/>
                      <a:r>
                        <a:rPr sz="1500" b="0">
                          <a:solidFill>
                            <a:srgbClr val="1B2A41"/>
                          </a:solidFill>
                          <a:latin typeface="B Nazanin"/>
                        </a:rPr>
                        <a:t>۰٫۵۶۷۵</a:t>
                      </a:r>
                    </a:p>
                  </a:txBody>
                  <a:tcPr>
                    <a:solidFill>
                      <a:srgbClr val="FFFFFF"/>
                    </a:solidFill>
                  </a:tcPr>
                </a:tc>
                <a:tc>
                  <a:txBody>
                    <a:bodyPr/>
                    <a:lstStyle/>
                    <a:p>
                      <a:pPr rtl="1" algn="ctr"/>
                      <a:r>
                        <a:rPr sz="1500" b="0">
                          <a:solidFill>
                            <a:srgbClr val="1B2A41"/>
                          </a:solidFill>
                          <a:latin typeface="B Nazanin"/>
                        </a:rPr>
                        <a:t>۰٫۰۵۰۲</a:t>
                      </a:r>
                    </a:p>
                  </a:txBody>
                  <a:tcPr>
                    <a:solidFill>
                      <a:srgbClr val="FFFFFF"/>
                    </a:solidFill>
                  </a:tcPr>
                </a:tc>
              </a:tr>
              <a:tr h="391885">
                <a:tc>
                  <a:txBody>
                    <a:bodyPr/>
                    <a:lstStyle/>
                    <a:p>
                      <a:pPr rtl="1" algn="ctr"/>
                      <a:r>
                        <a:rPr sz="1500" b="0">
                          <a:solidFill>
                            <a:srgbClr val="1B2A41"/>
                          </a:solidFill>
                          <a:latin typeface="B Nazanin"/>
                        </a:rPr>
                        <a:t>شبکه‌ی تصویری</a:t>
                      </a:r>
                    </a:p>
                  </a:txBody>
                  <a:tcPr>
                    <a:solidFill>
                      <a:srgbClr val="F2F4F7"/>
                    </a:solidFill>
                  </a:tcPr>
                </a:tc>
                <a:tc>
                  <a:txBody>
                    <a:bodyPr/>
                    <a:lstStyle/>
                    <a:p>
                      <a:pPr rtl="1" algn="ctr"/>
                      <a:r>
                        <a:rPr sz="1500" b="0">
                          <a:solidFill>
                            <a:srgbClr val="1B2A41"/>
                          </a:solidFill>
                          <a:latin typeface="B Nazanin"/>
                        </a:rPr>
                        <a:t>۰٫۹۱۳۳</a:t>
                      </a:r>
                    </a:p>
                  </a:txBody>
                  <a:tcPr>
                    <a:solidFill>
                      <a:srgbClr val="F2F4F7"/>
                    </a:solidFill>
                  </a:tcPr>
                </a:tc>
                <a:tc>
                  <a:txBody>
                    <a:bodyPr/>
                    <a:lstStyle/>
                    <a:p>
                      <a:pPr rtl="1" algn="ctr"/>
                      <a:r>
                        <a:rPr sz="1500" b="0">
                          <a:solidFill>
                            <a:srgbClr val="1B2A41"/>
                          </a:solidFill>
                          <a:latin typeface="B Nazanin"/>
                        </a:rPr>
                        <a:t>۰٫۶۹۸۶</a:t>
                      </a:r>
                    </a:p>
                  </a:txBody>
                  <a:tcPr>
                    <a:solidFill>
                      <a:srgbClr val="F2F4F7"/>
                    </a:solidFill>
                  </a:tcPr>
                </a:tc>
                <a:tc>
                  <a:txBody>
                    <a:bodyPr/>
                    <a:lstStyle/>
                    <a:p>
                      <a:pPr rtl="1" algn="ctr"/>
                      <a:r>
                        <a:rPr sz="1500" b="0">
                          <a:solidFill>
                            <a:srgbClr val="1B2A41"/>
                          </a:solidFill>
                          <a:latin typeface="B Nazanin"/>
                        </a:rPr>
                        <a:t>۰٫۶۸۴۸</a:t>
                      </a:r>
                    </a:p>
                  </a:txBody>
                  <a:tcPr>
                    <a:solidFill>
                      <a:srgbClr val="F2F4F7"/>
                    </a:solidFill>
                  </a:tcPr>
                </a:tc>
                <a:tc>
                  <a:txBody>
                    <a:bodyPr/>
                    <a:lstStyle/>
                    <a:p>
                      <a:pPr rtl="1" algn="ctr"/>
                      <a:r>
                        <a:rPr sz="1500" b="0">
                          <a:solidFill>
                            <a:srgbClr val="1B2A41"/>
                          </a:solidFill>
                          <a:latin typeface="B Nazanin"/>
                        </a:rPr>
                        <a:t>۰٫۲۶۲۳</a:t>
                      </a:r>
                    </a:p>
                  </a:txBody>
                  <a:tcPr>
                    <a:solidFill>
                      <a:srgbClr val="F2F4F7"/>
                    </a:solidFill>
                  </a:tcPr>
                </a:tc>
                <a:tc>
                  <a:txBody>
                    <a:bodyPr/>
                    <a:lstStyle/>
                    <a:p>
                      <a:pPr rtl="1" algn="ctr"/>
                      <a:r>
                        <a:rPr sz="1500" b="0">
                          <a:solidFill>
                            <a:srgbClr val="1B2A41"/>
                          </a:solidFill>
                          <a:latin typeface="B Nazanin"/>
                        </a:rPr>
                        <a:t>۰٫۰۴۹۷</a:t>
                      </a:r>
                    </a:p>
                  </a:txBody>
                  <a:tcPr>
                    <a:solidFill>
                      <a:srgbClr val="F2F4F7"/>
                    </a:solidFill>
                  </a:tcPr>
                </a:tc>
              </a:tr>
              <a:tr h="391885">
                <a:tc>
                  <a:txBody>
                    <a:bodyPr/>
                    <a:lstStyle/>
                    <a:p>
                      <a:pPr rtl="1" algn="ctr"/>
                      <a:r>
                        <a:rPr sz="1500" b="0">
                          <a:solidFill>
                            <a:srgbClr val="1B2A41"/>
                          </a:solidFill>
                          <a:latin typeface="B Nazanin"/>
                        </a:rPr>
                        <a:t>بازنمایی تصویری</a:t>
                      </a:r>
                    </a:p>
                  </a:txBody>
                  <a:tcPr>
                    <a:solidFill>
                      <a:srgbClr val="FFFFFF"/>
                    </a:solidFill>
                  </a:tcPr>
                </a:tc>
                <a:tc>
                  <a:txBody>
                    <a:bodyPr/>
                    <a:lstStyle/>
                    <a:p>
                      <a:pPr rtl="1" algn="ctr"/>
                      <a:r>
                        <a:rPr sz="1500" b="0">
                          <a:solidFill>
                            <a:srgbClr val="1B2A41"/>
                          </a:solidFill>
                          <a:latin typeface="B Nazanin"/>
                        </a:rPr>
                        <a:t>۰٫۹۲۴۹</a:t>
                      </a:r>
                    </a:p>
                  </a:txBody>
                  <a:tcPr>
                    <a:solidFill>
                      <a:srgbClr val="FFFFFF"/>
                    </a:solidFill>
                  </a:tcPr>
                </a:tc>
                <a:tc>
                  <a:txBody>
                    <a:bodyPr/>
                    <a:lstStyle/>
                    <a:p>
                      <a:pPr rtl="1" algn="ctr"/>
                      <a:r>
                        <a:rPr sz="1500" b="0">
                          <a:solidFill>
                            <a:srgbClr val="1B2A41"/>
                          </a:solidFill>
                          <a:latin typeface="B Nazanin"/>
                        </a:rPr>
                        <a:t>۰٫۷۲۳۴</a:t>
                      </a:r>
                    </a:p>
                  </a:txBody>
                  <a:tcPr>
                    <a:solidFill>
                      <a:srgbClr val="FFFFFF"/>
                    </a:solidFill>
                  </a:tcPr>
                </a:tc>
                <a:tc>
                  <a:txBody>
                    <a:bodyPr/>
                    <a:lstStyle/>
                    <a:p>
                      <a:pPr rtl="1" algn="ctr"/>
                      <a:r>
                        <a:rPr sz="1500" b="0">
                          <a:solidFill>
                            <a:srgbClr val="1B2A41"/>
                          </a:solidFill>
                          <a:latin typeface="B Nazanin"/>
                        </a:rPr>
                        <a:t>۰٫۷۰۸۷</a:t>
                      </a:r>
                    </a:p>
                  </a:txBody>
                  <a:tcPr>
                    <a:solidFill>
                      <a:srgbClr val="FFFFFF"/>
                    </a:solidFill>
                  </a:tcPr>
                </a:tc>
                <a:tc>
                  <a:txBody>
                    <a:bodyPr/>
                    <a:lstStyle/>
                    <a:p>
                      <a:pPr rtl="1" algn="ctr"/>
                      <a:r>
                        <a:rPr sz="1500" b="0">
                          <a:solidFill>
                            <a:srgbClr val="1B2A41"/>
                          </a:solidFill>
                          <a:latin typeface="B Nazanin"/>
                        </a:rPr>
                        <a:t>۰٫۲۷۶۳</a:t>
                      </a:r>
                    </a:p>
                  </a:txBody>
                  <a:tcPr>
                    <a:solidFill>
                      <a:srgbClr val="FFFFFF"/>
                    </a:solidFill>
                  </a:tcPr>
                </a:tc>
                <a:tc>
                  <a:txBody>
                    <a:bodyPr/>
                    <a:lstStyle/>
                    <a:p>
                      <a:pPr rtl="1" algn="ctr"/>
                      <a:r>
                        <a:rPr sz="1500" b="0">
                          <a:solidFill>
                            <a:srgbClr val="1B2A41"/>
                          </a:solidFill>
                          <a:latin typeface="B Nazanin"/>
                        </a:rPr>
                        <a:t>۰٫۱۰۲۸</a:t>
                      </a:r>
                    </a:p>
                  </a:txBody>
                  <a:tcPr>
                    <a:solidFill>
                      <a:srgbClr val="FFFFFF"/>
                    </a:solidFill>
                  </a:tcPr>
                </a:tc>
              </a:tr>
              <a:tr h="391885">
                <a:tc>
                  <a:txBody>
                    <a:bodyPr/>
                    <a:lstStyle/>
                    <a:p>
                      <a:pPr rtl="1" algn="ctr"/>
                      <a:r>
                        <a:rPr sz="1500" b="0">
                          <a:solidFill>
                            <a:srgbClr val="1B2A41"/>
                          </a:solidFill>
                          <a:latin typeface="B Nazanin"/>
                        </a:rPr>
                        <a:t>تصویر + نشانگرها</a:t>
                      </a:r>
                    </a:p>
                  </a:txBody>
                  <a:tcPr>
                    <a:solidFill>
                      <a:srgbClr val="F2F4F7"/>
                    </a:solidFill>
                  </a:tcPr>
                </a:tc>
                <a:tc>
                  <a:txBody>
                    <a:bodyPr/>
                    <a:lstStyle/>
                    <a:p>
                      <a:pPr rtl="1" algn="ctr"/>
                      <a:r>
                        <a:rPr sz="1500" b="0">
                          <a:solidFill>
                            <a:srgbClr val="1B2A41"/>
                          </a:solidFill>
                          <a:latin typeface="B Nazanin"/>
                        </a:rPr>
                        <a:t>۰٫۹۲۶۰</a:t>
                      </a:r>
                    </a:p>
                  </a:txBody>
                  <a:tcPr>
                    <a:solidFill>
                      <a:srgbClr val="F2F4F7"/>
                    </a:solidFill>
                  </a:tcPr>
                </a:tc>
                <a:tc>
                  <a:txBody>
                    <a:bodyPr/>
                    <a:lstStyle/>
                    <a:p>
                      <a:pPr rtl="1" algn="ctr"/>
                      <a:r>
                        <a:rPr sz="1500" b="0">
                          <a:solidFill>
                            <a:srgbClr val="1B2A41"/>
                          </a:solidFill>
                          <a:latin typeface="B Nazanin"/>
                        </a:rPr>
                        <a:t>۰٫۷۲۰۴</a:t>
                      </a:r>
                    </a:p>
                  </a:txBody>
                  <a:tcPr>
                    <a:solidFill>
                      <a:srgbClr val="F2F4F7"/>
                    </a:solidFill>
                  </a:tcPr>
                </a:tc>
                <a:tc>
                  <a:txBody>
                    <a:bodyPr/>
                    <a:lstStyle/>
                    <a:p>
                      <a:pPr rtl="1" algn="ctr"/>
                      <a:r>
                        <a:rPr sz="1500" b="0">
                          <a:solidFill>
                            <a:srgbClr val="1B2A41"/>
                          </a:solidFill>
                          <a:latin typeface="B Nazanin"/>
                        </a:rPr>
                        <a:t>۰٫۷۰۹۳</a:t>
                      </a:r>
                    </a:p>
                  </a:txBody>
                  <a:tcPr>
                    <a:solidFill>
                      <a:srgbClr val="F2F4F7"/>
                    </a:solidFill>
                  </a:tcPr>
                </a:tc>
                <a:tc>
                  <a:txBody>
                    <a:bodyPr/>
                    <a:lstStyle/>
                    <a:p>
                      <a:pPr rtl="1" algn="ctr"/>
                      <a:r>
                        <a:rPr sz="1500" b="0">
                          <a:solidFill>
                            <a:srgbClr val="1B2A41"/>
                          </a:solidFill>
                          <a:latin typeface="B Nazanin"/>
                        </a:rPr>
                        <a:t>۰٫۲۶۹۰</a:t>
                      </a:r>
                    </a:p>
                  </a:txBody>
                  <a:tcPr>
                    <a:solidFill>
                      <a:srgbClr val="F2F4F7"/>
                    </a:solidFill>
                  </a:tcPr>
                </a:tc>
                <a:tc>
                  <a:txBody>
                    <a:bodyPr/>
                    <a:lstStyle/>
                    <a:p>
                      <a:pPr rtl="1" algn="ctr"/>
                      <a:r>
                        <a:rPr sz="1500" b="0">
                          <a:solidFill>
                            <a:srgbClr val="1B2A41"/>
                          </a:solidFill>
                          <a:latin typeface="B Nazanin"/>
                        </a:rPr>
                        <a:t>۰٫۰۹۸۶</a:t>
                      </a:r>
                    </a:p>
                  </a:txBody>
                  <a:tcPr>
                    <a:solidFill>
                      <a:srgbClr val="F2F4F7"/>
                    </a:solidFill>
                  </a:tcPr>
                </a:tc>
              </a:tr>
              <a:tr h="391885">
                <a:tc>
                  <a:txBody>
                    <a:bodyPr/>
                    <a:lstStyle/>
                    <a:p>
                      <a:pPr rtl="1" algn="ctr"/>
                      <a:r>
                        <a:rPr sz="1500" b="0">
                          <a:solidFill>
                            <a:srgbClr val="1B2A41"/>
                          </a:solidFill>
                          <a:latin typeface="B Nazanin"/>
                        </a:rPr>
                        <a:t>تصویر + عروق</a:t>
                      </a:r>
                    </a:p>
                  </a:txBody>
                  <a:tcPr>
                    <a:solidFill>
                      <a:srgbClr val="FFFFFF"/>
                    </a:solidFill>
                  </a:tcPr>
                </a:tc>
                <a:tc>
                  <a:txBody>
                    <a:bodyPr/>
                    <a:lstStyle/>
                    <a:p>
                      <a:pPr rtl="1" algn="ctr"/>
                      <a:r>
                        <a:rPr sz="1500" b="0">
                          <a:solidFill>
                            <a:srgbClr val="1B2A41"/>
                          </a:solidFill>
                          <a:latin typeface="B Nazanin"/>
                        </a:rPr>
                        <a:t>۰٫۹۳۲۸</a:t>
                      </a:r>
                    </a:p>
                  </a:txBody>
                  <a:tcPr>
                    <a:solidFill>
                      <a:srgbClr val="FFFFFF"/>
                    </a:solidFill>
                  </a:tcPr>
                </a:tc>
                <a:tc>
                  <a:txBody>
                    <a:bodyPr/>
                    <a:lstStyle/>
                    <a:p>
                      <a:pPr rtl="1" algn="ctr"/>
                      <a:r>
                        <a:rPr sz="1500" b="0">
                          <a:solidFill>
                            <a:srgbClr val="1B2A41"/>
                          </a:solidFill>
                          <a:latin typeface="B Nazanin"/>
                        </a:rPr>
                        <a:t>۰٫۷۳۵۰</a:t>
                      </a:r>
                    </a:p>
                  </a:txBody>
                  <a:tcPr>
                    <a:solidFill>
                      <a:srgbClr val="FFFFFF"/>
                    </a:solidFill>
                  </a:tcPr>
                </a:tc>
                <a:tc>
                  <a:txBody>
                    <a:bodyPr/>
                    <a:lstStyle/>
                    <a:p>
                      <a:pPr rtl="1" algn="ctr"/>
                      <a:r>
                        <a:rPr sz="1500" b="0">
                          <a:solidFill>
                            <a:srgbClr val="1B2A41"/>
                          </a:solidFill>
                          <a:latin typeface="B Nazanin"/>
                        </a:rPr>
                        <a:t>۰٫۷۲۴۶</a:t>
                      </a:r>
                    </a:p>
                  </a:txBody>
                  <a:tcPr>
                    <a:solidFill>
                      <a:srgbClr val="FFFFFF"/>
                    </a:solidFill>
                  </a:tcPr>
                </a:tc>
                <a:tc>
                  <a:txBody>
                    <a:bodyPr/>
                    <a:lstStyle/>
                    <a:p>
                      <a:pPr rtl="1" algn="ctr"/>
                      <a:r>
                        <a:rPr sz="1500" b="0">
                          <a:solidFill>
                            <a:srgbClr val="1B2A41"/>
                          </a:solidFill>
                          <a:latin typeface="B Nazanin"/>
                        </a:rPr>
                        <a:t>۰٫۲۴۸۶</a:t>
                      </a:r>
                    </a:p>
                  </a:txBody>
                  <a:tcPr>
                    <a:solidFill>
                      <a:srgbClr val="FFFFFF"/>
                    </a:solidFill>
                  </a:tcPr>
                </a:tc>
                <a:tc>
                  <a:txBody>
                    <a:bodyPr/>
                    <a:lstStyle/>
                    <a:p>
                      <a:pPr rtl="1" algn="ctr"/>
                      <a:r>
                        <a:rPr sz="1500" b="0">
                          <a:solidFill>
                            <a:srgbClr val="1B2A41"/>
                          </a:solidFill>
                          <a:latin typeface="B Nazanin"/>
                        </a:rPr>
                        <a:t>۰٫۰۹۲۱</a:t>
                      </a:r>
                    </a:p>
                  </a:txBody>
                  <a:tcPr>
                    <a:solidFill>
                      <a:srgbClr val="FFFFFF"/>
                    </a:solidFill>
                  </a:tcPr>
                </a:tc>
              </a:tr>
              <a:tr h="391890">
                <a:tc>
                  <a:txBody>
                    <a:bodyPr/>
                    <a:lstStyle/>
                    <a:p>
                      <a:pPr rtl="1" algn="ctr"/>
                      <a:r>
                        <a:rPr sz="1500" b="0">
                          <a:solidFill>
                            <a:srgbClr val="1B2A41"/>
                          </a:solidFill>
                          <a:latin typeface="B Nazanin"/>
                        </a:rPr>
                        <a:t>تصویر + عروق + نشانگرها</a:t>
                      </a:r>
                    </a:p>
                  </a:txBody>
                  <a:tcPr>
                    <a:solidFill>
                      <a:srgbClr val="F2F4F7"/>
                    </a:solidFill>
                  </a:tcPr>
                </a:tc>
                <a:tc>
                  <a:txBody>
                    <a:bodyPr/>
                    <a:lstStyle/>
                    <a:p>
                      <a:pPr rtl="1" algn="ctr"/>
                      <a:r>
                        <a:rPr sz="1500" b="0">
                          <a:solidFill>
                            <a:srgbClr val="1B2A41"/>
                          </a:solidFill>
                          <a:latin typeface="B Nazanin"/>
                        </a:rPr>
                        <a:t>۰٫۹۳۴۹</a:t>
                      </a:r>
                    </a:p>
                  </a:txBody>
                  <a:tcPr>
                    <a:solidFill>
                      <a:srgbClr val="F2F4F7"/>
                    </a:solidFill>
                  </a:tcPr>
                </a:tc>
                <a:tc>
                  <a:txBody>
                    <a:bodyPr/>
                    <a:lstStyle/>
                    <a:p>
                      <a:pPr rtl="1" algn="ctr"/>
                      <a:r>
                        <a:rPr sz="1500" b="0">
                          <a:solidFill>
                            <a:srgbClr val="1B2A41"/>
                          </a:solidFill>
                          <a:latin typeface="B Nazanin"/>
                        </a:rPr>
                        <a:t>۰٫۷۳۸۹</a:t>
                      </a:r>
                    </a:p>
                  </a:txBody>
                  <a:tcPr>
                    <a:solidFill>
                      <a:srgbClr val="F2F4F7"/>
                    </a:solidFill>
                  </a:tcPr>
                </a:tc>
                <a:tc>
                  <a:txBody>
                    <a:bodyPr/>
                    <a:lstStyle/>
                    <a:p>
                      <a:pPr rtl="1" algn="ctr"/>
                      <a:r>
                        <a:rPr sz="1500" b="0">
                          <a:solidFill>
                            <a:srgbClr val="1B2A41"/>
                          </a:solidFill>
                          <a:latin typeface="B Nazanin"/>
                        </a:rPr>
                        <a:t>۰٫۷۲۹۲</a:t>
                      </a:r>
                    </a:p>
                  </a:txBody>
                  <a:tcPr>
                    <a:solidFill>
                      <a:srgbClr val="F2F4F7"/>
                    </a:solidFill>
                  </a:tcPr>
                </a:tc>
                <a:tc>
                  <a:txBody>
                    <a:bodyPr/>
                    <a:lstStyle/>
                    <a:p>
                      <a:pPr rtl="1" algn="ctr"/>
                      <a:r>
                        <a:rPr sz="1500" b="0">
                          <a:solidFill>
                            <a:srgbClr val="1B2A41"/>
                          </a:solidFill>
                          <a:latin typeface="B Nazanin"/>
                        </a:rPr>
                        <a:t>۰٫۲۴۶۵</a:t>
                      </a:r>
                    </a:p>
                  </a:txBody>
                  <a:tcPr>
                    <a:solidFill>
                      <a:srgbClr val="F2F4F7"/>
                    </a:solidFill>
                  </a:tcPr>
                </a:tc>
                <a:tc>
                  <a:txBody>
                    <a:bodyPr/>
                    <a:lstStyle/>
                    <a:p>
                      <a:pPr rtl="1" algn="ctr"/>
                      <a:r>
                        <a:rPr sz="1500" b="0">
                          <a:solidFill>
                            <a:srgbClr val="1B2A41"/>
                          </a:solidFill>
                          <a:latin typeface="B Nazanin"/>
                        </a:rPr>
                        <a:t>۰٫۰۹۲۱</a:t>
                      </a:r>
                    </a:p>
                  </a:txBody>
                  <a:tcPr>
                    <a:solidFill>
                      <a:srgbClr val="F2F4F7"/>
                    </a:solidFill>
                  </a:tcPr>
                </a:tc>
              </a:tr>
            </a:tbl>
          </a:graphicData>
        </a:graphic>
      </p:graphicFrame>
      <p:sp>
        <p:nvSpPr>
          <p:cNvPr id="5" name="TextBox 4"/>
          <p:cNvSpPr txBox="1"/>
          <p:nvPr/>
        </p:nvSpPr>
        <p:spPr>
          <a:xfrm>
            <a:off x="731520" y="5029200"/>
            <a:ext cx="10698480" cy="822960"/>
          </a:xfrm>
          <a:prstGeom prst="rect">
            <a:avLst/>
          </a:prstGeom>
          <a:noFill/>
        </p:spPr>
        <p:txBody>
          <a:bodyPr wrap="square">
            <a:spAutoFit/>
          </a:bodyPr>
          <a:lstStyle/>
          <a:p>
            <a:pPr rtl="1"/>
            <a:r>
              <a:rPr sz="1500" b="0">
                <a:solidFill>
                  <a:srgbClr val="505050"/>
                </a:solidFill>
                <a:latin typeface="Times New Roman"/>
              </a:rPr>
              <a:t>AUC</a:t>
            </a:r>
            <a:r>
              <a:rPr sz="1500" b="0">
                <a:solidFill>
                  <a:srgbClr val="505050"/>
                </a:solidFill>
                <a:latin typeface="B Nazanin"/>
              </a:rPr>
              <a:t>، دقت متعادل و </a:t>
            </a:r>
            <a:r>
              <a:rPr sz="1500" b="0">
                <a:solidFill>
                  <a:srgbClr val="505050"/>
                </a:solidFill>
                <a:latin typeface="Times New Roman"/>
              </a:rPr>
              <a:t>F1</a:t>
            </a:r>
            <a:r>
              <a:rPr sz="1500" b="0">
                <a:solidFill>
                  <a:srgbClr val="505050"/>
                </a:solidFill>
                <a:latin typeface="B Nazanin"/>
              </a:rPr>
              <a:t> ماکرو بزرگ‌تر‌بهتر و </a:t>
            </a:r>
            <a:r>
              <a:rPr sz="1500" b="0">
                <a:solidFill>
                  <a:srgbClr val="505050"/>
                </a:solidFill>
                <a:latin typeface="Times New Roman"/>
              </a:rPr>
              <a:t>Brier</a:t>
            </a:r>
            <a:r>
              <a:rPr sz="1500" b="0">
                <a:solidFill>
                  <a:srgbClr val="505050"/>
                </a:solidFill>
                <a:latin typeface="B Nazanin"/>
              </a:rPr>
              <a:t> و </a:t>
            </a:r>
            <a:r>
              <a:rPr sz="1500" b="0">
                <a:solidFill>
                  <a:srgbClr val="505050"/>
                </a:solidFill>
                <a:latin typeface="Times New Roman"/>
              </a:rPr>
              <a:t>ECE</a:t>
            </a:r>
            <a:r>
              <a:rPr sz="1500" b="0">
                <a:solidFill>
                  <a:srgbClr val="505050"/>
                </a:solidFill>
                <a:latin typeface="B Nazanin"/>
              </a:rPr>
              <a:t> کوچک‌تر‌بهتر هستند. هیچ امتیاز ترکیبی ساخته نشد.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توان رتبه‌بندی مدل‌ها</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نشانگر تنها، ضعیف‌تر از هر مدل تصویری است</a:t>
            </a:r>
          </a:p>
        </p:txBody>
      </p:sp>
      <p:pic>
        <p:nvPicPr>
          <p:cNvPr id="4" name="Picture 3" descr="R1_model_auc_comparison.png"/>
          <p:cNvPicPr>
            <a:picLocks noChangeAspect="1"/>
          </p:cNvPicPr>
          <p:nvPr/>
        </p:nvPicPr>
        <p:blipFill>
          <a:blip r:embed="rId2"/>
          <a:stretch>
            <a:fillRect/>
          </a:stretch>
        </p:blipFill>
        <p:spPr>
          <a:xfrm>
            <a:off x="502920" y="1691640"/>
            <a:ext cx="6035040" cy="2696873"/>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a:t>
            </a:r>
            <a:r>
              <a:rPr sz="2100" b="0">
                <a:solidFill>
                  <a:srgbClr val="1B2A41"/>
                </a:solidFill>
                <a:latin typeface="Times New Roman"/>
              </a:rPr>
              <a:t>AUC</a:t>
            </a:r>
            <a:r>
              <a:rPr sz="2100" b="0">
                <a:solidFill>
                  <a:srgbClr val="1B2A41"/>
                </a:solidFill>
                <a:latin typeface="B Nazanin"/>
              </a:rPr>
              <a:t> تصویری: ۰٫۹۲۵</a:t>
            </a:r>
          </a:p>
          <a:p>
            <a:pPr rtl="1">
              <a:spcAft>
                <a:spcPts val="1600"/>
              </a:spcAft>
            </a:pPr>
            <a:r>
              <a:rPr sz="2100" b="0">
                <a:solidFill>
                  <a:srgbClr val="1B2A41"/>
                </a:solidFill>
                <a:latin typeface="B Nazanin"/>
              </a:rPr>
              <a:t>▪ افزودن عروق: ۰٫۹۳۳</a:t>
            </a:r>
          </a:p>
          <a:p>
            <a:pPr rtl="1">
              <a:spcAft>
                <a:spcPts val="1600"/>
              </a:spcAft>
            </a:pPr>
            <a:r>
              <a:rPr sz="2100" b="0">
                <a:solidFill>
                  <a:srgbClr val="1B2A41"/>
                </a:solidFill>
                <a:latin typeface="B Nazanin"/>
              </a:rPr>
              <a:t>▪ برآورد نقطه‌ای، شاهد نیست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سهم افزایشی هر مؤلفه</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نتیجه‌ی مرکزی پایان‌نامه</a:t>
            </a:r>
          </a:p>
        </p:txBody>
      </p:sp>
      <p:pic>
        <p:nvPicPr>
          <p:cNvPr id="4" name="Picture 3" descr="C1_incremental_auc_forest.png"/>
          <p:cNvPicPr>
            <a:picLocks noChangeAspect="1"/>
          </p:cNvPicPr>
          <p:nvPr/>
        </p:nvPicPr>
        <p:blipFill>
          <a:blip r:embed="rId2"/>
          <a:stretch>
            <a:fillRect/>
          </a:stretch>
        </p:blipFill>
        <p:spPr>
          <a:xfrm>
            <a:off x="502920" y="1691640"/>
            <a:ext cx="6035040" cy="2185529"/>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نشانگرها: بدون شاهد</a:t>
            </a:r>
          </a:p>
          <a:p>
            <a:pPr rtl="1">
              <a:spcAft>
                <a:spcPts val="1600"/>
              </a:spcAft>
            </a:pPr>
            <a:r>
              <a:rPr sz="2100" b="0">
                <a:solidFill>
                  <a:srgbClr val="1B2A41"/>
                </a:solidFill>
                <a:latin typeface="B Nazanin"/>
              </a:rPr>
              <a:t>▪ عروق: شاهد مثبت</a:t>
            </a:r>
          </a:p>
          <a:p>
            <a:pPr rtl="1">
              <a:spcAft>
                <a:spcPts val="1600"/>
              </a:spcAft>
            </a:pPr>
            <a:r>
              <a:rPr sz="2100" b="0">
                <a:solidFill>
                  <a:srgbClr val="1B2A41"/>
                </a:solidFill>
                <a:latin typeface="B Nazanin"/>
              </a:rPr>
              <a:t>▪ نشانگر پس از عروق: بدون شاهد</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پایداری سهم عروقی در معماری‌های متفاوت</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سهم عروقی، تکرارپذیر در دو استخراج‌کننده‌ی متفاوت</a:t>
            </a:r>
          </a:p>
        </p:txBody>
      </p:sp>
      <p:pic>
        <p:nvPicPr>
          <p:cNvPr id="4" name="Picture 3" descr="C3_vessel_complementarity_across_rgb_architectures.png"/>
          <p:cNvPicPr>
            <a:picLocks noChangeAspect="1"/>
          </p:cNvPicPr>
          <p:nvPr/>
        </p:nvPicPr>
        <p:blipFill>
          <a:blip r:embed="rId2"/>
          <a:stretch>
            <a:fillRect/>
          </a:stretch>
        </p:blipFill>
        <p:spPr>
          <a:xfrm>
            <a:off x="502920" y="1691640"/>
            <a:ext cx="6035040" cy="1854903"/>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تکرار در دو بازنمایی</a:t>
            </a:r>
          </a:p>
          <a:p>
            <a:pPr rtl="1">
              <a:spcAft>
                <a:spcPts val="1600"/>
              </a:spcAft>
            </a:pPr>
            <a:r>
              <a:rPr sz="2100" b="0">
                <a:solidFill>
                  <a:srgbClr val="1B2A41"/>
                </a:solidFill>
                <a:latin typeface="B Nazanin"/>
              </a:rPr>
              <a:t>▪ برتری معماری ادعا نمی‌شود</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کیفیت احتمال و کالیبراسیون</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رتبه‌بندی و احتمال، دو لایه‌ی جدا</a:t>
            </a:r>
          </a:p>
        </p:txBody>
      </p:sp>
      <p:pic>
        <p:nvPicPr>
          <p:cNvPr id="4" name="Picture 3" descr="P2_reliability_main.png"/>
          <p:cNvPicPr>
            <a:picLocks noChangeAspect="1"/>
          </p:cNvPicPr>
          <p:nvPr/>
        </p:nvPicPr>
        <p:blipFill>
          <a:blip r:embed="rId2"/>
          <a:stretch>
            <a:fillRect/>
          </a:stretch>
        </p:blipFill>
        <p:spPr>
          <a:xfrm>
            <a:off x="502920" y="1691640"/>
            <a:ext cx="6035040" cy="5414785"/>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کالیبراسیون ناقص</a:t>
            </a:r>
          </a:p>
          <a:p>
            <a:pPr rtl="1">
              <a:spcAft>
                <a:spcPts val="1600"/>
              </a:spcAft>
            </a:pPr>
            <a:r>
              <a:rPr sz="2100" b="0">
                <a:solidFill>
                  <a:srgbClr val="1B2A41"/>
                </a:solidFill>
                <a:latin typeface="B Nazanin"/>
              </a:rPr>
              <a:t>▪ بهبود </a:t>
            </a:r>
            <a:r>
              <a:rPr sz="2100" b="0">
                <a:solidFill>
                  <a:srgbClr val="1B2A41"/>
                </a:solidFill>
                <a:latin typeface="Times New Roman"/>
              </a:rPr>
              <a:t>AUC</a:t>
            </a:r>
            <a:r>
              <a:rPr sz="2100" b="0">
                <a:solidFill>
                  <a:srgbClr val="1B2A41"/>
                </a:solidFill>
                <a:latin typeface="B Nazanin"/>
              </a:rPr>
              <a:t> و </a:t>
            </a:r>
            <a:r>
              <a:rPr sz="2100" b="0">
                <a:solidFill>
                  <a:srgbClr val="1B2A41"/>
                </a:solidFill>
                <a:latin typeface="Times New Roman"/>
              </a:rPr>
              <a:t>Brier</a:t>
            </a:r>
          </a:p>
          <a:p>
            <a:pPr rtl="1">
              <a:spcAft>
                <a:spcPts val="1600"/>
              </a:spcAft>
            </a:pPr>
            <a:r>
              <a:rPr sz="2100" b="0">
                <a:solidFill>
                  <a:srgbClr val="1B2A41"/>
                </a:solidFill>
                <a:latin typeface="B Nazanin"/>
              </a:rPr>
              <a:t>▪ معیارهای آستانه‌ای جدا</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عملکرد به تفکیک کلاس</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Times New Roman"/>
              </a:rPr>
              <a:t>Pre-Plus</a:t>
            </a:r>
            <a:r>
              <a:rPr sz="1700" b="0">
                <a:solidFill>
                  <a:srgbClr val="505050"/>
                </a:solidFill>
                <a:latin typeface="B Nazanin"/>
              </a:rPr>
              <a:t>، سخت‌ترین کلاس برای همه‌ی مدل‌ها</a:t>
            </a:r>
          </a:p>
        </p:txBody>
      </p:sp>
      <p:pic>
        <p:nvPicPr>
          <p:cNvPr id="4" name="Picture 3" descr="R3_preplus.png"/>
          <p:cNvPicPr>
            <a:picLocks noChangeAspect="1"/>
          </p:cNvPicPr>
          <p:nvPr/>
        </p:nvPicPr>
        <p:blipFill>
          <a:blip r:embed="rId2"/>
          <a:stretch>
            <a:fillRect/>
          </a:stretch>
        </p:blipFill>
        <p:spPr>
          <a:xfrm>
            <a:off x="502920" y="1691640"/>
            <a:ext cx="6035040" cy="2714245"/>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a:t>
            </a:r>
            <a:r>
              <a:rPr sz="2100" b="0">
                <a:solidFill>
                  <a:srgbClr val="1B2A41"/>
                </a:solidFill>
                <a:latin typeface="Times New Roman"/>
              </a:rPr>
              <a:t>Pre-Plus</a:t>
            </a:r>
            <a:r>
              <a:rPr sz="2100" b="0">
                <a:solidFill>
                  <a:srgbClr val="1B2A41"/>
                </a:solidFill>
                <a:latin typeface="B Nazanin"/>
              </a:rPr>
              <a:t> سخت‌ترین کلاس</a:t>
            </a:r>
          </a:p>
          <a:p>
            <a:pPr rtl="1">
              <a:spcAft>
                <a:spcPts val="1600"/>
              </a:spcAft>
            </a:pPr>
            <a:r>
              <a:rPr sz="2100" b="0">
                <a:solidFill>
                  <a:srgbClr val="1B2A41"/>
                </a:solidFill>
                <a:latin typeface="B Nazanin"/>
              </a:rPr>
              <a:t>▪ </a:t>
            </a:r>
            <a:r>
              <a:rPr sz="2100" b="0">
                <a:solidFill>
                  <a:srgbClr val="1B2A41"/>
                </a:solidFill>
                <a:latin typeface="Times New Roman"/>
              </a:rPr>
              <a:t>Plus</a:t>
            </a:r>
            <a:r>
              <a:rPr sz="2100" b="0">
                <a:solidFill>
                  <a:srgbClr val="1B2A41"/>
                </a:solidFill>
                <a:latin typeface="B Nazanin"/>
              </a:rPr>
              <a:t> دقیق‌ترین کلاس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شواهد پنج نشانگر در همه‌ی رژیم‌ها</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شش آزمون، یک نتیجه‌ی سازگار</a:t>
            </a:r>
          </a:p>
        </p:txBody>
      </p:sp>
      <p:pic>
        <p:nvPicPr>
          <p:cNvPr id="4" name="Picture 3" descr="B1_biomarker_incremental_auc_forest.png"/>
          <p:cNvPicPr>
            <a:picLocks noChangeAspect="1"/>
          </p:cNvPicPr>
          <p:nvPr/>
        </p:nvPicPr>
        <p:blipFill>
          <a:blip r:embed="rId2"/>
          <a:stretch>
            <a:fillRect/>
          </a:stretch>
        </p:blipFill>
        <p:spPr>
          <a:xfrm>
            <a:off x="502920" y="1691640"/>
            <a:ext cx="6035040" cy="2603147"/>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شش آزمون مستقل</a:t>
            </a:r>
          </a:p>
          <a:p>
            <a:pPr rtl="1">
              <a:spcAft>
                <a:spcPts val="1600"/>
              </a:spcAft>
            </a:pPr>
            <a:r>
              <a:rPr sz="2100" b="0">
                <a:solidFill>
                  <a:srgbClr val="1B2A41"/>
                </a:solidFill>
                <a:latin typeface="B Nazanin"/>
              </a:rPr>
              <a:t>▪ نتیجه‌ی منفی پایدار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آزمایش‌های ثانویه‌ی مدل‌های عصبی</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سه آزمایش ثانویه با یک الگوی مشترک</a:t>
            </a:r>
          </a:p>
        </p:txBody>
      </p:sp>
      <p:pic>
        <p:nvPicPr>
          <p:cNvPr id="4" name="Picture 3" descr="N1a_task9_loss.png"/>
          <p:cNvPicPr>
            <a:picLocks noChangeAspect="1"/>
          </p:cNvPicPr>
          <p:nvPr/>
        </p:nvPicPr>
        <p:blipFill>
          <a:blip r:embed="rId2"/>
          <a:stretch>
            <a:fillRect/>
          </a:stretch>
        </p:blipFill>
        <p:spPr>
          <a:xfrm>
            <a:off x="502920" y="1691640"/>
            <a:ext cx="6035040" cy="2883193"/>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بیش‌برازش مشترک</a:t>
            </a:r>
          </a:p>
          <a:p>
            <a:pPr rtl="1">
              <a:spcAft>
                <a:spcPts val="1600"/>
              </a:spcAft>
            </a:pPr>
            <a:r>
              <a:rPr sz="2100" b="0">
                <a:solidFill>
                  <a:srgbClr val="1B2A41"/>
                </a:solidFill>
                <a:latin typeface="B Nazanin"/>
              </a:rPr>
              <a:t>▪ توقف مبتنی بر شاهد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تعمیم به منبع دیده‌نشده</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اطلاعات منبع هدف در هیچ مرحله‌ای استفاده نشد</a:t>
            </a:r>
          </a:p>
        </p:txBody>
      </p:sp>
      <p:pic>
        <p:nvPicPr>
          <p:cNvPr id="4" name="Picture 3" descr="S2_vessel_complementarity_heldout.png"/>
          <p:cNvPicPr>
            <a:picLocks noChangeAspect="1"/>
          </p:cNvPicPr>
          <p:nvPr/>
        </p:nvPicPr>
        <p:blipFill>
          <a:blip r:embed="rId2"/>
          <a:stretch>
            <a:fillRect/>
          </a:stretch>
        </p:blipFill>
        <p:spPr>
          <a:xfrm>
            <a:off x="502920" y="1691640"/>
            <a:ext cx="6035040" cy="2028540"/>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دو فولد مثبت</a:t>
            </a:r>
          </a:p>
          <a:p>
            <a:pPr rtl="1">
              <a:spcAft>
                <a:spcPts val="1600"/>
              </a:spcAft>
            </a:pPr>
            <a:r>
              <a:rPr sz="2100" b="0">
                <a:solidFill>
                  <a:srgbClr val="1B2A41"/>
                </a:solidFill>
                <a:latin typeface="B Nazanin"/>
              </a:rPr>
              <a:t>▪ فولد </a:t>
            </a:r>
            <a:r>
              <a:rPr sz="2100" b="0">
                <a:solidFill>
                  <a:srgbClr val="1B2A41"/>
                </a:solidFill>
                <a:latin typeface="Times New Roman"/>
              </a:rPr>
              <a:t>Plus</a:t>
            </a:r>
            <a:r>
              <a:rPr sz="2100" b="0">
                <a:solidFill>
                  <a:srgbClr val="1B2A41"/>
                </a:solidFill>
                <a:latin typeface="B Nazanin"/>
              </a:rPr>
              <a:t> محدود</a:t>
            </a:r>
          </a:p>
          <a:p>
            <a:pPr rtl="1">
              <a:spcAft>
                <a:spcPts val="1600"/>
              </a:spcAft>
            </a:pPr>
            <a:r>
              <a:rPr sz="2100" b="0">
                <a:solidFill>
                  <a:srgbClr val="1B2A41"/>
                </a:solidFill>
                <a:latin typeface="B Nazanin"/>
              </a:rPr>
              <a:t>▪ افت سطح عملکرد</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جابه‌جایی دامنه</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جابه‌جایی اندازه‌گیری شد، نه فرض</a:t>
            </a:r>
          </a:p>
        </p:txBody>
      </p:sp>
      <p:pic>
        <p:nvPicPr>
          <p:cNvPr id="4" name="Picture 3" descr="DS1b_shift_vessel.png"/>
          <p:cNvPicPr>
            <a:picLocks noChangeAspect="1"/>
          </p:cNvPicPr>
          <p:nvPr/>
        </p:nvPicPr>
        <p:blipFill>
          <a:blip r:embed="rId2"/>
          <a:stretch>
            <a:fillRect/>
          </a:stretch>
        </p:blipFill>
        <p:spPr>
          <a:xfrm>
            <a:off x="502920" y="1691640"/>
            <a:ext cx="6035040" cy="2717014"/>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جابه‌جایی اندازه‌گیری‌شده</a:t>
            </a:r>
          </a:p>
          <a:p>
            <a:pPr rtl="1">
              <a:spcAft>
                <a:spcPts val="1600"/>
              </a:spcAft>
            </a:pPr>
            <a:r>
              <a:rPr sz="2100" b="0">
                <a:solidFill>
                  <a:srgbClr val="1B2A41"/>
                </a:solidFill>
                <a:latin typeface="B Nazanin"/>
              </a:rPr>
              <a:t>▪ بیشترین جابه‌جایی، بیشترین سود</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آزمون سازگارسازی دامنه</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جابه‌جایی کم شد؛ عملکرد بیماری نه</a:t>
            </a:r>
          </a:p>
        </p:txBody>
      </p:sp>
      <p:pic>
        <p:nvPicPr>
          <p:cNvPr id="4" name="Picture 3" descr="DA1a_domain_alignment_threeclass.png"/>
          <p:cNvPicPr>
            <a:picLocks noChangeAspect="1"/>
          </p:cNvPicPr>
          <p:nvPr/>
        </p:nvPicPr>
        <p:blipFill>
          <a:blip r:embed="rId2"/>
          <a:stretch>
            <a:fillRect/>
          </a:stretch>
        </p:blipFill>
        <p:spPr>
          <a:xfrm>
            <a:off x="502920" y="1691640"/>
            <a:ext cx="6035040" cy="2883193"/>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جداسازی جابه‌جایی از پیامد</a:t>
            </a:r>
          </a:p>
          <a:p>
            <a:pPr rtl="1">
              <a:spcAft>
                <a:spcPts val="1600"/>
              </a:spcAft>
            </a:pPr>
            <a:r>
              <a:rPr sz="2100" b="0">
                <a:solidFill>
                  <a:srgbClr val="1B2A41"/>
                </a:solidFill>
                <a:latin typeface="B Nazanin"/>
              </a:rPr>
              <a:t>▪ نتیجه محدود به تنظیم ثابت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آزمون معماری جایگزین</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سهم عروقی، مقاوم به تغییر معماری تصویری</a:t>
            </a:r>
          </a:p>
        </p:txBody>
      </p:sp>
      <p:pic>
        <p:nvPicPr>
          <p:cNvPr id="4" name="Picture 3" descr="R5_task13_paired_auc.png"/>
          <p:cNvPicPr>
            <a:picLocks noChangeAspect="1"/>
          </p:cNvPicPr>
          <p:nvPr/>
        </p:nvPicPr>
        <p:blipFill>
          <a:blip r:embed="rId2"/>
          <a:stretch>
            <a:fillRect/>
          </a:stretch>
        </p:blipFill>
        <p:spPr>
          <a:xfrm>
            <a:off x="502920" y="1691640"/>
            <a:ext cx="6035040" cy="2023604"/>
          </a:xfrm>
          <a:prstGeom prst="rect">
            <a:avLst/>
          </a:prstGeom>
        </p:spPr>
      </p:pic>
      <p:sp>
        <p:nvSpPr>
          <p:cNvPr id="5" name="TextBox 4"/>
          <p:cNvSpPr txBox="1"/>
          <p:nvPr/>
        </p:nvSpPr>
        <p:spPr>
          <a:xfrm>
            <a:off x="6720840" y="1783080"/>
            <a:ext cx="4983480" cy="4480560"/>
          </a:xfrm>
          <a:prstGeom prst="rect">
            <a:avLst/>
          </a:prstGeom>
          <a:noFill/>
        </p:spPr>
        <p:txBody>
          <a:bodyPr wrap="square">
            <a:spAutoFit/>
          </a:bodyPr>
          <a:lstStyle/>
          <a:p>
            <a:pPr rtl="1">
              <a:spcAft>
                <a:spcPts val="1600"/>
              </a:spcAft>
            </a:pPr>
            <a:r>
              <a:rPr sz="2100" b="0">
                <a:solidFill>
                  <a:srgbClr val="1B2A41"/>
                </a:solidFill>
                <a:latin typeface="B Nazanin"/>
              </a:rPr>
              <a:t>▪ کنترل ضعیف‌تر</a:t>
            </a:r>
          </a:p>
          <a:p>
            <a:pPr rtl="1">
              <a:spcAft>
                <a:spcPts val="1600"/>
              </a:spcAft>
            </a:pPr>
            <a:r>
              <a:rPr sz="2100" b="0">
                <a:solidFill>
                  <a:srgbClr val="1B2A41"/>
                </a:solidFill>
                <a:latin typeface="B Nazanin"/>
              </a:rPr>
              <a:t>▪ عروق: مکمل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نوآوری و سهم علمی</a:t>
            </a:r>
          </a:p>
        </p:txBody>
      </p:sp>
      <p:sp>
        <p:nvSpPr>
          <p:cNvPr id="3" name="TextBox 2"/>
          <p:cNvSpPr txBox="1"/>
          <p:nvPr/>
        </p:nvSpPr>
        <p:spPr>
          <a:xfrm>
            <a:off x="731520" y="1783080"/>
            <a:ext cx="10789920" cy="4480560"/>
          </a:xfrm>
          <a:prstGeom prst="rect">
            <a:avLst/>
          </a:prstGeom>
          <a:noFill/>
        </p:spPr>
        <p:txBody>
          <a:bodyPr wrap="square">
            <a:spAutoFit/>
          </a:bodyPr>
          <a:lstStyle/>
          <a:p>
            <a:pPr rtl="1">
              <a:spcAft>
                <a:spcPts val="1600"/>
              </a:spcAft>
            </a:pPr>
            <a:r>
              <a:rPr sz="2400" b="0">
                <a:solidFill>
                  <a:srgbClr val="1B2A41"/>
                </a:solidFill>
                <a:latin typeface="B Nazanin"/>
              </a:rPr>
              <a:t>▪ تفکیک نشانگر از ساختار فضایی</a:t>
            </a:r>
          </a:p>
          <a:p>
            <a:pPr rtl="1">
              <a:spcAft>
                <a:spcPts val="1600"/>
              </a:spcAft>
            </a:pPr>
            <a:r>
              <a:rPr sz="2400" b="0">
                <a:solidFill>
                  <a:srgbClr val="1B2A41"/>
                </a:solidFill>
                <a:latin typeface="B Nazanin"/>
              </a:rPr>
              <a:t>▪ اثبات زوجی مکمل‌بودن عروق</a:t>
            </a:r>
          </a:p>
          <a:p>
            <a:pPr rtl="1">
              <a:spcAft>
                <a:spcPts val="1600"/>
              </a:spcAft>
            </a:pPr>
            <a:r>
              <a:rPr sz="2400" b="0">
                <a:solidFill>
                  <a:srgbClr val="1B2A41"/>
                </a:solidFill>
                <a:latin typeface="B Nazanin"/>
              </a:rPr>
              <a:t>▪ تکرار بین‌منبعی</a:t>
            </a:r>
          </a:p>
          <a:p>
            <a:pPr rtl="1">
              <a:spcAft>
                <a:spcPts val="1600"/>
              </a:spcAft>
            </a:pPr>
            <a:r>
              <a:rPr sz="2400" b="0">
                <a:solidFill>
                  <a:srgbClr val="1B2A41"/>
                </a:solidFill>
                <a:latin typeface="B Nazanin"/>
              </a:rPr>
              <a:t>▪ پایداری معماری</a:t>
            </a:r>
          </a:p>
          <a:p>
            <a:pPr rtl="1">
              <a:spcAft>
                <a:spcPts val="1600"/>
              </a:spcAft>
            </a:pPr>
            <a:r>
              <a:rPr sz="2400" b="0">
                <a:solidFill>
                  <a:srgbClr val="1B2A41"/>
                </a:solidFill>
                <a:latin typeface="B Nazanin"/>
              </a:rPr>
              <a:t>▪ حفظ نتیجه‌ی منفی</a:t>
            </a:r>
          </a:p>
          <a:p>
            <a:pPr rtl="1">
              <a:spcAft>
                <a:spcPts val="1600"/>
              </a:spcAft>
            </a:pPr>
            <a:r>
              <a:rPr sz="2400" b="0">
                <a:solidFill>
                  <a:srgbClr val="1B2A41"/>
                </a:solidFill>
                <a:latin typeface="B Nazanin"/>
              </a:rPr>
              <a:t>▪ ممیزی داده و منشأ</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محدودیت‌ها به‌عنوان مرز ادعا</a:t>
            </a:r>
          </a:p>
        </p:txBody>
      </p:sp>
      <p:sp>
        <p:nvSpPr>
          <p:cNvPr id="3" name="TextBox 2"/>
          <p:cNvSpPr txBox="1"/>
          <p:nvPr/>
        </p:nvSpPr>
        <p:spPr>
          <a:xfrm>
            <a:off x="731520" y="1783080"/>
            <a:ext cx="10789920" cy="4480560"/>
          </a:xfrm>
          <a:prstGeom prst="rect">
            <a:avLst/>
          </a:prstGeom>
          <a:noFill/>
        </p:spPr>
        <p:txBody>
          <a:bodyPr wrap="square">
            <a:spAutoFit/>
          </a:bodyPr>
          <a:lstStyle/>
          <a:p>
            <a:pPr rtl="1">
              <a:spcAft>
                <a:spcPts val="1600"/>
              </a:spcAft>
            </a:pPr>
            <a:r>
              <a:rPr sz="2400" b="0">
                <a:solidFill>
                  <a:srgbClr val="1B2A41"/>
                </a:solidFill>
                <a:latin typeface="B Nazanin"/>
              </a:rPr>
              <a:t>▪ مطالعه‌ی گذشته‌نگر</a:t>
            </a:r>
          </a:p>
          <a:p>
            <a:pPr rtl="1">
              <a:spcAft>
                <a:spcPts val="1600"/>
              </a:spcAft>
            </a:pPr>
            <a:r>
              <a:rPr sz="2400" b="0">
                <a:solidFill>
                  <a:srgbClr val="1B2A41"/>
                </a:solidFill>
                <a:latin typeface="B Nazanin"/>
              </a:rPr>
              <a:t>▪ گروه </a:t>
            </a:r>
            <a:r>
              <a:rPr sz="2400" b="0">
                <a:solidFill>
                  <a:srgbClr val="1B2A41"/>
                </a:solidFill>
                <a:latin typeface="Times New Roman"/>
              </a:rPr>
              <a:t>Farabi</a:t>
            </a:r>
            <a:r>
              <a:rPr sz="2400" b="0">
                <a:solidFill>
                  <a:srgbClr val="1B2A41"/>
                </a:solidFill>
                <a:latin typeface="B Nazanin"/>
              </a:rPr>
              <a:t> در سطح معاینه</a:t>
            </a:r>
          </a:p>
          <a:p>
            <a:pPr rtl="1">
              <a:spcAft>
                <a:spcPts val="1600"/>
              </a:spcAft>
            </a:pPr>
            <a:r>
              <a:rPr sz="2400" b="0">
                <a:solidFill>
                  <a:srgbClr val="1B2A41"/>
                </a:solidFill>
                <a:latin typeface="B Nazanin"/>
              </a:rPr>
              <a:t>▪ آزمون مرجع در تحلیل‌های ثانویه</a:t>
            </a:r>
          </a:p>
          <a:p>
            <a:pPr rtl="1">
              <a:spcAft>
                <a:spcPts val="1600"/>
              </a:spcAft>
            </a:pPr>
            <a:r>
              <a:rPr sz="2400" b="0">
                <a:solidFill>
                  <a:srgbClr val="1B2A41"/>
                </a:solidFill>
                <a:latin typeface="B Nazanin"/>
              </a:rPr>
              <a:t>▪ نبود مرجع متخصص جداسازی</a:t>
            </a:r>
          </a:p>
          <a:p>
            <a:pPr rtl="1">
              <a:spcAft>
                <a:spcPts val="1600"/>
              </a:spcAft>
            </a:pPr>
            <a:r>
              <a:rPr sz="2400" b="0">
                <a:solidFill>
                  <a:srgbClr val="1B2A41"/>
                </a:solidFill>
                <a:latin typeface="B Nazanin"/>
              </a:rPr>
              <a:t>▪ دامنه‌ی پنج نشانگر</a:t>
            </a:r>
          </a:p>
          <a:p>
            <a:pPr rtl="1">
              <a:spcAft>
                <a:spcPts val="1600"/>
              </a:spcAft>
            </a:pPr>
            <a:r>
              <a:rPr sz="2400" b="0">
                <a:solidFill>
                  <a:srgbClr val="1B2A41"/>
                </a:solidFill>
                <a:latin typeface="B Nazanin"/>
              </a:rPr>
              <a:t>▪ افت بین‌منبعی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نتیجه‌ی نهایی</a:t>
            </a:r>
          </a:p>
        </p:txBody>
      </p:sp>
      <p:sp>
        <p:nvSpPr>
          <p:cNvPr id="3" name="TextBox 2"/>
          <p:cNvSpPr txBox="1"/>
          <p:nvPr/>
        </p:nvSpPr>
        <p:spPr>
          <a:xfrm>
            <a:off x="731520" y="1783080"/>
            <a:ext cx="10789920" cy="4480560"/>
          </a:xfrm>
          <a:prstGeom prst="rect">
            <a:avLst/>
          </a:prstGeom>
          <a:noFill/>
        </p:spPr>
        <p:txBody>
          <a:bodyPr wrap="square">
            <a:spAutoFit/>
          </a:bodyPr>
          <a:lstStyle/>
          <a:p>
            <a:pPr rtl="1">
              <a:spcAft>
                <a:spcPts val="1600"/>
              </a:spcAft>
            </a:pPr>
            <a:r>
              <a:rPr sz="2400" b="0">
                <a:solidFill>
                  <a:srgbClr val="1B2A41"/>
                </a:solidFill>
                <a:latin typeface="B Nazanin"/>
              </a:rPr>
              <a:t>▪ عروق فضایی: اطلاعات مکمل</a:t>
            </a:r>
          </a:p>
          <a:p>
            <a:pPr rtl="1">
              <a:spcAft>
                <a:spcPts val="1600"/>
              </a:spcAft>
            </a:pPr>
            <a:r>
              <a:rPr sz="2400" b="0">
                <a:solidFill>
                  <a:srgbClr val="1B2A41"/>
                </a:solidFill>
                <a:latin typeface="B Nazanin"/>
              </a:rPr>
              <a:t>▪ تکرار در منبع دیده‌نشده</a:t>
            </a:r>
          </a:p>
          <a:p>
            <a:pPr rtl="1">
              <a:spcAft>
                <a:spcPts val="1600"/>
              </a:spcAft>
            </a:pPr>
            <a:r>
              <a:rPr sz="2400" b="0">
                <a:solidFill>
                  <a:srgbClr val="1B2A41"/>
                </a:solidFill>
                <a:latin typeface="B Nazanin"/>
              </a:rPr>
              <a:t>▪ نشانگرها: بدون ارزش افزوده‌ی تکرارپذیر</a:t>
            </a:r>
          </a:p>
          <a:p>
            <a:pPr rtl="1">
              <a:spcAft>
                <a:spcPts val="1600"/>
              </a:spcAft>
            </a:pPr>
            <a:r>
              <a:rPr sz="2400" b="0">
                <a:solidFill>
                  <a:srgbClr val="1B2A41"/>
                </a:solidFill>
                <a:latin typeface="B Nazanin"/>
              </a:rPr>
              <a:t>▪ بدون ادعای آمادگی بالینی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rIns="457200" lIns="457200"/>
          <a:lstStyle/>
          <a:p>
            <a:pPr algn="ctr" rtl="1"/>
            <a:r>
              <a:rPr sz="3000" b="1">
                <a:solidFill>
                  <a:srgbClr val="FFFFFF"/>
                </a:solidFill>
                <a:latin typeface="B Nazanin"/>
              </a:rPr>
              <a:t>پرسش‌های محتمل داور</a:t>
            </a:r>
          </a:p>
        </p:txBody>
      </p:sp>
      <p:sp>
        <p:nvSpPr>
          <p:cNvPr id="3" name="TextBox 2"/>
          <p:cNvSpPr txBox="1"/>
          <p:nvPr/>
        </p:nvSpPr>
        <p:spPr>
          <a:xfrm>
            <a:off x="640080" y="1115568"/>
            <a:ext cx="10972800" cy="457200"/>
          </a:xfrm>
          <a:prstGeom prst="rect">
            <a:avLst/>
          </a:prstGeom>
          <a:noFill/>
        </p:spPr>
        <p:txBody>
          <a:bodyPr wrap="square">
            <a:spAutoFit/>
          </a:bodyPr>
          <a:lstStyle/>
          <a:p>
            <a:pPr rtl="1"/>
            <a:r>
              <a:rPr sz="1700" b="0">
                <a:solidFill>
                  <a:srgbClr val="505050"/>
                </a:solidFill>
                <a:latin typeface="B Nazanin"/>
              </a:rPr>
              <a:t>پاسخ کامل در یادداشت همین اسلاید</a:t>
            </a:r>
          </a:p>
        </p:txBody>
      </p:sp>
      <p:sp>
        <p:nvSpPr>
          <p:cNvPr id="4" name="TextBox 3"/>
          <p:cNvSpPr txBox="1"/>
          <p:nvPr/>
        </p:nvSpPr>
        <p:spPr>
          <a:xfrm>
            <a:off x="731520" y="1783080"/>
            <a:ext cx="10789920" cy="4480560"/>
          </a:xfrm>
          <a:prstGeom prst="rect">
            <a:avLst/>
          </a:prstGeom>
          <a:noFill/>
        </p:spPr>
        <p:txBody>
          <a:bodyPr wrap="square">
            <a:spAutoFit/>
          </a:bodyPr>
          <a:lstStyle/>
          <a:p>
            <a:pPr rtl="1">
              <a:spcAft>
                <a:spcPts val="1600"/>
              </a:spcAft>
            </a:pPr>
            <a:r>
              <a:rPr sz="2400" b="0">
                <a:solidFill>
                  <a:srgbClr val="1B2A41"/>
                </a:solidFill>
                <a:latin typeface="B Nazanin"/>
              </a:rPr>
              <a:t>▪ چرا عدد تجمیعی نتیجه‌ی اصلی نیست؟</a:t>
            </a:r>
          </a:p>
          <a:p>
            <a:pPr rtl="1">
              <a:spcAft>
                <a:spcPts val="1600"/>
              </a:spcAft>
            </a:pPr>
            <a:r>
              <a:rPr sz="2400" b="0">
                <a:solidFill>
                  <a:srgbClr val="1B2A41"/>
                </a:solidFill>
                <a:latin typeface="B Nazanin"/>
              </a:rPr>
              <a:t>▪ چرا آموزش کامل ادامه نیافت؟</a:t>
            </a:r>
          </a:p>
          <a:p>
            <a:pPr rtl="1">
              <a:spcAft>
                <a:spcPts val="1600"/>
              </a:spcAft>
            </a:pPr>
            <a:r>
              <a:rPr sz="2400" b="0">
                <a:solidFill>
                  <a:srgbClr val="1B2A41"/>
                </a:solidFill>
                <a:latin typeface="B Nazanin"/>
              </a:rPr>
              <a:t>▪ چرا سازگارسازی دامنه نتیجه نداد؟</a:t>
            </a:r>
          </a:p>
          <a:p>
            <a:pPr rtl="1">
              <a:spcAft>
                <a:spcPts val="1600"/>
              </a:spcAft>
            </a:pPr>
            <a:r>
              <a:rPr sz="2400" b="0">
                <a:solidFill>
                  <a:srgbClr val="1B2A41"/>
                </a:solidFill>
                <a:latin typeface="B Nazanin"/>
              </a:rPr>
              <a:t>▪ نوآوری در یک جمله چیست؟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