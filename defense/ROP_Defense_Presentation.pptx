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سلام. موضوع پروژه، تشخیص بیماری پلاس در رتینوپاتی نارس است. در این ارائه نشان می‌دهم چه چیزی اندازه‌گیری شد، داده چه نشان داد، و چه چیزی هنوز اثبات نشده 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تأکید: خروجی مدل رتبه‌بندی است. هیچ ادعای تصمیم درمانی در این پروژه مطرح نمی‌شود.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منبع Plus دو سوم جمعیت است و پیش‌پلاس ندارد. به همین دلیل AUC تجمیعی به‌تنهایی گمراه‌کننده است و عملکرد به تفکیک منبع گزارش می‌شود.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هفت ورودی اصلی. هیچ مدلی تنظیم اختصاصی نگرفت؛ این برای مقایسه‌ی منصفانه حیاتی 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این آزمایش، پایداری نتیجه‌ی اصلی را می‌سنجد، نه برتری معماری.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نوآوری این پروژه در سنجش دقیق و صداقت گزارش است، نه در معرفی یک شبکه‌ی جدید.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محدودیت‌ها را خودت مطرح کن. این کار اعتبار دفاع را بالا می‌برد.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جمله‌ی دفاع: عروق فضایی مکمل است؛ خلاصه‌های عددی ارزش افزوده‌ی تکرارپذیر نداشتند؛ و این مساوی آمادگی بالینی نیست.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به هر پرسش، سه لایه پاسخ بده. اگر چیزی اثبات نشده، همان را بگو.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ctr"/>
            <a:r>
              <a:rPr sz="4000" b="1">
                <a:solidFill>
                  <a:srgbClr val="FFFFFF"/>
                </a:solidFill>
                <a:latin typeface="B Nazanin"/>
              </a:rPr>
              <a:t>تشخیص بیماری پلاس در رتینوپاتی نارس</a:t>
            </a:r>
          </a:p>
          <a:p>
            <a:pPr rtl="1" algn="ctr"/>
            <a:r>
              <a:rPr sz="1900">
                <a:solidFill>
                  <a:srgbClr val="D5DDE8"/>
                </a:solidFill>
                <a:latin typeface="B Nazanin"/>
              </a:rPr>
              <a:t>ارزیابی سهم بازنمایی عروقی فضایی و نشانگرهای اسکالر عروقی در کنار بازنمایی یادگرفته‌شده‌ی تصویر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2336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ctr"/>
            <a:r>
              <a:rPr sz="2000" b="1">
                <a:solidFill>
                  <a:srgbClr val="FFFFFF"/>
                </a:solidFill>
                <a:latin typeface="B Nazanin"/>
              </a:rPr>
              <a:t>نیکی مهدیان</a:t>
            </a:r>
          </a:p>
          <a:p>
            <a:pPr rtl="1" algn="ctr"/>
            <a:r>
              <a:rPr sz="1600" b="0">
                <a:solidFill>
                  <a:srgbClr val="B9C4D4"/>
                </a:solidFill>
                <a:latin typeface="B Nazanin"/>
              </a:rPr>
              <a:t>استاد راهنما: دکتر تقی راد</a:t>
            </a:r>
          </a:p>
          <a:p>
            <a:pPr rtl="1" algn="ctr"/>
            <a:r>
              <a:rPr sz="1600" b="0">
                <a:solidFill>
                  <a:srgbClr val="B9C4D4"/>
                </a:solidFill>
                <a:latin typeface="B Nazanin"/>
              </a:rPr>
              <a:t>دانشکده‌ی مهندسی برق — دانشگاه صنعتی خواجه نصیرالدین طوسی</a:t>
            </a:r>
          </a:p>
          <a:p>
            <a:pPr rtl="1" algn="ctr"/>
            <a:r>
              <a:rPr sz="1600" b="0">
                <a:solidFill>
                  <a:srgbClr val="B9C4D4"/>
                </a:solidFill>
                <a:latin typeface="B Nazanin"/>
              </a:rPr>
              <a:t>پروژه‌ی کارشناسی — شهریور ۱۴۰۵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11480" lIns="411480"/>
          <a:lstStyle/>
          <a:p>
            <a:pPr algn="r" rtl="1"/>
            <a:r>
              <a:rPr sz="3000" b="1">
                <a:solidFill>
                  <a:srgbClr val="FFFFFF"/>
                </a:solidFill>
                <a:latin typeface="B Nazanin"/>
              </a:rPr>
              <a:t>مسئله‌ی بالینی و خروجی مدل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000"/>
              </a:spcAft>
            </a:pPr>
            <a:r>
              <a:rPr sz="2100">
                <a:solidFill>
                  <a:srgbClr val="1B2A41"/>
                </a:solidFill>
                <a:latin typeface="B Nazanin"/>
              </a:rPr>
              <a:t>• رتینوپاتی نارس نتیجه‌ی رشد ناقص عروق شبکیه در نوزاد نارس است؛ شدت آن با محل، مرحله و وضعیت عروق توصیف می‌شود.</a:t>
            </a:r>
          </a:p>
          <a:p>
            <a:pPr rtl="1" algn="r">
              <a:spcAft>
                <a:spcPts val="1000"/>
              </a:spcAft>
            </a:pPr>
            <a:r>
              <a:rPr sz="2100">
                <a:solidFill>
                  <a:srgbClr val="1B2A41"/>
                </a:solidFill>
                <a:latin typeface="B Nazanin"/>
              </a:rPr>
              <a:t>• بیماری پلاس با گشادشدگی و پیچ‌خوردگی عروق قطب خلفی شناخته می‌شود و نیاز به بررسی فوری دارد.</a:t>
            </a:r>
          </a:p>
          <a:p>
            <a:pPr rtl="1" algn="r">
              <a:spcAft>
                <a:spcPts val="1000"/>
              </a:spcAft>
            </a:pPr>
            <a:r>
              <a:rPr sz="2100">
                <a:solidFill>
                  <a:srgbClr val="1B2A41"/>
                </a:solidFill>
                <a:latin typeface="B Nazanin"/>
              </a:rPr>
              <a:t>• مرز میان وضعیت طبیعی، پیش‌پلاس و پلاس به قضاوت متخصص وابسته است و در عمل هم‌خوانی کامل میان ارزیابان وجود ندارد.</a:t>
            </a:r>
          </a:p>
          <a:p>
            <a:pPr rtl="1" algn="r">
              <a:spcAft>
                <a:spcPts val="1000"/>
              </a:spcAft>
            </a:pPr>
            <a:r>
              <a:rPr sz="2100">
                <a:solidFill>
                  <a:srgbClr val="1B2A41"/>
                </a:solidFill>
                <a:latin typeface="B Nazanin"/>
              </a:rPr>
              <a:t>• هدف این پروژه یک مدل کمکی است که تصویر فوندوس را به سه رده‌ی طبیعی، پیش‌پلاس و پلاس نگاشت می‌کند.</a:t>
            </a:r>
          </a:p>
          <a:p>
            <a:pPr rtl="1" algn="r" lvl="1">
              <a:spcAft>
                <a:spcPts val="600"/>
              </a:spcAft>
            </a:pPr>
            <a:r>
              <a:rPr sz="1800">
                <a:solidFill>
                  <a:srgbClr val="444444"/>
                </a:solidFill>
                <a:latin typeface="B Nazanin"/>
              </a:rPr>
              <a:t>– خروجی مدل یک احتمال روی برچسب ثبت‌شده در داده است، نه تصمیم درمانی و نه جانشین معاینه‌ی متخصص.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11480" lIns="411480"/>
          <a:lstStyle/>
          <a:p>
            <a:pPr algn="r" rtl="1"/>
            <a:r>
              <a:rPr sz="3000" b="1">
                <a:solidFill>
                  <a:srgbClr val="FFFFFF"/>
                </a:solidFill>
                <a:latin typeface="B Nazanin"/>
              </a:rPr>
              <a:t>سؤال پژوهش و فرضیه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000"/>
              </a:spcAft>
            </a:pPr>
            <a:r>
              <a:rPr sz="2100">
                <a:solidFill>
                  <a:srgbClr val="1B2A41"/>
                </a:solidFill>
                <a:latin typeface="B Nazanin"/>
              </a:rPr>
              <a:t>• فرضیه‌ی اولیه: اندازه‌گیری صریح عروق، اطلاعاتی دارد که بازنمایی تصویری به‌تنهایی آن را در اختیار مدل نمی‌گذارد.</a:t>
            </a:r>
          </a:p>
          <a:p>
            <a:pPr rtl="1" algn="r">
              <a:spcAft>
                <a:spcPts val="1000"/>
              </a:spcAft>
            </a:pPr>
            <a:r>
              <a:rPr sz="2100">
                <a:solidFill>
                  <a:srgbClr val="1B2A41"/>
                </a:solidFill>
                <a:latin typeface="B Nazanin"/>
              </a:rPr>
              <a:t>• پرسش یکم: پنج نشانگر اسکالر عروقی، پلاس را از دو وضعیت دیگر جدا می‌کنند؟</a:t>
            </a:r>
          </a:p>
          <a:p>
            <a:pPr rtl="1" algn="r">
              <a:spcAft>
                <a:spcPts val="1000"/>
              </a:spcAft>
            </a:pPr>
            <a:r>
              <a:rPr sz="2100">
                <a:solidFill>
                  <a:srgbClr val="1B2A41"/>
                </a:solidFill>
                <a:latin typeface="B Nazanin"/>
              </a:rPr>
              <a:t>• پرسش دوم: افزودن این نشانگرها به یک بازنمایی تصویری یادگرفته‌شده، عملکرد را بهتر می‌کند؟</a:t>
            </a:r>
          </a:p>
          <a:p>
            <a:pPr rtl="1" algn="r">
              <a:spcAft>
                <a:spcPts val="1000"/>
              </a:spcAft>
            </a:pPr>
            <a:r>
              <a:rPr sz="2100">
                <a:solidFill>
                  <a:srgbClr val="1B2A41"/>
                </a:solidFill>
                <a:latin typeface="B Nazanin"/>
              </a:rPr>
              <a:t>• پرسش سوم: نقشه‌ی فضایی عروق، مستقل از نشانگرهای عددی، اطلاعات مکمل می‌افزاید؟</a:t>
            </a:r>
          </a:p>
          <a:p>
            <a:pPr rtl="1" algn="r">
              <a:spcAft>
                <a:spcPts val="1000"/>
              </a:spcAft>
            </a:pPr>
            <a:r>
              <a:rPr sz="2100">
                <a:solidFill>
                  <a:srgbClr val="1B2A41"/>
                </a:solidFill>
                <a:latin typeface="B Nazanin"/>
              </a:rPr>
              <a:t>• پرسش چهارم: این سهم در مرکز تصویربرداری دیده‌نشده هم پایدار می‌ماند؟</a:t>
            </a:r>
          </a:p>
          <a:p>
            <a:pPr rtl="1" algn="r" lvl="1">
              <a:spcAft>
                <a:spcPts val="600"/>
              </a:spcAft>
            </a:pPr>
            <a:r>
              <a:rPr sz="1800">
                <a:solidFill>
                  <a:srgbClr val="444444"/>
                </a:solidFill>
                <a:latin typeface="B Nazanin"/>
              </a:rPr>
              <a:t>– هر چهار پرسش با یک تقسیم ثابت، یک پروتکل آماری واحد و یک آزمون قفل‌شده سنجیده شدند.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11480" lIns="411480"/>
          <a:lstStyle/>
          <a:p>
            <a:pPr algn="r" rtl="1"/>
            <a:r>
              <a:rPr sz="3000" b="1">
                <a:solidFill>
                  <a:srgbClr val="FFFFFF"/>
                </a:solidFill>
                <a:latin typeface="B Nazanin"/>
              </a:rPr>
              <a:t>جمعیت، منابع و تقسیم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1700">
                <a:solidFill>
                  <a:srgbClr val="444444"/>
                </a:solidFill>
                <a:latin typeface="B Nazanin"/>
              </a:rPr>
              <a:t>منبع بزرگ، عدد تجمیعی را جهت می‌دهد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78308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۸۸۶۲ مورد کامل در ۴۱۴ گروه از سه مرکز تصویربرداری.</a:t>
            </a:r>
          </a:p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فارفوم ۱۵۲۸ تصویر، فارابی ۱۴۰۹ تصویر، Plus ۵۹۲۵ تصویر.</a:t>
            </a:r>
          </a:p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منبع Plus حدود دو سوم داده را می‌سازد و هیچ مورد پیش‌پلاس ندارد.</a:t>
            </a:r>
          </a:p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تقسیم: ۶۲۰۳ آموزش، ۱۳۲۸ اعتبارسنجی، ۱۳۳۱ آزمون.</a:t>
            </a:r>
          </a:p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این عدم‌توازن، دلیل گزارش تفکیکی هر منبع است.</a:t>
            </a:r>
          </a:p>
        </p:txBody>
      </p:sp>
      <p:pic>
        <p:nvPicPr>
          <p:cNvPr id="5" name="Picture 4" descr="D1_source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6172200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4476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ctr"/>
            <a:r>
              <a:rPr sz="1400" i="1">
                <a:solidFill>
                  <a:srgbClr val="444444"/>
                </a:solidFill>
                <a:latin typeface="B Nazanin"/>
              </a:rPr>
              <a:t>توزیع کلاس در جمعیت نهایی به تفکیک منبع؛ منبع Plus هیچ مورد پیش‌پلاس ندارد.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11480" lIns="411480"/>
          <a:lstStyle/>
          <a:p>
            <a:pPr algn="r" rtl="1"/>
            <a:r>
              <a:rPr sz="3000" b="1">
                <a:solidFill>
                  <a:srgbClr val="FFFFFF"/>
                </a:solidFill>
                <a:latin typeface="B Nazanin"/>
              </a:rPr>
              <a:t>ممیزی داده و جلوگیری از نشت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000"/>
              </a:spcAft>
            </a:pPr>
            <a:r>
              <a:rPr sz="2100">
                <a:solidFill>
                  <a:srgbClr val="1B2A41"/>
                </a:solidFill>
                <a:latin typeface="B Nazanin"/>
              </a:rPr>
              <a:t>• واحد استقلال، گروه است نه فایل؛ همه‌ی تصاویر یک بیمار یا یک معاینه در یک بخش می‌مانند.</a:t>
            </a:r>
          </a:p>
          <a:p>
            <a:pPr rtl="1" algn="r">
              <a:spcAft>
                <a:spcPts val="1000"/>
              </a:spcAft>
            </a:pPr>
            <a:r>
              <a:rPr sz="2100">
                <a:solidFill>
                  <a:srgbClr val="1B2A41"/>
                </a:solidFill>
                <a:latin typeface="B Nazanin"/>
              </a:rPr>
              <a:t>• گروه در Plus و فارفوم بر پایه‌ی بیمار و در فارابی بر پایه‌ی معاینه تعریف شد، چون شناسه‌ی بیمار در فارابی موجود نبود.</a:t>
            </a:r>
          </a:p>
          <a:p>
            <a:pPr rtl="1" algn="r">
              <a:spcAft>
                <a:spcPts val="1000"/>
              </a:spcAft>
            </a:pPr>
            <a:r>
              <a:rPr sz="2100">
                <a:solidFill>
                  <a:srgbClr val="1B2A41"/>
                </a:solidFill>
                <a:latin typeface="B Nazanin"/>
              </a:rPr>
              <a:t>• هیچ گروهی در بیش از یک بخش نیست و هیچ تصویر تکراری میان بخش‌ها وجود ندارد.</a:t>
            </a:r>
          </a:p>
          <a:p>
            <a:pPr rtl="1" algn="r">
              <a:spcAft>
                <a:spcPts val="1000"/>
              </a:spcAft>
            </a:pPr>
            <a:r>
              <a:rPr sz="2100">
                <a:solidFill>
                  <a:srgbClr val="1B2A41"/>
                </a:solidFill>
                <a:latin typeface="B Nazanin"/>
              </a:rPr>
              <a:t>• اثر انگشت تقسیم با SHA-256 ثبت شده و اگر تغییر کند، اجرای آموزش متوقف می‌شود.</a:t>
            </a:r>
          </a:p>
          <a:p>
            <a:pPr rtl="1" algn="r" lvl="1">
              <a:spcAft>
                <a:spcPts val="600"/>
              </a:spcAft>
            </a:pPr>
            <a:r>
              <a:rPr sz="1800">
                <a:solidFill>
                  <a:srgbClr val="444444"/>
                </a:solidFill>
                <a:latin typeface="B Nazanin"/>
              </a:rPr>
              <a:t>– نبود هم‌پوشانی در سطح شناسه‌ی گروه قابل‌دسترس اثبات شد؛ استقلال کامل در سطح بیمار برای فارابی اثبات نشده است.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11480" lIns="411480"/>
          <a:lstStyle/>
          <a:p>
            <a:pPr algn="r" rtl="1"/>
            <a:r>
              <a:rPr sz="3000" b="1">
                <a:solidFill>
                  <a:srgbClr val="FFFFFF"/>
                </a:solidFill>
                <a:latin typeface="B Nazanin"/>
              </a:rPr>
              <a:t>زنجیره‌ی عروقی و پنج نشانگر نهایی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1700">
                <a:solidFill>
                  <a:srgbClr val="444444"/>
                </a:solidFill>
                <a:latin typeface="B Nazanin"/>
              </a:rPr>
              <a:t>پنج خلاصه‌ی عددی با معنای هندسی روشن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78308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چگالی عروق، چگالی اسکلت و سه بُعد فرکتال D0 تا D2.</a:t>
            </a:r>
          </a:p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مخرج چگالی، مساحت محتوا است تا ناحیه‌ی سیاه بیرون میدان دید نتیجه را تحریف نکند.</a:t>
            </a:r>
          </a:p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پهنای رگ و پیچ‌خوردگی در ورودی نهایی نیستند.</a:t>
            </a:r>
          </a:p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کیفیت ماسک روی داده‌ی این پروژه با ماسک متخصص سنجیده نشده است.</a:t>
            </a:r>
          </a:p>
          <a:p>
            <a:pPr rtl="1" algn="r" lvl="1">
              <a:spcAft>
                <a:spcPts val="600"/>
              </a:spcAft>
            </a:pPr>
            <a:r>
              <a:rPr sz="1400">
                <a:solidFill>
                  <a:srgbClr val="444444"/>
                </a:solidFill>
                <a:latin typeface="B Nazanin"/>
              </a:rPr>
              <a:t>– دو علت محتمل ضعف نشانگرها — کم‌بودن اطلاعات یا کیفیت اندازه‌گیری — از هم تفکیک نشده‌اند.</a:t>
            </a:r>
          </a:p>
        </p:txBody>
      </p:sp>
      <p:pic>
        <p:nvPicPr>
          <p:cNvPr id="5" name="Picture 4" descr="M2_biomarker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6172200" cy="269773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4476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ctr"/>
            <a:r>
              <a:rPr sz="1400" i="1">
                <a:solidFill>
                  <a:srgbClr val="444444"/>
                </a:solidFill>
                <a:latin typeface="B Nazanin"/>
              </a:rPr>
              <a:t>خط لوله‌ی ساخت پنج نشانگر اسکالر از تصویر فوندوس و نقشه‌ی عروق.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11480" lIns="411480"/>
          <a:lstStyle/>
          <a:p>
            <a:pPr algn="r" rtl="1"/>
            <a:r>
              <a:rPr sz="3000" b="1">
                <a:solidFill>
                  <a:srgbClr val="FFFFFF"/>
                </a:solidFill>
                <a:latin typeface="B Nazanin"/>
              </a:rPr>
              <a:t>طراحی مدل‌ها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1700">
                <a:solidFill>
                  <a:srgbClr val="444444"/>
                </a:solidFill>
                <a:latin typeface="B Nazanin"/>
              </a:rPr>
              <a:t>یک پیکربندی ثابت برای همه‌ی مدل‌های برداری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78308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A: پنج نشانگر با XGBoost.</a:t>
            </a:r>
          </a:p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B: تصویر با EfficientNet-B5 و طبقه‌بند.</a:t>
            </a:r>
          </a:p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B-emb: بردار ۲۰۴۸بعدی تصویر با XGBoost.</a:t>
            </a:r>
          </a:p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E: بردار تصویری به‌همراه بردار عروقی ۱۷۹۲بعدی.</a:t>
            </a:r>
          </a:p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G: E به‌همراه پنج نشانگر.</a:t>
            </a:r>
          </a:p>
          <a:p>
            <a:pPr rtl="1" algn="r" lvl="1">
              <a:spcAft>
                <a:spcPts val="600"/>
              </a:spcAft>
            </a:pPr>
            <a:r>
              <a:rPr sz="1400">
                <a:solidFill>
                  <a:srgbClr val="444444"/>
                </a:solidFill>
                <a:latin typeface="B Nazanin"/>
              </a:rPr>
              <a:t>– همه‌ی مدل‌های بردار پایه، یک پیکربندی ثابت XGBoost دارند و هیچ تنظیم جداگانه‌ای نگرفتند.</a:t>
            </a:r>
          </a:p>
        </p:txBody>
      </p:sp>
      <p:pic>
        <p:nvPicPr>
          <p:cNvPr id="5" name="Picture 4" descr="M3_model_architec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6172200" cy="47364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4476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ctr"/>
            <a:r>
              <a:rPr sz="1400" i="1">
                <a:solidFill>
                  <a:srgbClr val="444444"/>
                </a:solidFill>
                <a:latin typeface="B Nazanin"/>
              </a:rPr>
              <a:t>معماری و ابعاد ورودی مدل‌های اصلی.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11480" lIns="411480"/>
          <a:lstStyle/>
          <a:p>
            <a:pPr algn="r" rtl="1"/>
            <a:r>
              <a:rPr sz="3000" b="1">
                <a:solidFill>
                  <a:srgbClr val="FFFFFF"/>
                </a:solidFill>
                <a:latin typeface="B Nazanin"/>
              </a:rPr>
              <a:t>روش ارزیابی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1700">
                <a:solidFill>
                  <a:srgbClr val="444444"/>
                </a:solidFill>
                <a:latin typeface="B Nazanin"/>
              </a:rPr>
              <a:t>سه رژیم جدا که هرگز با هم جمع نمی‌شوند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000"/>
              </a:spcAft>
            </a:pPr>
            <a:r>
              <a:rPr sz="2000">
                <a:solidFill>
                  <a:srgbClr val="1B2A41"/>
                </a:solidFill>
                <a:latin typeface="B Nazanin"/>
              </a:rPr>
              <a:t>• رژیم یکم، تقسیم کانونی: مقایسه‌ی رسمی مدل‌ها با انتخاب مدل فقط روی اعتبارسنجی.</a:t>
            </a:r>
          </a:p>
          <a:p>
            <a:pPr rtl="1" algn="r">
              <a:spcAft>
                <a:spcPts val="1000"/>
              </a:spcAft>
            </a:pPr>
            <a:r>
              <a:rPr sz="2000">
                <a:solidFill>
                  <a:srgbClr val="1B2A41"/>
                </a:solidFill>
                <a:latin typeface="B Nazanin"/>
              </a:rPr>
              <a:t>• رژیم دوم، منبع کنارگذاشته: در هر فولد یک مرکز کامل از فرآیند بیرون می‌ماند.</a:t>
            </a:r>
          </a:p>
          <a:p>
            <a:pPr rtl="1" algn="r">
              <a:spcAft>
                <a:spcPts val="1000"/>
              </a:spcAft>
            </a:pPr>
            <a:r>
              <a:rPr sz="2000">
                <a:solidFill>
                  <a:srgbClr val="1B2A41"/>
                </a:solidFill>
                <a:latin typeface="B Nazanin"/>
              </a:rPr>
              <a:t>• رژیم سوم، سازگارسازی دامنه: آزمون این‌که هم‌ترازی می‌تواند انتقال را بهتر کند.</a:t>
            </a:r>
          </a:p>
          <a:p>
            <a:pPr rtl="1" algn="r">
              <a:spcAft>
                <a:spcPts val="1000"/>
              </a:spcAft>
            </a:pPr>
            <a:r>
              <a:rPr sz="2000">
                <a:solidFill>
                  <a:srgbClr val="1B2A41"/>
                </a:solidFill>
                <a:latin typeface="B Nazanin"/>
              </a:rPr>
              <a:t>• استنباط آماری: بوت‌استرپ زوجی طبقه‌محور با ده هزار تکرار و بذر ثابت، برای پنج معیار.</a:t>
            </a:r>
          </a:p>
          <a:p>
            <a:pPr rtl="1" algn="r">
              <a:spcAft>
                <a:spcPts val="1000"/>
              </a:spcAft>
            </a:pPr>
            <a:r>
              <a:rPr sz="2000">
                <a:solidFill>
                  <a:srgbClr val="1B2A41"/>
                </a:solidFill>
                <a:latin typeface="B Nazanin"/>
              </a:rPr>
              <a:t>• پنج معیار: مساحت زیر منحنی، دقت متعادل، اف‌یک ماکرو، امتیاز Brier و خطای کالیبراسیون.</a:t>
            </a:r>
          </a:p>
          <a:p>
            <a:pPr rtl="1" algn="r" lvl="1">
              <a:spcAft>
                <a:spcPts val="600"/>
              </a:spcAft>
            </a:pPr>
            <a:r>
              <a:rPr sz="1700">
                <a:solidFill>
                  <a:srgbClr val="444444"/>
                </a:solidFill>
                <a:latin typeface="B Nazanin"/>
              </a:rPr>
              <a:t>– آزمون یک بار و پس از قفل‌شدن همه‌ی پارامترهای انتخابی خوانده شد.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11480" lIns="411480"/>
          <a:lstStyle/>
          <a:p>
            <a:pPr algn="r" rtl="1"/>
            <a:r>
              <a:rPr sz="3000" b="1">
                <a:solidFill>
                  <a:srgbClr val="FFFFFF"/>
                </a:solidFill>
                <a:latin typeface="B Nazanin"/>
              </a:rPr>
              <a:t>نتایج آزمون کانونی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18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8218"/>
                <a:gridCol w="1590501"/>
                <a:gridCol w="1704109"/>
                <a:gridCol w="1704109"/>
                <a:gridCol w="1476894"/>
                <a:gridCol w="1363287"/>
              </a:tblGrid>
              <a:tr h="384048">
                <a:tc>
                  <a:txBody>
                    <a:bodyPr/>
                    <a:lstStyle/>
                    <a:p>
                      <a:pPr rtl="1" algn="ctr"/>
                      <a:r>
                        <a:rPr sz="1500" b="1">
                          <a:solidFill>
                            <a:srgbClr val="FFFFFF"/>
                          </a:solidFill>
                          <a:latin typeface="B Nazanin"/>
                        </a:rPr>
                        <a:t>مدل</a:t>
                      </a:r>
                    </a:p>
                  </a:txBody>
                  <a:tcPr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500" b="1">
                          <a:solidFill>
                            <a:srgbClr val="FFFFFF"/>
                          </a:solidFill>
                          <a:latin typeface="B Nazanin"/>
                        </a:rPr>
                        <a:t>AUC</a:t>
                      </a:r>
                    </a:p>
                  </a:txBody>
                  <a:tcPr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500" b="1">
                          <a:solidFill>
                            <a:srgbClr val="FFFFFF"/>
                          </a:solidFill>
                          <a:latin typeface="B Nazanin"/>
                        </a:rPr>
                        <a:t>دقت متعادل</a:t>
                      </a:r>
                    </a:p>
                  </a:txBody>
                  <a:tcPr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500" b="1">
                          <a:solidFill>
                            <a:srgbClr val="FFFFFF"/>
                          </a:solidFill>
                          <a:latin typeface="B Nazanin"/>
                        </a:rPr>
                        <a:t>اف‌یک ماکرو</a:t>
                      </a:r>
                    </a:p>
                  </a:txBody>
                  <a:tcPr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500" b="1">
                          <a:solidFill>
                            <a:srgbClr val="FFFFFF"/>
                          </a:solidFill>
                          <a:latin typeface="B Nazanin"/>
                        </a:rPr>
                        <a:t>Brier</a:t>
                      </a:r>
                    </a:p>
                  </a:txBody>
                  <a:tcPr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500" b="1">
                          <a:solidFill>
                            <a:srgbClr val="FFFFFF"/>
                          </a:solidFill>
                          <a:latin typeface="B Nazanin"/>
                        </a:rPr>
                        <a:t>ECE</a:t>
                      </a:r>
                    </a:p>
                  </a:txBody>
                  <a:tcPr>
                    <a:solidFill>
                      <a:srgbClr val="1B2A4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algn="ctr"/>
                      <a:r>
                        <a:rPr sz="1500">
                          <a:solidFill>
                            <a:srgbClr val="1B2A41"/>
                          </a:solidFill>
                          <a:latin typeface="B Nazanin"/>
                        </a:rPr>
                        <a:t>نشانگرهای اسکالر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500">
                          <a:solidFill>
                            <a:srgbClr val="1B2A41"/>
                          </a:solidFill>
                          <a:latin typeface="B Nazanin"/>
                        </a:rPr>
                        <a:t>۰٫۶۵۹۶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500">
                          <a:solidFill>
                            <a:srgbClr val="1B2A41"/>
                          </a:solidFill>
                          <a:latin typeface="B Nazanin"/>
                        </a:rPr>
                        <a:t>۰٫۴۹۸۵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500">
                          <a:solidFill>
                            <a:srgbClr val="1B2A41"/>
                          </a:solidFill>
                          <a:latin typeface="B Nazanin"/>
                        </a:rPr>
                        <a:t>۰٫۴۳۴۶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500">
                          <a:solidFill>
                            <a:srgbClr val="1B2A41"/>
                          </a:solidFill>
                          <a:latin typeface="B Nazanin"/>
                        </a:rPr>
                        <a:t>۰٫۵۶۷۵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500">
                          <a:solidFill>
                            <a:srgbClr val="1B2A41"/>
                          </a:solidFill>
                          <a:latin typeface="B Nazanin"/>
                        </a:rPr>
                        <a:t>۰٫۰۵۰۲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algn="ctr"/>
                      <a:r>
                        <a:rPr sz="1500">
                          <a:solidFill>
                            <a:srgbClr val="1B2A41"/>
                          </a:solidFill>
                          <a:latin typeface="B Nazanin"/>
                        </a:rPr>
                        <a:t>شبکه‌ی تصویری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500">
                          <a:solidFill>
                            <a:srgbClr val="1B2A41"/>
                          </a:solidFill>
                          <a:latin typeface="B Nazanin"/>
                        </a:rPr>
                        <a:t>۰٫۹۱۳۳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500">
                          <a:solidFill>
                            <a:srgbClr val="1B2A41"/>
                          </a:solidFill>
                          <a:latin typeface="B Nazanin"/>
                        </a:rPr>
                        <a:t>۰٫۶۹۸۶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500">
                          <a:solidFill>
                            <a:srgbClr val="1B2A41"/>
                          </a:solidFill>
                          <a:latin typeface="B Nazanin"/>
                        </a:rPr>
                        <a:t>۰٫۶۸۴۸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500">
                          <a:solidFill>
                            <a:srgbClr val="1B2A41"/>
                          </a:solidFill>
                          <a:latin typeface="B Nazanin"/>
                        </a:rPr>
                        <a:t>۰٫۲۶۲۳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500">
                          <a:solidFill>
                            <a:srgbClr val="1B2A41"/>
                          </a:solidFill>
                          <a:latin typeface="B Nazanin"/>
                        </a:rPr>
                        <a:t>۰٫۰۴۹۷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algn="ctr"/>
                      <a:r>
                        <a:rPr sz="1500">
                          <a:solidFill>
                            <a:srgbClr val="1B2A41"/>
                          </a:solidFill>
                          <a:latin typeface="B Nazanin"/>
                        </a:rPr>
                        <a:t>بازنمایی تصویری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500">
                          <a:solidFill>
                            <a:srgbClr val="1B2A41"/>
                          </a:solidFill>
                          <a:latin typeface="B Nazanin"/>
                        </a:rPr>
                        <a:t>۰٫۹۲۴۹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500">
                          <a:solidFill>
                            <a:srgbClr val="1B2A41"/>
                          </a:solidFill>
                          <a:latin typeface="B Nazanin"/>
                        </a:rPr>
                        <a:t>۰٫۷۲۳۴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500">
                          <a:solidFill>
                            <a:srgbClr val="1B2A41"/>
                          </a:solidFill>
                          <a:latin typeface="B Nazanin"/>
                        </a:rPr>
                        <a:t>۰٫۷۰۸۷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500">
                          <a:solidFill>
                            <a:srgbClr val="1B2A41"/>
                          </a:solidFill>
                          <a:latin typeface="B Nazanin"/>
                        </a:rPr>
                        <a:t>۰٫۲۷۶۳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500">
                          <a:solidFill>
                            <a:srgbClr val="1B2A41"/>
                          </a:solidFill>
                          <a:latin typeface="B Nazanin"/>
                        </a:rPr>
                        <a:t>۰٫۱۰۲۸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algn="ctr"/>
                      <a:r>
                        <a:rPr sz="1500">
                          <a:solidFill>
                            <a:srgbClr val="1B2A41"/>
                          </a:solidFill>
                          <a:latin typeface="B Nazanin"/>
                        </a:rPr>
                        <a:t>تصویر + نشانگرها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500">
                          <a:solidFill>
                            <a:srgbClr val="1B2A41"/>
                          </a:solidFill>
                          <a:latin typeface="B Nazanin"/>
                        </a:rPr>
                        <a:t>۰٫۹۲۶۰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500">
                          <a:solidFill>
                            <a:srgbClr val="1B2A41"/>
                          </a:solidFill>
                          <a:latin typeface="B Nazanin"/>
                        </a:rPr>
                        <a:t>۰٫۷۲۰۴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500">
                          <a:solidFill>
                            <a:srgbClr val="1B2A41"/>
                          </a:solidFill>
                          <a:latin typeface="B Nazanin"/>
                        </a:rPr>
                        <a:t>۰٫۷۰۹۳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500">
                          <a:solidFill>
                            <a:srgbClr val="1B2A41"/>
                          </a:solidFill>
                          <a:latin typeface="B Nazanin"/>
                        </a:rPr>
                        <a:t>۰٫۲۶۹۰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500">
                          <a:solidFill>
                            <a:srgbClr val="1B2A41"/>
                          </a:solidFill>
                          <a:latin typeface="B Nazanin"/>
                        </a:rPr>
                        <a:t>۰٫۰۹۸۶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algn="ctr"/>
                      <a:r>
                        <a:rPr sz="1500">
                          <a:solidFill>
                            <a:srgbClr val="1B2A41"/>
                          </a:solidFill>
                          <a:latin typeface="B Nazanin"/>
                        </a:rPr>
                        <a:t>تصویر + عروق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500">
                          <a:solidFill>
                            <a:srgbClr val="1B2A41"/>
                          </a:solidFill>
                          <a:latin typeface="B Nazanin"/>
                        </a:rPr>
                        <a:t>۰٫۹۳۲۸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500">
                          <a:solidFill>
                            <a:srgbClr val="1B2A41"/>
                          </a:solidFill>
                          <a:latin typeface="B Nazanin"/>
                        </a:rPr>
                        <a:t>۰٫۷۳۵۰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500">
                          <a:solidFill>
                            <a:srgbClr val="1B2A41"/>
                          </a:solidFill>
                          <a:latin typeface="B Nazanin"/>
                        </a:rPr>
                        <a:t>۰٫۷۲۴۶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500">
                          <a:solidFill>
                            <a:srgbClr val="1B2A41"/>
                          </a:solidFill>
                          <a:latin typeface="B Nazanin"/>
                        </a:rPr>
                        <a:t>۰٫۲۴۸۶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500">
                          <a:solidFill>
                            <a:srgbClr val="1B2A41"/>
                          </a:solidFill>
                          <a:latin typeface="B Nazanin"/>
                        </a:rPr>
                        <a:t>۰٫۰۹۲۱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algn="ctr"/>
                      <a:r>
                        <a:rPr sz="1500">
                          <a:solidFill>
                            <a:srgbClr val="1B2A41"/>
                          </a:solidFill>
                          <a:latin typeface="B Nazanin"/>
                        </a:rPr>
                        <a:t>تصویر + عروق + نشانگرها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500">
                          <a:solidFill>
                            <a:srgbClr val="1B2A41"/>
                          </a:solidFill>
                          <a:latin typeface="B Nazanin"/>
                        </a:rPr>
                        <a:t>۰٫۹۳۴۹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500">
                          <a:solidFill>
                            <a:srgbClr val="1B2A41"/>
                          </a:solidFill>
                          <a:latin typeface="B Nazanin"/>
                        </a:rPr>
                        <a:t>۰٫۷۳۸۹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500">
                          <a:solidFill>
                            <a:srgbClr val="1B2A41"/>
                          </a:solidFill>
                          <a:latin typeface="B Nazanin"/>
                        </a:rPr>
                        <a:t>۰٫۷۲۹۲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500">
                          <a:solidFill>
                            <a:srgbClr val="1B2A41"/>
                          </a:solidFill>
                          <a:latin typeface="B Nazanin"/>
                        </a:rPr>
                        <a:t>۰٫۲۴۶۵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500">
                          <a:solidFill>
                            <a:srgbClr val="1B2A41"/>
                          </a:solidFill>
                          <a:latin typeface="B Nazanin"/>
                        </a:rPr>
                        <a:t>۰٫۰۹۲۱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325112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1300" i="1">
                <a:solidFill>
                  <a:srgbClr val="444444"/>
                </a:solidFill>
                <a:latin typeface="B Nazanin"/>
              </a:rPr>
              <a:t>آزمون کانونی با ۱۳۳۱ تصویر. AUC، دقت متعادل و اف‌یک ماکرو بزرگ‌تر‌بهتر و Brier و ECE کوچک‌تر‌بهتر هستند. هیچ امتیاز ترکیبی ساخته نشد.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11480" lIns="411480"/>
          <a:lstStyle/>
          <a:p>
            <a:pPr algn="r" rtl="1"/>
            <a:r>
              <a:rPr sz="3000" b="1">
                <a:solidFill>
                  <a:srgbClr val="FFFFFF"/>
                </a:solidFill>
                <a:latin typeface="B Nazanin"/>
              </a:rPr>
              <a:t>توان رتبه‌بندی مدل‌ها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1700">
                <a:solidFill>
                  <a:srgbClr val="444444"/>
                </a:solidFill>
                <a:latin typeface="B Nazanin"/>
              </a:rPr>
              <a:t>نشانگر تنها، ضعیف‌تر از هر مدل تصویری است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78308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نشانگرهای اسکالر به‌تنهایی حدود ۰٫۶۶ است؛ بالای شانس و پایین‌تر از همه‌ی مدل‌های تصویری.</a:t>
            </a:r>
          </a:p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شبکه‌ی تصویری به ۰٫۹۱ می‌رسد.</a:t>
            </a:r>
          </a:p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افزودن نشانگرها به بردار تصویری، عدد را به ۰٫۹۲۶ می‌برد.</a:t>
            </a:r>
          </a:p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افزودن بردار عروقی، عدد را به ۰٫۹۳۳ می‌برد.</a:t>
            </a:r>
          </a:p>
          <a:p>
            <a:pPr rtl="1" algn="r" lvl="1">
              <a:spcAft>
                <a:spcPts val="600"/>
              </a:spcAft>
            </a:pPr>
            <a:r>
              <a:rPr sz="1400">
                <a:solidFill>
                  <a:srgbClr val="444444"/>
                </a:solidFill>
                <a:latin typeface="B Nazanin"/>
              </a:rPr>
              <a:t>– بالاترین عدد جدول ۰٫۹۳۵ است، اما عدد بالاتر به‌تنهایی شاهد بهتر نیست.</a:t>
            </a:r>
          </a:p>
        </p:txBody>
      </p:sp>
      <p:pic>
        <p:nvPicPr>
          <p:cNvPr id="5" name="Picture 4" descr="R1_model_au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6172200" cy="27581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4476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ctr"/>
            <a:r>
              <a:rPr sz="1400" i="1">
                <a:solidFill>
                  <a:srgbClr val="444444"/>
                </a:solidFill>
                <a:latin typeface="B Nazanin"/>
              </a:rPr>
              <a:t>مساحت زیر منحنی مدل‌های اصلی روی آزمون کانونی با ۱۳۳۱ تصویر.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11480" lIns="411480"/>
          <a:lstStyle/>
          <a:p>
            <a:pPr algn="r" rtl="1"/>
            <a:r>
              <a:rPr sz="3000" b="1">
                <a:solidFill>
                  <a:srgbClr val="FFFFFF"/>
                </a:solidFill>
                <a:latin typeface="B Nazanin"/>
              </a:rPr>
              <a:t>سهم افزایشی هر مؤلفه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1700">
                <a:solidFill>
                  <a:srgbClr val="444444"/>
                </a:solidFill>
                <a:latin typeface="B Nazanin"/>
              </a:rPr>
              <a:t>این شکل، نتیجه‌ی مرکزی پایان‌نامه است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78308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افزودن پنج نشانگر: تفاضل ناچیز و بازه‌ی شامل صفر.</a:t>
            </a:r>
          </a:p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افزودن بردار عروقی: تفاضل مثبت و بازه‌ی جدا از صفر.</a:t>
            </a:r>
          </a:p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افزودن نشانگرها پس از عروق: تفاضل ناچیز و بازه‌ی شامل صفر.</a:t>
            </a:r>
          </a:p>
          <a:p>
            <a:pPr rtl="1" algn="r" lvl="1">
              <a:spcAft>
                <a:spcPts val="600"/>
              </a:spcAft>
            </a:pPr>
            <a:r>
              <a:rPr sz="1400">
                <a:solidFill>
                  <a:srgbClr val="444444"/>
                </a:solidFill>
                <a:latin typeface="B Nazanin"/>
              </a:rPr>
              <a:t>– نتیجه: عروق فضایی سهم پشتیبانی‌شده دارد؛ نشانگرهای عددی ندارند.</a:t>
            </a:r>
          </a:p>
        </p:txBody>
      </p:sp>
      <p:pic>
        <p:nvPicPr>
          <p:cNvPr id="5" name="Picture 4" descr="C1_incremental_auc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6172200" cy="2235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4476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ctr"/>
            <a:r>
              <a:rPr sz="1400" i="1">
                <a:solidFill>
                  <a:srgbClr val="444444"/>
                </a:solidFill>
                <a:latin typeface="B Nazanin"/>
              </a:rPr>
              <a:t>تفاضل مساحت زیر منحنی هر افزودنی نسبت به بازنمایی تصویری، با بازه‌ی اطمینان زوجی از ده هزار تکرار.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11480" lIns="411480"/>
          <a:lstStyle/>
          <a:p>
            <a:pPr algn="r" rtl="1"/>
            <a:r>
              <a:rPr sz="3000" b="1">
                <a:solidFill>
                  <a:srgbClr val="FFFFFF"/>
                </a:solidFill>
                <a:latin typeface="B Nazanin"/>
              </a:rPr>
              <a:t>آیا این سهم به یک معماری خاص وابسته است؟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1700">
                <a:solidFill>
                  <a:srgbClr val="444444"/>
                </a:solidFill>
                <a:latin typeface="B Nazanin"/>
              </a:rPr>
              <a:t>سهم عروقی، تکرارپذیر در دو استخراج‌کننده‌ی متفاوت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78308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با بازنمایی اصلی تک‌ستون‌فقرات: تفاضل مثبت و پشتیبانی‌شده.</a:t>
            </a:r>
          </a:p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با بازنمایی دو‌ستون‌فقرات توجهی: تفاضل مثبت و بزرگ‌تر.</a:t>
            </a:r>
          </a:p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این شکل برتری معماری دو‌ستون‌فقرات را نشان نمی‌دهد.</a:t>
            </a:r>
          </a:p>
          <a:p>
            <a:pPr rtl="1" algn="r" lvl="1">
              <a:spcAft>
                <a:spcPts val="600"/>
              </a:spcAft>
            </a:pPr>
            <a:r>
              <a:rPr sz="1400">
                <a:solidFill>
                  <a:srgbClr val="444444"/>
                </a:solidFill>
                <a:latin typeface="B Nazanin"/>
              </a:rPr>
              <a:t>– خودِ کنترل فقط‌تصویری آن معماری، ضعیف‌تر از بازنمایی اصلی بود.</a:t>
            </a:r>
          </a:p>
        </p:txBody>
      </p:sp>
      <p:pic>
        <p:nvPicPr>
          <p:cNvPr id="5" name="Picture 4" descr="C3_vessel_complementarity_across_rgb_architec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6172200" cy="18970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4476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ctr"/>
            <a:r>
              <a:rPr sz="1400" i="1">
                <a:solidFill>
                  <a:srgbClr val="444444"/>
                </a:solidFill>
                <a:latin typeface="B Nazanin"/>
              </a:rPr>
              <a:t>افزودن همان بردار عروقی به دو بازنمایی تصویری متفاوت، با بازه‌ی اطمینان زوجی.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11480" lIns="411480"/>
          <a:lstStyle/>
          <a:p>
            <a:pPr algn="r" rtl="1"/>
            <a:r>
              <a:rPr sz="3000" b="1">
                <a:solidFill>
                  <a:srgbClr val="FFFFFF"/>
                </a:solidFill>
                <a:latin typeface="B Nazanin"/>
              </a:rPr>
              <a:t>دقت تصمیم و کیفیت احتمال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1700">
                <a:solidFill>
                  <a:srgbClr val="444444"/>
                </a:solidFill>
                <a:latin typeface="B Nazanin"/>
              </a:rPr>
              <a:t>بهبود در رتبه‌بندی و کیفیت احتمال، نه در آستانه‌ی تصمیم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78308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مدل‌ها در اطمینان پایین کم‌اطمینان و در اطمینان بالا پراطمینان‌اند.</a:t>
            </a:r>
          </a:p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هیچ مدلی روی خط کالیبراسیون کامل نمی‌نشیند.</a:t>
            </a:r>
          </a:p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بهبود عروقی هم رتبه‌بندی و هم امتیاز Brier را بهتر کرد.</a:t>
            </a:r>
          </a:p>
          <a:p>
            <a:pPr rtl="1" algn="r" lvl="1">
              <a:spcAft>
                <a:spcPts val="600"/>
              </a:spcAft>
            </a:pPr>
            <a:r>
              <a:rPr sz="1400">
                <a:solidFill>
                  <a:srgbClr val="444444"/>
                </a:solidFill>
                <a:latin typeface="B Nazanin"/>
              </a:rPr>
              <a:t>– دقت متعادل و اف‌یک ماکرو در همان مقایسه بازه‌ی شامل صفر داشتند.</a:t>
            </a:r>
          </a:p>
        </p:txBody>
      </p:sp>
      <p:pic>
        <p:nvPicPr>
          <p:cNvPr id="5" name="Picture 4" descr="P2_reliability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6172200" cy="55378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4476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ctr"/>
            <a:r>
              <a:rPr sz="1400" i="1">
                <a:solidFill>
                  <a:srgbClr val="444444"/>
                </a:solidFill>
                <a:latin typeface="B Nazanin"/>
              </a:rPr>
              <a:t>نمودار اطمینان‌پذیری سه مدل با پانزده سبد هم‌عرض؛ خط‌چین مورب کالیبراسیون کامل است.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11480" lIns="411480"/>
          <a:lstStyle/>
          <a:p>
            <a:pPr algn="r" rtl="1"/>
            <a:r>
              <a:rPr sz="3000" b="1">
                <a:solidFill>
                  <a:srgbClr val="FFFFFF"/>
                </a:solidFill>
                <a:latin typeface="B Nazanin"/>
              </a:rPr>
              <a:t>عملکرد به تفکیک کلاس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1700">
                <a:solidFill>
                  <a:srgbClr val="444444"/>
                </a:solidFill>
                <a:latin typeface="B Nazanin"/>
              </a:rPr>
              <a:t>پیش‌پلاس، سخت‌ترین کلاس برای همه‌ی مدل‌ها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78308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پیش‌پلاس کوچک‌ترین کلاس آزمون است و همه‌ی مدل‌ها روی آن ضعیف‌تر عمل می‌کنند.</a:t>
            </a:r>
          </a:p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کلاس Plus کم‌ترین خطا را دارد.</a:t>
            </a:r>
          </a:p>
          <a:p>
            <a:pPr rtl="1" algn="r" lvl="1">
              <a:spcAft>
                <a:spcPts val="600"/>
              </a:spcAft>
            </a:pPr>
            <a:r>
              <a:rPr sz="1400">
                <a:solidFill>
                  <a:srgbClr val="444444"/>
                </a:solidFill>
                <a:latin typeface="B Nazanin"/>
              </a:rPr>
              <a:t>– این تفکیک نشان می‌دهد عدد تجمیعی، سختی کلاس میانی را پنهان می‌کند.</a:t>
            </a:r>
          </a:p>
        </p:txBody>
      </p:sp>
      <p:pic>
        <p:nvPicPr>
          <p:cNvPr id="5" name="Picture 4" descr="R3_prepl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6172200" cy="27759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4476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ctr"/>
            <a:r>
              <a:rPr sz="1400" i="1">
                <a:solidFill>
                  <a:srgbClr val="444444"/>
                </a:solidFill>
                <a:latin typeface="B Nazanin"/>
              </a:rPr>
              <a:t>مساحت زیر منحنی کلاس پیش‌پلاس به‌صورت یک‌دربرابر‌بقیه روی آزمون کانونی.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11480" lIns="411480"/>
          <a:lstStyle/>
          <a:p>
            <a:pPr algn="r" rtl="1"/>
            <a:r>
              <a:rPr sz="3000" b="1">
                <a:solidFill>
                  <a:srgbClr val="FFFFFF"/>
                </a:solidFill>
                <a:latin typeface="B Nazanin"/>
              </a:rPr>
              <a:t>پنج نشانگر در همه‌ی رژیم‌های آزمون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1700">
                <a:solidFill>
                  <a:srgbClr val="444444"/>
                </a:solidFill>
                <a:latin typeface="B Nazanin"/>
              </a:rPr>
              <a:t>شش آزمون، یک نتیجه‌ی سازگار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78308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کانونی، شبکه‌ی مشترک، شرطی‌سازی FiLM و سه فولد منبع‌کنارگذاشته.</a:t>
            </a:r>
          </a:p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هیچ‌کدام افزایش مثبت پشتیبانی‌شده نشان ندادند.</a:t>
            </a:r>
          </a:p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تنها بازه‌ای که صفر را جدا می‌کند، منفی است.</a:t>
            </a:r>
          </a:p>
          <a:p>
            <a:pPr rtl="1" algn="r" lvl="1">
              <a:spcAft>
                <a:spcPts val="600"/>
              </a:spcAft>
            </a:pPr>
            <a:r>
              <a:rPr sz="1400">
                <a:solidFill>
                  <a:srgbClr val="444444"/>
                </a:solidFill>
                <a:latin typeface="B Nazanin"/>
              </a:rPr>
              <a:t>– نشانگرها اطلاعات مستقل دارند؛ ارزش افزوده‌ی تکرارپذیر نشان ندادند.</a:t>
            </a:r>
          </a:p>
        </p:txBody>
      </p:sp>
      <p:pic>
        <p:nvPicPr>
          <p:cNvPr id="5" name="Picture 4" descr="B1_biomarker_incremental_auc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6172200" cy="26623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4476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ctr"/>
            <a:r>
              <a:rPr sz="1400" i="1">
                <a:solidFill>
                  <a:srgbClr val="444444"/>
                </a:solidFill>
                <a:latin typeface="B Nazanin"/>
              </a:rPr>
              <a:t>شش آزمون مستقل سهم افزایشی پنج نشانگر، با بازه‌ی اطمینان زوجی.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11480" lIns="411480"/>
          <a:lstStyle/>
          <a:p>
            <a:pPr algn="r" rtl="1"/>
            <a:r>
              <a:rPr sz="3000" b="1">
                <a:solidFill>
                  <a:srgbClr val="FFFFFF"/>
                </a:solidFill>
                <a:latin typeface="B Nazanin"/>
              </a:rPr>
              <a:t>آزمایش‌های ثانویه‌ی مدل‌های عصبی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1700">
                <a:solidFill>
                  <a:srgbClr val="444444"/>
                </a:solidFill>
                <a:latin typeface="B Nazanin"/>
              </a:rPr>
              <a:t>سه آزمایش ثانویه با یک الگوی مشترک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78308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ترکیب مشترک یادگیرنده از الحاق ساده بهتر نشد.</a:t>
            </a:r>
          </a:p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افزودن نشانگر در شبکه‌ی مشترک، کاهش پشتیبانی‌شده داد.</a:t>
            </a:r>
          </a:p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شرطی‌سازی نشانگری عملاً همانی ماند.</a:t>
            </a:r>
          </a:p>
          <a:p>
            <a:pPr rtl="1" algn="r" lvl="1">
              <a:spcAft>
                <a:spcPts val="600"/>
              </a:spcAft>
            </a:pPr>
            <a:r>
              <a:rPr sz="1400">
                <a:solidFill>
                  <a:srgbClr val="444444"/>
                </a:solidFill>
                <a:latin typeface="B Nazanin"/>
              </a:rPr>
              <a:t>– دلیل مشترک: خطای آموزش کاهش یافت و عملکرد اعتبارسنجی افت کرد — بیش‌برازش.</a:t>
            </a:r>
          </a:p>
        </p:txBody>
      </p:sp>
      <p:pic>
        <p:nvPicPr>
          <p:cNvPr id="5" name="Picture 4" descr="N1a_task9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6172200" cy="2948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4476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ctr"/>
            <a:r>
              <a:rPr sz="1400" i="1">
                <a:solidFill>
                  <a:srgbClr val="444444"/>
                </a:solidFill>
                <a:latin typeface="B Nazanin"/>
              </a:rPr>
              <a:t>خطای آموزش و اعتبارسنجی مدل‌های ترکیب مشترک؛ رمزگذارها پس از دوره‌ی سوم آزاد شدند.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11480" lIns="411480"/>
          <a:lstStyle/>
          <a:p>
            <a:pPr algn="r" rtl="1"/>
            <a:r>
              <a:rPr sz="3000" b="1">
                <a:solidFill>
                  <a:srgbClr val="FFFFFF"/>
                </a:solidFill>
                <a:latin typeface="B Nazanin"/>
              </a:rPr>
              <a:t>تعمیم به منبع دیده‌نشده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1700">
                <a:solidFill>
                  <a:srgbClr val="444444"/>
                </a:solidFill>
                <a:latin typeface="B Nazanin"/>
              </a:rPr>
              <a:t>اطلاعات منبع هدف در هیچ مرحله‌ای استفاده نشد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78308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دو فولد سه‌کلاسه: تفاضل مثبت و پشتیبانی‌شده.</a:t>
            </a:r>
          </a:p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فولد Plus ارزیابی محدود دودویی است و با سه‌کلاسه جمع نمی‌شود.</a:t>
            </a:r>
          </a:p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سهم نشانگرها در هیچ فولدی پشتیبانی نشد.</a:t>
            </a:r>
          </a:p>
          <a:p>
            <a:pPr rtl="1" algn="r" lvl="1">
              <a:spcAft>
                <a:spcPts val="600"/>
              </a:spcAft>
            </a:pPr>
            <a:r>
              <a:rPr sz="1400">
                <a:solidFill>
                  <a:srgbClr val="444444"/>
                </a:solidFill>
                <a:latin typeface="B Nazanin"/>
              </a:rPr>
              <a:t>– عملکرد مطلق در منبع دیده‌نشده به‌مراتب پایین‌تر از آزمون آمیخته است.</a:t>
            </a:r>
          </a:p>
        </p:txBody>
      </p:sp>
      <p:pic>
        <p:nvPicPr>
          <p:cNvPr id="5" name="Picture 4" descr="S2_vessel_complementarity_hel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6172200" cy="207464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4476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ctr"/>
            <a:r>
              <a:rPr sz="1400" i="1">
                <a:solidFill>
                  <a:srgbClr val="444444"/>
                </a:solidFill>
                <a:latin typeface="B Nazanin"/>
              </a:rPr>
              <a:t>سهم افزایشی بردار عروقی در هر فولد منبع‌کنارگذاشته، با بازه‌ی اطمینان زوجی.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11480" lIns="411480"/>
          <a:lstStyle/>
          <a:p>
            <a:pPr algn="r" rtl="1"/>
            <a:r>
              <a:rPr sz="3000" b="1">
                <a:solidFill>
                  <a:srgbClr val="FFFFFF"/>
                </a:solidFill>
                <a:latin typeface="B Nazanin"/>
              </a:rPr>
              <a:t>جابه‌جایی دامنه‌ی بازنمایی‌ها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1700">
                <a:solidFill>
                  <a:srgbClr val="444444"/>
                </a:solidFill>
                <a:latin typeface="B Nazanin"/>
              </a:rPr>
              <a:t>جابه‌جایی اندازه‌گیری شد، نه فرض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78308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هر دو بازنمایی به‌شدت وابسته به منبع‌اند.</a:t>
            </a:r>
          </a:p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بردار عروقی جابه‌جاشده‌تر است، ولی همان بیشترین سهم را دارد.</a:t>
            </a:r>
          </a:p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پنج نشانگر اسکالر هم به‌شدت وابسته به منبع‌اند.</a:t>
            </a:r>
          </a:p>
          <a:p>
            <a:pPr rtl="1" algn="r" lvl="1">
              <a:spcAft>
                <a:spcPts val="600"/>
              </a:spcAft>
            </a:pPr>
            <a:r>
              <a:rPr sz="1400">
                <a:solidFill>
                  <a:srgbClr val="444444"/>
                </a:solidFill>
                <a:latin typeface="B Nazanin"/>
              </a:rPr>
              <a:t>– حساسیت به منبع، به‌تنهایی مانع سودمندی نیست.</a:t>
            </a:r>
          </a:p>
        </p:txBody>
      </p:sp>
      <p:pic>
        <p:nvPicPr>
          <p:cNvPr id="5" name="Picture 4" descr="DS1b_shift_vess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6172200" cy="27787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4476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ctr"/>
            <a:r>
              <a:rPr sz="1400" i="1">
                <a:solidFill>
                  <a:srgbClr val="444444"/>
                </a:solidFill>
                <a:latin typeface="B Nazanin"/>
              </a:rPr>
              <a:t>جابه‌جایی دامنه‌ی نمایش عروقی میان منبع کنارگذاشته و منابع آموزشی.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11480" lIns="411480"/>
          <a:lstStyle/>
          <a:p>
            <a:pPr algn="r" rtl="1"/>
            <a:r>
              <a:rPr sz="3000" b="1">
                <a:solidFill>
                  <a:srgbClr val="FFFFFF"/>
                </a:solidFill>
                <a:latin typeface="B Nazanin"/>
              </a:rPr>
              <a:t>آزمون سازگارسازی دامنه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1700">
                <a:solidFill>
                  <a:srgbClr val="444444"/>
                </a:solidFill>
                <a:latin typeface="B Nazanin"/>
              </a:rPr>
              <a:t>نتیجه‌ی منفی، صادقانه گزارش شد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78308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دو مدل هم‌تا: کنترل بی‌طرف و مدل با متمایزکننده‌ی دامنه و MMD شرطی‌به‌کلاس.</a:t>
            </a:r>
          </a:p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ضرایب ثابت بودند و با داده‌ی هدف تنظیم نشدند.</a:t>
            </a:r>
          </a:p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جابه‌جایی نمایش کم شد، ولی عملکرد بیماری بهتر نشد.</a:t>
            </a:r>
          </a:p>
          <a:p>
            <a:pPr rtl="1" algn="r" lvl="1">
              <a:spcAft>
                <a:spcPts val="600"/>
              </a:spcAft>
            </a:pPr>
            <a:r>
              <a:rPr sz="1400">
                <a:solidFill>
                  <a:srgbClr val="444444"/>
                </a:solidFill>
                <a:latin typeface="B Nazanin"/>
              </a:rPr>
              <a:t>– قابلیت پیش‌بینی دامنه بالا ماند؛ نتیجه، منفی گزارش می‌شود.</a:t>
            </a:r>
          </a:p>
        </p:txBody>
      </p:sp>
      <p:pic>
        <p:nvPicPr>
          <p:cNvPr id="5" name="Picture 4" descr="DA1a_domain_alignment_three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6172200" cy="2948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4476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ctr"/>
            <a:r>
              <a:rPr sz="1400" i="1">
                <a:solidFill>
                  <a:srgbClr val="444444"/>
                </a:solidFill>
                <a:latin typeface="B Nazanin"/>
              </a:rPr>
              <a:t>مساحت زیر منحنی سه‌کلاسه‌ی دو مدل تسک دوازده روی منبع کنارگذاشته.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11480" lIns="411480"/>
          <a:lstStyle/>
          <a:p>
            <a:pPr algn="r" rtl="1"/>
            <a:r>
              <a:rPr sz="3000" b="1">
                <a:solidFill>
                  <a:srgbClr val="FFFFFF"/>
                </a:solidFill>
                <a:latin typeface="B Nazanin"/>
              </a:rPr>
              <a:t>آزمون معماری جایگزین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1700">
                <a:solidFill>
                  <a:srgbClr val="444444"/>
                </a:solidFill>
                <a:latin typeface="B Nazanin"/>
              </a:rPr>
              <a:t>سهم عروقی، مقاوم به تغییر معماری تصویری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78308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بازنمایی دو‌ستون‌فقرات توجهی از بازنمایی اصلی ضعیف‌تر بود.</a:t>
            </a:r>
          </a:p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افزودن بردار عروقی به آن، سهم پشتیبانی‌شده داد.</a:t>
            </a:r>
          </a:p>
          <a:p>
            <a:pPr rtl="1" algn="r">
              <a:spcAft>
                <a:spcPts val="1000"/>
              </a:spcAft>
            </a:pPr>
            <a:r>
              <a:rPr sz="1700">
                <a:solidFill>
                  <a:srgbClr val="1B2A41"/>
                </a:solidFill>
                <a:latin typeface="B Nazanin"/>
              </a:rPr>
              <a:t>• در برابر مدل‌های اصلی تصویر+عروق، تفاوت معنادار نبود.</a:t>
            </a:r>
          </a:p>
          <a:p>
            <a:pPr rtl="1" algn="r" lvl="1">
              <a:spcAft>
                <a:spcPts val="600"/>
              </a:spcAft>
            </a:pPr>
            <a:r>
              <a:rPr sz="1400">
                <a:solidFill>
                  <a:srgbClr val="444444"/>
                </a:solidFill>
                <a:latin typeface="B Nazanin"/>
              </a:rPr>
              <a:t>– نتیجه: سهم عروقی به یک استخراج‌کننده‌ی خاص وابسته نیست.</a:t>
            </a:r>
          </a:p>
        </p:txBody>
      </p:sp>
      <p:pic>
        <p:nvPicPr>
          <p:cNvPr id="5" name="Picture 4" descr="R5_task13_paired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6172200" cy="20695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4476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ctr"/>
            <a:r>
              <a:rPr sz="1400" i="1">
                <a:solidFill>
                  <a:srgbClr val="444444"/>
                </a:solidFill>
                <a:latin typeface="B Nazanin"/>
              </a:rPr>
              <a:t>چهار مقایسه‌ی زوجی معماری جایگزین روی آزمون کانونی.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11480" lIns="411480"/>
          <a:lstStyle/>
          <a:p>
            <a:pPr algn="r" rtl="1"/>
            <a:r>
              <a:rPr sz="3000" b="1">
                <a:solidFill>
                  <a:srgbClr val="FFFFFF"/>
                </a:solidFill>
                <a:latin typeface="B Nazanin"/>
              </a:rPr>
              <a:t>نوآوری و سهم علمی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000"/>
              </a:spcAft>
            </a:pPr>
            <a:r>
              <a:rPr sz="1900">
                <a:solidFill>
                  <a:srgbClr val="1B2A41"/>
                </a:solidFill>
                <a:latin typeface="B Nazanin"/>
              </a:rPr>
              <a:t>• خط لوله‌ی اندازه‌گیری عروقی آگاه‌به‌میدان دید با تعریف مخرج پوشش بر پایه‌ی مساحت محتوا.</a:t>
            </a:r>
          </a:p>
          <a:p>
            <a:pPr rtl="1" algn="r">
              <a:spcAft>
                <a:spcPts val="1000"/>
              </a:spcAft>
            </a:pPr>
            <a:r>
              <a:rPr sz="1900">
                <a:solidFill>
                  <a:srgbClr val="1B2A41"/>
                </a:solidFill>
                <a:latin typeface="B Nazanin"/>
              </a:rPr>
              <a:t>• پروتکل ارزیابی گروه‌محور با اثر انگشت داده و آزمون یک‌بارمصرف.</a:t>
            </a:r>
          </a:p>
          <a:p>
            <a:pPr rtl="1" algn="r">
              <a:spcAft>
                <a:spcPts val="1000"/>
              </a:spcAft>
            </a:pPr>
            <a:r>
              <a:rPr sz="1900">
                <a:solidFill>
                  <a:srgbClr val="1B2A41"/>
                </a:solidFill>
                <a:latin typeface="B Nazanin"/>
              </a:rPr>
              <a:t>• استنباط زوجی طبقه‌محور با ده هزار تکرار و گزارش بازه‌ی اطمینان برای پنج معیار.</a:t>
            </a:r>
          </a:p>
          <a:p>
            <a:pPr rtl="1" algn="r">
              <a:spcAft>
                <a:spcPts val="1000"/>
              </a:spcAft>
            </a:pPr>
            <a:r>
              <a:rPr sz="1900">
                <a:solidFill>
                  <a:srgbClr val="1B2A41"/>
                </a:solidFill>
                <a:latin typeface="B Nazanin"/>
              </a:rPr>
              <a:t>• ارزیابی سه‌فولد منبع‌کنارگذاشته بدون هیچ استفاده‌ای از منبع هدف.</a:t>
            </a:r>
          </a:p>
          <a:p>
            <a:pPr rtl="1" algn="r">
              <a:spcAft>
                <a:spcPts val="1000"/>
              </a:spcAft>
            </a:pPr>
            <a:r>
              <a:rPr sz="1900">
                <a:solidFill>
                  <a:srgbClr val="1B2A41"/>
                </a:solidFill>
                <a:latin typeface="B Nazanin"/>
              </a:rPr>
              <a:t>• پیاده‌سازی ناوردایی دامنه‌ی شرطی‌به‌کلاس با تنظیم ثابت و گزارش نتیجه‌ی منفی.</a:t>
            </a:r>
          </a:p>
          <a:p>
            <a:pPr rtl="1" algn="r">
              <a:spcAft>
                <a:spcPts val="1000"/>
              </a:spcAft>
            </a:pPr>
            <a:r>
              <a:rPr sz="1900">
                <a:solidFill>
                  <a:srgbClr val="1B2A41"/>
                </a:solidFill>
                <a:latin typeface="B Nazanin"/>
              </a:rPr>
              <a:t>• بسته‌ی کامل شواهد: هش همه‌ی مصنوعات و آینه‌ی دو‌سروری بیت‌به‌بیت.</a:t>
            </a:r>
          </a:p>
          <a:p>
            <a:pPr rtl="1" algn="r" lvl="1">
              <a:spcAft>
                <a:spcPts val="600"/>
              </a:spcAft>
            </a:pPr>
            <a:r>
              <a:rPr sz="1600">
                <a:solidFill>
                  <a:srgbClr val="444444"/>
                </a:solidFill>
                <a:latin typeface="B Nazanin"/>
              </a:rPr>
              <a:t>– سهم اصلی، پروتکل و شواهد است، نه یک معماری تازه.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11480" lIns="411480"/>
          <a:lstStyle/>
          <a:p>
            <a:pPr algn="r" rtl="1"/>
            <a:r>
              <a:rPr sz="3000" b="1">
                <a:solidFill>
                  <a:srgbClr val="FFFFFF"/>
                </a:solidFill>
                <a:latin typeface="B Nazanin"/>
              </a:rPr>
              <a:t>محدودیت‌ها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000"/>
              </a:spcAft>
            </a:pPr>
            <a:r>
              <a:rPr sz="1900">
                <a:solidFill>
                  <a:srgbClr val="1B2A41"/>
                </a:solidFill>
                <a:latin typeface="B Nazanin"/>
              </a:rPr>
              <a:t>• شناسه‌ی گروه در فارابی سطح معاینه است؛ استقلال کامل در سطح بیمار اثبات نشده است.</a:t>
            </a:r>
          </a:p>
          <a:p>
            <a:pPr rtl="1" algn="r">
              <a:spcAft>
                <a:spcPts val="1000"/>
              </a:spcAft>
            </a:pPr>
            <a:r>
              <a:rPr sz="1900">
                <a:solidFill>
                  <a:srgbClr val="1B2A41"/>
                </a:solidFill>
                <a:latin typeface="B Nazanin"/>
              </a:rPr>
              <a:t>• ماسک مرجع متخصص برای این جمعیت وجود ندارد؛ لایه‌ی جداسازی اعتبارسنجی بالینی نشده است.</a:t>
            </a:r>
          </a:p>
          <a:p>
            <a:pPr rtl="1" algn="r">
              <a:spcAft>
                <a:spcPts val="1000"/>
              </a:spcAft>
            </a:pPr>
            <a:r>
              <a:rPr sz="1900">
                <a:solidFill>
                  <a:srgbClr val="1B2A41"/>
                </a:solidFill>
                <a:latin typeface="B Nazanin"/>
              </a:rPr>
              <a:t>• منبع Plus هیچ مورد پیش‌پلاس ندارد؛ ارزیابی آن محدود و دودویی است.</a:t>
            </a:r>
          </a:p>
          <a:p>
            <a:pPr rtl="1" algn="r">
              <a:spcAft>
                <a:spcPts val="1000"/>
              </a:spcAft>
            </a:pPr>
            <a:r>
              <a:rPr sz="1900">
                <a:solidFill>
                  <a:srgbClr val="1B2A41"/>
                </a:solidFill>
                <a:latin typeface="B Nazanin"/>
              </a:rPr>
              <a:t>• آزمون کانونی پیش‌تر برای مقایسه‌ی اصلی مصرف شده؛ تحلیل‌های بعدی اکتشافی ثانویه‌اند.</a:t>
            </a:r>
          </a:p>
          <a:p>
            <a:pPr rtl="1" algn="r">
              <a:spcAft>
                <a:spcPts val="1000"/>
              </a:spcAft>
            </a:pPr>
            <a:r>
              <a:rPr sz="1900">
                <a:solidFill>
                  <a:srgbClr val="1B2A41"/>
                </a:solidFill>
                <a:latin typeface="B Nazanin"/>
              </a:rPr>
              <a:t>• مدل‌های عصبی بیش‌برازش کردند و دوره‌های انتخابی زودهنگام بودند.</a:t>
            </a:r>
          </a:p>
          <a:p>
            <a:pPr rtl="1" algn="r">
              <a:spcAft>
                <a:spcPts val="1000"/>
              </a:spcAft>
            </a:pPr>
            <a:r>
              <a:rPr sz="1900">
                <a:solidFill>
                  <a:srgbClr val="1B2A41"/>
                </a:solidFill>
                <a:latin typeface="B Nazanin"/>
              </a:rPr>
              <a:t>• هیچ مطالعه‌ی کاربردپذیری با کاربر بالینی انجام نشد.</a:t>
            </a:r>
          </a:p>
          <a:p>
            <a:pPr rtl="1" algn="r" lvl="1">
              <a:spcAft>
                <a:spcPts val="600"/>
              </a:spcAft>
            </a:pPr>
            <a:r>
              <a:rPr sz="1600">
                <a:solidFill>
                  <a:srgbClr val="444444"/>
                </a:solidFill>
                <a:latin typeface="B Nazanin"/>
              </a:rPr>
              <a:t>– هیچ‌کدام از این نتایج، اعتبارسنجی بالینی یا آمادگی استقرار نیست.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11480" lIns="411480"/>
          <a:lstStyle/>
          <a:p>
            <a:pPr algn="r" rtl="1"/>
            <a:r>
              <a:rPr sz="3000" b="1">
                <a:solidFill>
                  <a:srgbClr val="FFFFFF"/>
                </a:solidFill>
                <a:latin typeface="B Nazanin"/>
              </a:rPr>
              <a:t>نتیجه‌ی نهایی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000"/>
              </a:spcAft>
            </a:pPr>
            <a:r>
              <a:rPr sz="2100">
                <a:solidFill>
                  <a:srgbClr val="1B2A41"/>
                </a:solidFill>
                <a:latin typeface="B Nazanin"/>
              </a:rPr>
              <a:t>• در پروتکل مشخص این پژوهش، نقشه‌ی فضایی عروق به تصویر رنگی اطلاعات مکمل افزود.</a:t>
            </a:r>
          </a:p>
          <a:p>
            <a:pPr rtl="1" algn="r">
              <a:spcAft>
                <a:spcPts val="1000"/>
              </a:spcAft>
            </a:pPr>
            <a:r>
              <a:rPr sz="2100">
                <a:solidFill>
                  <a:srgbClr val="1B2A41"/>
                </a:solidFill>
                <a:latin typeface="B Nazanin"/>
              </a:rPr>
              <a:t>• این سهم در مرکز دیده‌نشده و در معماری تصویری متفاوت هم تکرار شد.</a:t>
            </a:r>
          </a:p>
          <a:p>
            <a:pPr rtl="1" algn="r">
              <a:spcAft>
                <a:spcPts val="1000"/>
              </a:spcAft>
            </a:pPr>
            <a:r>
              <a:rPr sz="2100">
                <a:solidFill>
                  <a:srgbClr val="1B2A41"/>
                </a:solidFill>
                <a:latin typeface="B Nazanin"/>
              </a:rPr>
              <a:t>• پنج خلاصه‌ی عددی، با وجود داشتن اطلاعات مستقل، ارزش افزوده‌ی تکرارپذیر نشان ندادند.</a:t>
            </a:r>
          </a:p>
          <a:p>
            <a:pPr rtl="1" algn="r">
              <a:spcAft>
                <a:spcPts val="1000"/>
              </a:spcAft>
            </a:pPr>
            <a:r>
              <a:rPr sz="2100">
                <a:solidFill>
                  <a:srgbClr val="1B2A41"/>
                </a:solidFill>
                <a:latin typeface="B Nazanin"/>
              </a:rPr>
              <a:t>• بیشترین سهم در رتبه‌بندی و کیفیت احتمال بود، نه در معیارهای آستانه‌ای.</a:t>
            </a:r>
          </a:p>
          <a:p>
            <a:pPr rtl="1" algn="r" lvl="1">
              <a:spcAft>
                <a:spcPts val="600"/>
              </a:spcAft>
            </a:pPr>
            <a:r>
              <a:rPr sz="1800">
                <a:solidFill>
                  <a:srgbClr val="444444"/>
                </a:solidFill>
                <a:latin typeface="B Nazanin"/>
              </a:rPr>
              <a:t>– این نتیجه، آمادگی بالینی یا تعمیم قطعی به بیمارستان تازه نیست.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11480" lIns="411480"/>
          <a:lstStyle/>
          <a:p>
            <a:pPr algn="r" rtl="1"/>
            <a:r>
              <a:rPr sz="3000" b="1">
                <a:solidFill>
                  <a:srgbClr val="FFFFFF"/>
                </a:solidFill>
                <a:latin typeface="B Nazanin"/>
              </a:rPr>
              <a:t>پرسش‌های محتمل داور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/>
            <a:r>
              <a:rPr sz="1700">
                <a:solidFill>
                  <a:srgbClr val="444444"/>
                </a:solidFill>
                <a:latin typeface="B Nazanin"/>
              </a:rPr>
              <a:t>پاسخ کوتاه، سه‌لایه: چه اندازه‌گیری شد، چه دیده شد، چه اثبات نشده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000"/>
              </a:spcAft>
            </a:pPr>
            <a:r>
              <a:rPr sz="1800">
                <a:solidFill>
                  <a:srgbClr val="1B2A41"/>
                </a:solidFill>
                <a:latin typeface="B Nazanin"/>
              </a:rPr>
              <a:t>• «چرا عدد تجمیعی ۰٫۹۳ را نتیجه‌ی اصلی نمی‌گیرید؟» چون دو سوم داده از یک منبع است و آن منبع پیش‌پلاس ندارد؛ عملکرد به تفکیک منبع گزارش شد.</a:t>
            </a:r>
          </a:p>
          <a:p>
            <a:pPr rtl="1" algn="r">
              <a:spcAft>
                <a:spcPts val="1000"/>
              </a:spcAft>
            </a:pPr>
            <a:r>
              <a:rPr sz="1800">
                <a:solidFill>
                  <a:srgbClr val="1B2A41"/>
                </a:solidFill>
                <a:latin typeface="B Nazanin"/>
              </a:rPr>
              <a:t>• «اگر ماسک معتبر نیست، نشانگرها چه معنایی دارند؟» نشانگرها معنای هندسی روشن دارند، ولی دو علت ضعف آن‌ها تفکیک نشده و اعتبار بالینی ادعا نمی‌شود.</a:t>
            </a:r>
          </a:p>
          <a:p>
            <a:pPr rtl="1" algn="r">
              <a:spcAft>
                <a:spcPts val="1000"/>
              </a:spcAft>
            </a:pPr>
            <a:r>
              <a:rPr sz="1800">
                <a:solidFill>
                  <a:srgbClr val="1B2A41"/>
                </a:solidFill>
                <a:latin typeface="B Nazanin"/>
              </a:rPr>
              <a:t>• «چرا آموزش کامل شبکه را ادامه ندادید؟» چون در هر سه آزمایش، خطای آموزش کاهش و عملکرد اعتبارسنجی افت کرد؛ ادامه، بیش‌برازش بیشتر می‌داد.</a:t>
            </a:r>
          </a:p>
          <a:p>
            <a:pPr rtl="1" algn="r">
              <a:spcAft>
                <a:spcPts val="1000"/>
              </a:spcAft>
            </a:pPr>
            <a:r>
              <a:rPr sz="1800">
                <a:solidFill>
                  <a:srgbClr val="1B2A41"/>
                </a:solidFill>
                <a:latin typeface="B Nazanin"/>
              </a:rPr>
              <a:t>• «چرا domain adaptation نتیجه نداد؟» فقط یک روش با ضرایب ثابت آزموده شد؛ نتیجه به همان پیکربندی محدود است.</a:t>
            </a:r>
          </a:p>
          <a:p>
            <a:pPr rtl="1" algn="r">
              <a:spcAft>
                <a:spcPts val="1000"/>
              </a:spcAft>
            </a:pPr>
            <a:r>
              <a:rPr sz="1800">
                <a:solidFill>
                  <a:srgbClr val="1B2A41"/>
                </a:solidFill>
                <a:latin typeface="B Nazanin"/>
              </a:rPr>
              <a:t>• «نوآوری این کار چیست؟» پروتکل سنجش و بسته‌ی شواهد، نه یک معماری تازه.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